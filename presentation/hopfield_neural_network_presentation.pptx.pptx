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7" r:id="rId1"/>
  </p:sldMasterIdLst>
  <p:sldIdLst>
    <p:sldId id="256" r:id="rId2"/>
    <p:sldId id="309" r:id="rId3"/>
    <p:sldId id="260" r:id="rId4"/>
    <p:sldId id="312" r:id="rId5"/>
    <p:sldId id="263" r:id="rId6"/>
    <p:sldId id="315" r:id="rId7"/>
    <p:sldId id="320" r:id="rId8"/>
    <p:sldId id="317" r:id="rId9"/>
    <p:sldId id="318" r:id="rId10"/>
    <p:sldId id="319" r:id="rId11"/>
    <p:sldId id="268" r:id="rId12"/>
    <p:sldId id="288" r:id="rId13"/>
  </p:sldIdLst>
  <p:sldSz cx="12192000" cy="6858000"/>
  <p:notesSz cx="6858000" cy="9144000"/>
  <p:defaultText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300"/>
    <p:restoredTop sz="96296"/>
  </p:normalViewPr>
  <p:slideViewPr>
    <p:cSldViewPr snapToGrid="0" snapToObjects="1">
      <p:cViewPr varScale="1">
        <p:scale>
          <a:sx n="126" d="100"/>
          <a:sy n="126" d="100"/>
        </p:scale>
        <p:origin x="232"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C26BE34D-98DF-4D29-BB6F-FCB3552B187D}" type="doc">
      <dgm:prSet loTypeId="urn:microsoft.com/office/officeart/2005/8/layout/list1" loCatId="list" qsTypeId="urn:microsoft.com/office/officeart/2005/8/quickstyle/simple4" qsCatId="simple" csTypeId="urn:microsoft.com/office/officeart/2005/8/colors/colorful1" csCatId="colorful" phldr="1"/>
      <dgm:spPr/>
      <dgm:t>
        <a:bodyPr/>
        <a:lstStyle/>
        <a:p>
          <a:endParaRPr lang="en-US"/>
        </a:p>
      </dgm:t>
    </dgm:pt>
    <dgm:pt modelId="{641EEE39-E03E-4E13-A974-77FB2D72237C}">
      <dgm:prSet/>
      <dgm:spPr/>
      <dgm:t>
        <a:bodyPr/>
        <a:lstStyle/>
        <a:p>
          <a:r>
            <a:rPr lang="en-NG"/>
            <a:t>INTRODUCTION</a:t>
          </a:r>
          <a:endParaRPr lang="en-US"/>
        </a:p>
      </dgm:t>
    </dgm:pt>
    <dgm:pt modelId="{64B688C1-D256-4F60-9986-1A3298CC04FE}" type="parTrans" cxnId="{6A82B7A3-206E-47D7-8A89-6C866C2DF8A5}">
      <dgm:prSet/>
      <dgm:spPr/>
      <dgm:t>
        <a:bodyPr/>
        <a:lstStyle/>
        <a:p>
          <a:endParaRPr lang="en-US"/>
        </a:p>
      </dgm:t>
    </dgm:pt>
    <dgm:pt modelId="{1A5E5BE5-D613-4D69-AD72-DF0718C29AA9}" type="sibTrans" cxnId="{6A82B7A3-206E-47D7-8A89-6C866C2DF8A5}">
      <dgm:prSet/>
      <dgm:spPr/>
      <dgm:t>
        <a:bodyPr/>
        <a:lstStyle/>
        <a:p>
          <a:endParaRPr lang="en-US"/>
        </a:p>
      </dgm:t>
    </dgm:pt>
    <dgm:pt modelId="{59526B67-A65D-4A56-BF48-68E64E1FF473}">
      <dgm:prSet/>
      <dgm:spPr/>
      <dgm:t>
        <a:bodyPr/>
        <a:lstStyle/>
        <a:p>
          <a:r>
            <a:rPr lang="en-NG" dirty="0"/>
            <a:t>Neural Networks</a:t>
          </a:r>
          <a:endParaRPr lang="en-US" dirty="0"/>
        </a:p>
      </dgm:t>
    </dgm:pt>
    <dgm:pt modelId="{4C531D1A-A916-4E5E-96B6-4B7A47054E44}" type="parTrans" cxnId="{8343CD88-C285-4277-907C-2A7ABD029B16}">
      <dgm:prSet/>
      <dgm:spPr/>
      <dgm:t>
        <a:bodyPr/>
        <a:lstStyle/>
        <a:p>
          <a:endParaRPr lang="en-US"/>
        </a:p>
      </dgm:t>
    </dgm:pt>
    <dgm:pt modelId="{99FD20AD-0536-4BED-8C8D-2A624F524DA0}" type="sibTrans" cxnId="{8343CD88-C285-4277-907C-2A7ABD029B16}">
      <dgm:prSet/>
      <dgm:spPr/>
      <dgm:t>
        <a:bodyPr/>
        <a:lstStyle/>
        <a:p>
          <a:endParaRPr lang="en-US"/>
        </a:p>
      </dgm:t>
    </dgm:pt>
    <dgm:pt modelId="{D1A9FB85-6E56-4D16-9718-89AB2B1B2F51}">
      <dgm:prSet/>
      <dgm:spPr/>
      <dgm:t>
        <a:bodyPr/>
        <a:lstStyle/>
        <a:p>
          <a:r>
            <a:rPr lang="en-NG" dirty="0"/>
            <a:t>Problem Statement</a:t>
          </a:r>
          <a:endParaRPr lang="en-US" dirty="0"/>
        </a:p>
      </dgm:t>
    </dgm:pt>
    <dgm:pt modelId="{076D4B3A-AF0B-4FA6-81EE-09978622DB4D}" type="parTrans" cxnId="{BFFE72BF-9D24-4B87-8F37-8A50FF261C4E}">
      <dgm:prSet/>
      <dgm:spPr/>
      <dgm:t>
        <a:bodyPr/>
        <a:lstStyle/>
        <a:p>
          <a:endParaRPr lang="en-US"/>
        </a:p>
      </dgm:t>
    </dgm:pt>
    <dgm:pt modelId="{67F50415-A45B-4411-B6B9-DDA21734F1AB}" type="sibTrans" cxnId="{BFFE72BF-9D24-4B87-8F37-8A50FF261C4E}">
      <dgm:prSet/>
      <dgm:spPr/>
      <dgm:t>
        <a:bodyPr/>
        <a:lstStyle/>
        <a:p>
          <a:endParaRPr lang="en-US"/>
        </a:p>
      </dgm:t>
    </dgm:pt>
    <dgm:pt modelId="{1067DB80-1EF1-4B79-B186-961A6808964B}">
      <dgm:prSet/>
      <dgm:spPr/>
      <dgm:t>
        <a:bodyPr/>
        <a:lstStyle/>
        <a:p>
          <a:r>
            <a:rPr lang="en-NG" dirty="0"/>
            <a:t>Project Objective</a:t>
          </a:r>
          <a:endParaRPr lang="en-US" dirty="0"/>
        </a:p>
      </dgm:t>
    </dgm:pt>
    <dgm:pt modelId="{29EA9AD9-2305-46B8-91D9-3B7F53D4D4EE}" type="parTrans" cxnId="{8ACCCF31-7F45-46C2-848B-87FE0A312BC4}">
      <dgm:prSet/>
      <dgm:spPr/>
      <dgm:t>
        <a:bodyPr/>
        <a:lstStyle/>
        <a:p>
          <a:endParaRPr lang="en-US"/>
        </a:p>
      </dgm:t>
    </dgm:pt>
    <dgm:pt modelId="{071AEB53-1E4C-4022-8975-D102886BE7E4}" type="sibTrans" cxnId="{8ACCCF31-7F45-46C2-848B-87FE0A312BC4}">
      <dgm:prSet/>
      <dgm:spPr/>
      <dgm:t>
        <a:bodyPr/>
        <a:lstStyle/>
        <a:p>
          <a:endParaRPr lang="en-US"/>
        </a:p>
      </dgm:t>
    </dgm:pt>
    <dgm:pt modelId="{3398B9C2-5F1E-4CB3-8F2F-F8FB5F276FC0}">
      <dgm:prSet/>
      <dgm:spPr/>
      <dgm:t>
        <a:bodyPr/>
        <a:lstStyle/>
        <a:p>
          <a:r>
            <a:rPr lang="en-NG"/>
            <a:t>HOPFIELD NETWORK</a:t>
          </a:r>
          <a:endParaRPr lang="en-US"/>
        </a:p>
      </dgm:t>
    </dgm:pt>
    <dgm:pt modelId="{F6683826-496D-4E72-9672-A97EE1A393D3}" type="parTrans" cxnId="{653D747E-77F5-4221-921E-9F67F1563CA4}">
      <dgm:prSet/>
      <dgm:spPr/>
      <dgm:t>
        <a:bodyPr/>
        <a:lstStyle/>
        <a:p>
          <a:endParaRPr lang="en-US"/>
        </a:p>
      </dgm:t>
    </dgm:pt>
    <dgm:pt modelId="{744235C2-983F-427F-BD81-272AB641B8BA}" type="sibTrans" cxnId="{653D747E-77F5-4221-921E-9F67F1563CA4}">
      <dgm:prSet/>
      <dgm:spPr/>
      <dgm:t>
        <a:bodyPr/>
        <a:lstStyle/>
        <a:p>
          <a:endParaRPr lang="en-US"/>
        </a:p>
      </dgm:t>
    </dgm:pt>
    <dgm:pt modelId="{A4D530FB-9DC4-4794-9F3C-565E5341EEEA}">
      <dgm:prSet/>
      <dgm:spPr/>
      <dgm:t>
        <a:bodyPr/>
        <a:lstStyle/>
        <a:p>
          <a:r>
            <a:rPr lang="en-US" dirty="0"/>
            <a:t>Hopfield Nets</a:t>
          </a:r>
        </a:p>
      </dgm:t>
    </dgm:pt>
    <dgm:pt modelId="{0BBF2493-3C3B-45A5-A912-EE5555E26221}" type="parTrans" cxnId="{D9B5351B-149E-417F-9EE3-946783EC9344}">
      <dgm:prSet/>
      <dgm:spPr/>
      <dgm:t>
        <a:bodyPr/>
        <a:lstStyle/>
        <a:p>
          <a:endParaRPr lang="en-US"/>
        </a:p>
      </dgm:t>
    </dgm:pt>
    <dgm:pt modelId="{C65D4390-FBC9-48A1-BA3A-21242066C4EC}" type="sibTrans" cxnId="{D9B5351B-149E-417F-9EE3-946783EC9344}">
      <dgm:prSet/>
      <dgm:spPr/>
      <dgm:t>
        <a:bodyPr/>
        <a:lstStyle/>
        <a:p>
          <a:endParaRPr lang="en-US"/>
        </a:p>
      </dgm:t>
    </dgm:pt>
    <dgm:pt modelId="{2AA6B630-6492-4BD9-A364-AF9FFC49D7D4}">
      <dgm:prSet/>
      <dgm:spPr/>
      <dgm:t>
        <a:bodyPr/>
        <a:lstStyle/>
        <a:p>
          <a:r>
            <a:rPr lang="en-NG" dirty="0"/>
            <a:t>TESTING/ARTEFACT DEMONSTRATION</a:t>
          </a:r>
          <a:endParaRPr lang="en-US" dirty="0"/>
        </a:p>
      </dgm:t>
    </dgm:pt>
    <dgm:pt modelId="{AC123EBE-54D7-4F1C-816A-B15D9D694569}" type="parTrans" cxnId="{48E36BC8-1D49-4DD0-B5C0-9BF6C0238369}">
      <dgm:prSet/>
      <dgm:spPr/>
      <dgm:t>
        <a:bodyPr/>
        <a:lstStyle/>
        <a:p>
          <a:endParaRPr lang="en-US"/>
        </a:p>
      </dgm:t>
    </dgm:pt>
    <dgm:pt modelId="{9F26D7A1-E6E7-43BE-A7E3-4CFA8D0C65F3}" type="sibTrans" cxnId="{48E36BC8-1D49-4DD0-B5C0-9BF6C0238369}">
      <dgm:prSet/>
      <dgm:spPr/>
      <dgm:t>
        <a:bodyPr/>
        <a:lstStyle/>
        <a:p>
          <a:endParaRPr lang="en-US"/>
        </a:p>
      </dgm:t>
    </dgm:pt>
    <dgm:pt modelId="{298B480C-557F-4BF5-BAD2-47239494741E}">
      <dgm:prSet/>
      <dgm:spPr/>
      <dgm:t>
        <a:bodyPr/>
        <a:lstStyle/>
        <a:p>
          <a:r>
            <a:rPr lang="en-NG" dirty="0"/>
            <a:t>DISCUSSION &amp; CONCLUSION</a:t>
          </a:r>
          <a:endParaRPr lang="en-US" dirty="0"/>
        </a:p>
      </dgm:t>
    </dgm:pt>
    <dgm:pt modelId="{D6282C4B-CC8E-4265-ABC4-E76E50E9CDD8}" type="parTrans" cxnId="{7414E1D9-E6E4-4566-898C-0080F8150F40}">
      <dgm:prSet/>
      <dgm:spPr/>
      <dgm:t>
        <a:bodyPr/>
        <a:lstStyle/>
        <a:p>
          <a:endParaRPr lang="en-US"/>
        </a:p>
      </dgm:t>
    </dgm:pt>
    <dgm:pt modelId="{170D6CFB-1B6B-4427-A41F-15B234076B8E}" type="sibTrans" cxnId="{7414E1D9-E6E4-4566-898C-0080F8150F40}">
      <dgm:prSet/>
      <dgm:spPr/>
      <dgm:t>
        <a:bodyPr/>
        <a:lstStyle/>
        <a:p>
          <a:endParaRPr lang="en-US"/>
        </a:p>
      </dgm:t>
    </dgm:pt>
    <dgm:pt modelId="{A25EEABB-FF2F-A045-8DBF-BAC4142F7F88}">
      <dgm:prSet/>
      <dgm:spPr/>
      <dgm:t>
        <a:bodyPr/>
        <a:lstStyle/>
        <a:p>
          <a:r>
            <a:rPr lang="en-NG" dirty="0"/>
            <a:t>Recurrent Neural Networks</a:t>
          </a:r>
          <a:endParaRPr lang="en-US" dirty="0"/>
        </a:p>
      </dgm:t>
    </dgm:pt>
    <dgm:pt modelId="{6876B2D0-48E0-BD4F-BC85-49432F1DD728}" type="parTrans" cxnId="{AFEC085F-3CE0-8A4A-BB42-7D17C196C8EC}">
      <dgm:prSet/>
      <dgm:spPr/>
      <dgm:t>
        <a:bodyPr/>
        <a:lstStyle/>
        <a:p>
          <a:endParaRPr lang="en-GB"/>
        </a:p>
      </dgm:t>
    </dgm:pt>
    <dgm:pt modelId="{B3B98A6C-BB27-C54A-9876-2BFC621B0144}" type="sibTrans" cxnId="{AFEC085F-3CE0-8A4A-BB42-7D17C196C8EC}">
      <dgm:prSet/>
      <dgm:spPr/>
      <dgm:t>
        <a:bodyPr/>
        <a:lstStyle/>
        <a:p>
          <a:endParaRPr lang="en-GB"/>
        </a:p>
      </dgm:t>
    </dgm:pt>
    <dgm:pt modelId="{B7E4487D-0382-2547-A065-A085E23650CF}">
      <dgm:prSet/>
      <dgm:spPr/>
      <dgm:t>
        <a:bodyPr/>
        <a:lstStyle/>
        <a:p>
          <a:r>
            <a:rPr lang="en-US" dirty="0"/>
            <a:t>Hebbian Learning</a:t>
          </a:r>
        </a:p>
      </dgm:t>
    </dgm:pt>
    <dgm:pt modelId="{7DB7CBBF-0496-9C43-8358-9ABD7E7751D1}" type="parTrans" cxnId="{A6670164-11A3-5843-B7FC-1EF5D1305ABB}">
      <dgm:prSet/>
      <dgm:spPr/>
      <dgm:t>
        <a:bodyPr/>
        <a:lstStyle/>
        <a:p>
          <a:endParaRPr lang="en-GB"/>
        </a:p>
      </dgm:t>
    </dgm:pt>
    <dgm:pt modelId="{59EADEA3-BD26-6D47-A907-FADC36229C82}" type="sibTrans" cxnId="{A6670164-11A3-5843-B7FC-1EF5D1305ABB}">
      <dgm:prSet/>
      <dgm:spPr/>
      <dgm:t>
        <a:bodyPr/>
        <a:lstStyle/>
        <a:p>
          <a:endParaRPr lang="en-GB"/>
        </a:p>
      </dgm:t>
    </dgm:pt>
    <dgm:pt modelId="{61429022-2FE3-1E44-9813-8511161244AB}" type="pres">
      <dgm:prSet presAssocID="{C26BE34D-98DF-4D29-BB6F-FCB3552B187D}" presName="linear" presStyleCnt="0">
        <dgm:presLayoutVars>
          <dgm:dir/>
          <dgm:animLvl val="lvl"/>
          <dgm:resizeHandles val="exact"/>
        </dgm:presLayoutVars>
      </dgm:prSet>
      <dgm:spPr/>
    </dgm:pt>
    <dgm:pt modelId="{60C11700-F2AC-E14E-BF8B-1C941754329A}" type="pres">
      <dgm:prSet presAssocID="{641EEE39-E03E-4E13-A974-77FB2D72237C}" presName="parentLin" presStyleCnt="0"/>
      <dgm:spPr/>
    </dgm:pt>
    <dgm:pt modelId="{532B00A2-428F-EA46-9D42-54C4D6DFCDB4}" type="pres">
      <dgm:prSet presAssocID="{641EEE39-E03E-4E13-A974-77FB2D72237C}" presName="parentLeftMargin" presStyleLbl="node1" presStyleIdx="0" presStyleCnt="4"/>
      <dgm:spPr/>
    </dgm:pt>
    <dgm:pt modelId="{4F69F897-A83A-1D4C-AFE4-52A6A199EF06}" type="pres">
      <dgm:prSet presAssocID="{641EEE39-E03E-4E13-A974-77FB2D72237C}" presName="parentText" presStyleLbl="node1" presStyleIdx="0" presStyleCnt="4">
        <dgm:presLayoutVars>
          <dgm:chMax val="0"/>
          <dgm:bulletEnabled val="1"/>
        </dgm:presLayoutVars>
      </dgm:prSet>
      <dgm:spPr/>
    </dgm:pt>
    <dgm:pt modelId="{17497B9D-FCF9-6341-B23E-36CC37B17372}" type="pres">
      <dgm:prSet presAssocID="{641EEE39-E03E-4E13-A974-77FB2D72237C}" presName="negativeSpace" presStyleCnt="0"/>
      <dgm:spPr/>
    </dgm:pt>
    <dgm:pt modelId="{7E65F8E1-2914-5C44-B92B-AAE2E1239DCC}" type="pres">
      <dgm:prSet presAssocID="{641EEE39-E03E-4E13-A974-77FB2D72237C}" presName="childText" presStyleLbl="conFgAcc1" presStyleIdx="0" presStyleCnt="4">
        <dgm:presLayoutVars>
          <dgm:bulletEnabled val="1"/>
        </dgm:presLayoutVars>
      </dgm:prSet>
      <dgm:spPr/>
    </dgm:pt>
    <dgm:pt modelId="{C193B386-9727-5E49-B1A4-8E7C97A3BD90}" type="pres">
      <dgm:prSet presAssocID="{1A5E5BE5-D613-4D69-AD72-DF0718C29AA9}" presName="spaceBetweenRectangles" presStyleCnt="0"/>
      <dgm:spPr/>
    </dgm:pt>
    <dgm:pt modelId="{ACD083B7-10BA-9041-A541-2AF2EA409F68}" type="pres">
      <dgm:prSet presAssocID="{3398B9C2-5F1E-4CB3-8F2F-F8FB5F276FC0}" presName="parentLin" presStyleCnt="0"/>
      <dgm:spPr/>
    </dgm:pt>
    <dgm:pt modelId="{6613ADA6-B852-B944-994A-F21986FD793C}" type="pres">
      <dgm:prSet presAssocID="{3398B9C2-5F1E-4CB3-8F2F-F8FB5F276FC0}" presName="parentLeftMargin" presStyleLbl="node1" presStyleIdx="0" presStyleCnt="4"/>
      <dgm:spPr/>
    </dgm:pt>
    <dgm:pt modelId="{D230032D-F0BC-6C47-8307-F8560708D938}" type="pres">
      <dgm:prSet presAssocID="{3398B9C2-5F1E-4CB3-8F2F-F8FB5F276FC0}" presName="parentText" presStyleLbl="node1" presStyleIdx="1" presStyleCnt="4">
        <dgm:presLayoutVars>
          <dgm:chMax val="0"/>
          <dgm:bulletEnabled val="1"/>
        </dgm:presLayoutVars>
      </dgm:prSet>
      <dgm:spPr/>
    </dgm:pt>
    <dgm:pt modelId="{38EAFE3F-2013-D940-8F4A-EC2C79944A23}" type="pres">
      <dgm:prSet presAssocID="{3398B9C2-5F1E-4CB3-8F2F-F8FB5F276FC0}" presName="negativeSpace" presStyleCnt="0"/>
      <dgm:spPr/>
    </dgm:pt>
    <dgm:pt modelId="{22C32CF6-EAC0-3645-A1E7-C56B2878577F}" type="pres">
      <dgm:prSet presAssocID="{3398B9C2-5F1E-4CB3-8F2F-F8FB5F276FC0}" presName="childText" presStyleLbl="conFgAcc1" presStyleIdx="1" presStyleCnt="4">
        <dgm:presLayoutVars>
          <dgm:bulletEnabled val="1"/>
        </dgm:presLayoutVars>
      </dgm:prSet>
      <dgm:spPr/>
    </dgm:pt>
    <dgm:pt modelId="{A8B3798B-86F1-0E4D-AACB-73CAAB6AF1BA}" type="pres">
      <dgm:prSet presAssocID="{744235C2-983F-427F-BD81-272AB641B8BA}" presName="spaceBetweenRectangles" presStyleCnt="0"/>
      <dgm:spPr/>
    </dgm:pt>
    <dgm:pt modelId="{650B5D61-C1D5-9B4B-AECF-F3380F69502F}" type="pres">
      <dgm:prSet presAssocID="{2AA6B630-6492-4BD9-A364-AF9FFC49D7D4}" presName="parentLin" presStyleCnt="0"/>
      <dgm:spPr/>
    </dgm:pt>
    <dgm:pt modelId="{ED881849-C5F2-4D40-8DA2-C26EB2D0F279}" type="pres">
      <dgm:prSet presAssocID="{2AA6B630-6492-4BD9-A364-AF9FFC49D7D4}" presName="parentLeftMargin" presStyleLbl="node1" presStyleIdx="1" presStyleCnt="4"/>
      <dgm:spPr/>
    </dgm:pt>
    <dgm:pt modelId="{EF80DE08-CDC7-324D-912D-1CCD6016DDBF}" type="pres">
      <dgm:prSet presAssocID="{2AA6B630-6492-4BD9-A364-AF9FFC49D7D4}" presName="parentText" presStyleLbl="node1" presStyleIdx="2" presStyleCnt="4">
        <dgm:presLayoutVars>
          <dgm:chMax val="0"/>
          <dgm:bulletEnabled val="1"/>
        </dgm:presLayoutVars>
      </dgm:prSet>
      <dgm:spPr/>
    </dgm:pt>
    <dgm:pt modelId="{AA341597-AADF-3845-9E96-A42C7D01DBBF}" type="pres">
      <dgm:prSet presAssocID="{2AA6B630-6492-4BD9-A364-AF9FFC49D7D4}" presName="negativeSpace" presStyleCnt="0"/>
      <dgm:spPr/>
    </dgm:pt>
    <dgm:pt modelId="{3A3A928C-0DBC-DA47-A870-252F3FF20DAE}" type="pres">
      <dgm:prSet presAssocID="{2AA6B630-6492-4BD9-A364-AF9FFC49D7D4}" presName="childText" presStyleLbl="conFgAcc1" presStyleIdx="2" presStyleCnt="4">
        <dgm:presLayoutVars>
          <dgm:bulletEnabled val="1"/>
        </dgm:presLayoutVars>
      </dgm:prSet>
      <dgm:spPr/>
    </dgm:pt>
    <dgm:pt modelId="{5449D0A0-22C9-2241-8381-0DBCAC286932}" type="pres">
      <dgm:prSet presAssocID="{9F26D7A1-E6E7-43BE-A7E3-4CFA8D0C65F3}" presName="spaceBetweenRectangles" presStyleCnt="0"/>
      <dgm:spPr/>
    </dgm:pt>
    <dgm:pt modelId="{43A32F79-6A50-B547-A35D-D7CAE32BB705}" type="pres">
      <dgm:prSet presAssocID="{298B480C-557F-4BF5-BAD2-47239494741E}" presName="parentLin" presStyleCnt="0"/>
      <dgm:spPr/>
    </dgm:pt>
    <dgm:pt modelId="{2A39CC7A-7F4E-2749-BA83-2CDB7DFE2669}" type="pres">
      <dgm:prSet presAssocID="{298B480C-557F-4BF5-BAD2-47239494741E}" presName="parentLeftMargin" presStyleLbl="node1" presStyleIdx="2" presStyleCnt="4"/>
      <dgm:spPr/>
    </dgm:pt>
    <dgm:pt modelId="{84F50577-2D64-8445-B529-4854BD236F96}" type="pres">
      <dgm:prSet presAssocID="{298B480C-557F-4BF5-BAD2-47239494741E}" presName="parentText" presStyleLbl="node1" presStyleIdx="3" presStyleCnt="4">
        <dgm:presLayoutVars>
          <dgm:chMax val="0"/>
          <dgm:bulletEnabled val="1"/>
        </dgm:presLayoutVars>
      </dgm:prSet>
      <dgm:spPr/>
    </dgm:pt>
    <dgm:pt modelId="{36B1F7BC-7511-CD46-893B-2667C7CCB502}" type="pres">
      <dgm:prSet presAssocID="{298B480C-557F-4BF5-BAD2-47239494741E}" presName="negativeSpace" presStyleCnt="0"/>
      <dgm:spPr/>
    </dgm:pt>
    <dgm:pt modelId="{7DDC8E59-81F9-0945-B946-9576DF9A7173}" type="pres">
      <dgm:prSet presAssocID="{298B480C-557F-4BF5-BAD2-47239494741E}" presName="childText" presStyleLbl="conFgAcc1" presStyleIdx="3" presStyleCnt="4">
        <dgm:presLayoutVars>
          <dgm:bulletEnabled val="1"/>
        </dgm:presLayoutVars>
      </dgm:prSet>
      <dgm:spPr/>
    </dgm:pt>
  </dgm:ptLst>
  <dgm:cxnLst>
    <dgm:cxn modelId="{D9B5351B-149E-417F-9EE3-946783EC9344}" srcId="{3398B9C2-5F1E-4CB3-8F2F-F8FB5F276FC0}" destId="{A4D530FB-9DC4-4794-9F3C-565E5341EEEA}" srcOrd="0" destOrd="0" parTransId="{0BBF2493-3C3B-45A5-A912-EE5555E26221}" sibTransId="{C65D4390-FBC9-48A1-BA3A-21242066C4EC}"/>
    <dgm:cxn modelId="{5EAA7F21-03A0-3343-B8A5-EDCAFA674E19}" type="presOf" srcId="{B7E4487D-0382-2547-A065-A085E23650CF}" destId="{22C32CF6-EAC0-3645-A1E7-C56B2878577F}" srcOrd="0" destOrd="1" presId="urn:microsoft.com/office/officeart/2005/8/layout/list1"/>
    <dgm:cxn modelId="{F84EB42D-1B45-584A-9F26-B902AD48CF04}" type="presOf" srcId="{298B480C-557F-4BF5-BAD2-47239494741E}" destId="{2A39CC7A-7F4E-2749-BA83-2CDB7DFE2669}" srcOrd="0" destOrd="0" presId="urn:microsoft.com/office/officeart/2005/8/layout/list1"/>
    <dgm:cxn modelId="{997D9C30-77AC-C64D-BF5B-53658BC416DA}" type="presOf" srcId="{641EEE39-E03E-4E13-A974-77FB2D72237C}" destId="{532B00A2-428F-EA46-9D42-54C4D6DFCDB4}" srcOrd="0" destOrd="0" presId="urn:microsoft.com/office/officeart/2005/8/layout/list1"/>
    <dgm:cxn modelId="{8ACCCF31-7F45-46C2-848B-87FE0A312BC4}" srcId="{641EEE39-E03E-4E13-A974-77FB2D72237C}" destId="{1067DB80-1EF1-4B79-B186-961A6808964B}" srcOrd="3" destOrd="0" parTransId="{29EA9AD9-2305-46B8-91D9-3B7F53D4D4EE}" sibTransId="{071AEB53-1E4C-4022-8975-D102886BE7E4}"/>
    <dgm:cxn modelId="{FEB5FD42-EEFC-C44E-85F6-3479846D8DB9}" type="presOf" srcId="{3398B9C2-5F1E-4CB3-8F2F-F8FB5F276FC0}" destId="{D230032D-F0BC-6C47-8307-F8560708D938}" srcOrd="1" destOrd="0" presId="urn:microsoft.com/office/officeart/2005/8/layout/list1"/>
    <dgm:cxn modelId="{94861B45-3443-3040-BE4B-73AA7D2DBBDF}" type="presOf" srcId="{D1A9FB85-6E56-4D16-9718-89AB2B1B2F51}" destId="{7E65F8E1-2914-5C44-B92B-AAE2E1239DCC}" srcOrd="0" destOrd="2" presId="urn:microsoft.com/office/officeart/2005/8/layout/list1"/>
    <dgm:cxn modelId="{AFEC085F-3CE0-8A4A-BB42-7D17C196C8EC}" srcId="{641EEE39-E03E-4E13-A974-77FB2D72237C}" destId="{A25EEABB-FF2F-A045-8DBF-BAC4142F7F88}" srcOrd="1" destOrd="0" parTransId="{6876B2D0-48E0-BD4F-BC85-49432F1DD728}" sibTransId="{B3B98A6C-BB27-C54A-9876-2BFC621B0144}"/>
    <dgm:cxn modelId="{A6670164-11A3-5843-B7FC-1EF5D1305ABB}" srcId="{3398B9C2-5F1E-4CB3-8F2F-F8FB5F276FC0}" destId="{B7E4487D-0382-2547-A065-A085E23650CF}" srcOrd="1" destOrd="0" parTransId="{7DB7CBBF-0496-9C43-8358-9ABD7E7751D1}" sibTransId="{59EADEA3-BD26-6D47-A907-FADC36229C82}"/>
    <dgm:cxn modelId="{B75AFA6B-3926-FE42-AA50-56AFC6612B9A}" type="presOf" srcId="{A25EEABB-FF2F-A045-8DBF-BAC4142F7F88}" destId="{7E65F8E1-2914-5C44-B92B-AAE2E1239DCC}" srcOrd="0" destOrd="1" presId="urn:microsoft.com/office/officeart/2005/8/layout/list1"/>
    <dgm:cxn modelId="{AB188E76-C7C7-3046-8E71-4B0A4DB84902}" type="presOf" srcId="{3398B9C2-5F1E-4CB3-8F2F-F8FB5F276FC0}" destId="{6613ADA6-B852-B944-994A-F21986FD793C}" srcOrd="0" destOrd="0" presId="urn:microsoft.com/office/officeart/2005/8/layout/list1"/>
    <dgm:cxn modelId="{653D747E-77F5-4221-921E-9F67F1563CA4}" srcId="{C26BE34D-98DF-4D29-BB6F-FCB3552B187D}" destId="{3398B9C2-5F1E-4CB3-8F2F-F8FB5F276FC0}" srcOrd="1" destOrd="0" parTransId="{F6683826-496D-4E72-9672-A97EE1A393D3}" sibTransId="{744235C2-983F-427F-BD81-272AB641B8BA}"/>
    <dgm:cxn modelId="{8343CD88-C285-4277-907C-2A7ABD029B16}" srcId="{641EEE39-E03E-4E13-A974-77FB2D72237C}" destId="{59526B67-A65D-4A56-BF48-68E64E1FF473}" srcOrd="0" destOrd="0" parTransId="{4C531D1A-A916-4E5E-96B6-4B7A47054E44}" sibTransId="{99FD20AD-0536-4BED-8C8D-2A624F524DA0}"/>
    <dgm:cxn modelId="{2DEA679C-CDC4-2B47-9224-A4043496AE26}" type="presOf" srcId="{A4D530FB-9DC4-4794-9F3C-565E5341EEEA}" destId="{22C32CF6-EAC0-3645-A1E7-C56B2878577F}" srcOrd="0" destOrd="0" presId="urn:microsoft.com/office/officeart/2005/8/layout/list1"/>
    <dgm:cxn modelId="{AEAEAAA3-2990-0C4F-92E7-78CECC0D2870}" type="presOf" srcId="{2AA6B630-6492-4BD9-A364-AF9FFC49D7D4}" destId="{EF80DE08-CDC7-324D-912D-1CCD6016DDBF}" srcOrd="1" destOrd="0" presId="urn:microsoft.com/office/officeart/2005/8/layout/list1"/>
    <dgm:cxn modelId="{6A82B7A3-206E-47D7-8A89-6C866C2DF8A5}" srcId="{C26BE34D-98DF-4D29-BB6F-FCB3552B187D}" destId="{641EEE39-E03E-4E13-A974-77FB2D72237C}" srcOrd="0" destOrd="0" parTransId="{64B688C1-D256-4F60-9986-1A3298CC04FE}" sibTransId="{1A5E5BE5-D613-4D69-AD72-DF0718C29AA9}"/>
    <dgm:cxn modelId="{3432F7A9-6A34-1B41-BA83-00C69F1C49DB}" type="presOf" srcId="{641EEE39-E03E-4E13-A974-77FB2D72237C}" destId="{4F69F897-A83A-1D4C-AFE4-52A6A199EF06}" srcOrd="1" destOrd="0" presId="urn:microsoft.com/office/officeart/2005/8/layout/list1"/>
    <dgm:cxn modelId="{BFFE72BF-9D24-4B87-8F37-8A50FF261C4E}" srcId="{641EEE39-E03E-4E13-A974-77FB2D72237C}" destId="{D1A9FB85-6E56-4D16-9718-89AB2B1B2F51}" srcOrd="2" destOrd="0" parTransId="{076D4B3A-AF0B-4FA6-81EE-09978622DB4D}" sibTransId="{67F50415-A45B-4411-B6B9-DDA21734F1AB}"/>
    <dgm:cxn modelId="{EF09C5C5-83DB-1844-8935-E182E0EBA2BB}" type="presOf" srcId="{1067DB80-1EF1-4B79-B186-961A6808964B}" destId="{7E65F8E1-2914-5C44-B92B-AAE2E1239DCC}" srcOrd="0" destOrd="3" presId="urn:microsoft.com/office/officeart/2005/8/layout/list1"/>
    <dgm:cxn modelId="{013D04C7-E73E-684A-ADAB-ECFA76841686}" type="presOf" srcId="{2AA6B630-6492-4BD9-A364-AF9FFC49D7D4}" destId="{ED881849-C5F2-4D40-8DA2-C26EB2D0F279}" srcOrd="0" destOrd="0" presId="urn:microsoft.com/office/officeart/2005/8/layout/list1"/>
    <dgm:cxn modelId="{48E36BC8-1D49-4DD0-B5C0-9BF6C0238369}" srcId="{C26BE34D-98DF-4D29-BB6F-FCB3552B187D}" destId="{2AA6B630-6492-4BD9-A364-AF9FFC49D7D4}" srcOrd="2" destOrd="0" parTransId="{AC123EBE-54D7-4F1C-816A-B15D9D694569}" sibTransId="{9F26D7A1-E6E7-43BE-A7E3-4CFA8D0C65F3}"/>
    <dgm:cxn modelId="{7414E1D9-E6E4-4566-898C-0080F8150F40}" srcId="{C26BE34D-98DF-4D29-BB6F-FCB3552B187D}" destId="{298B480C-557F-4BF5-BAD2-47239494741E}" srcOrd="3" destOrd="0" parTransId="{D6282C4B-CC8E-4265-ABC4-E76E50E9CDD8}" sibTransId="{170D6CFB-1B6B-4427-A41F-15B234076B8E}"/>
    <dgm:cxn modelId="{3AF724F4-C8A9-AD44-A161-CED9197C9CB7}" type="presOf" srcId="{C26BE34D-98DF-4D29-BB6F-FCB3552B187D}" destId="{61429022-2FE3-1E44-9813-8511161244AB}" srcOrd="0" destOrd="0" presId="urn:microsoft.com/office/officeart/2005/8/layout/list1"/>
    <dgm:cxn modelId="{922314FA-860E-9942-8CA3-2057EC15609D}" type="presOf" srcId="{59526B67-A65D-4A56-BF48-68E64E1FF473}" destId="{7E65F8E1-2914-5C44-B92B-AAE2E1239DCC}" srcOrd="0" destOrd="0" presId="urn:microsoft.com/office/officeart/2005/8/layout/list1"/>
    <dgm:cxn modelId="{9212CCFD-9AEB-A94C-96B1-8BE9618C03A5}" type="presOf" srcId="{298B480C-557F-4BF5-BAD2-47239494741E}" destId="{84F50577-2D64-8445-B529-4854BD236F96}" srcOrd="1" destOrd="0" presId="urn:microsoft.com/office/officeart/2005/8/layout/list1"/>
    <dgm:cxn modelId="{74743F7C-FE8B-994C-9728-819A174D51AE}" type="presParOf" srcId="{61429022-2FE3-1E44-9813-8511161244AB}" destId="{60C11700-F2AC-E14E-BF8B-1C941754329A}" srcOrd="0" destOrd="0" presId="urn:microsoft.com/office/officeart/2005/8/layout/list1"/>
    <dgm:cxn modelId="{47ED3275-C404-8040-B5C2-E14482330096}" type="presParOf" srcId="{60C11700-F2AC-E14E-BF8B-1C941754329A}" destId="{532B00A2-428F-EA46-9D42-54C4D6DFCDB4}" srcOrd="0" destOrd="0" presId="urn:microsoft.com/office/officeart/2005/8/layout/list1"/>
    <dgm:cxn modelId="{4564C406-A75F-4247-85BF-57A5B8C8E463}" type="presParOf" srcId="{60C11700-F2AC-E14E-BF8B-1C941754329A}" destId="{4F69F897-A83A-1D4C-AFE4-52A6A199EF06}" srcOrd="1" destOrd="0" presId="urn:microsoft.com/office/officeart/2005/8/layout/list1"/>
    <dgm:cxn modelId="{B68972E4-338F-134B-8895-FE0601F8CB39}" type="presParOf" srcId="{61429022-2FE3-1E44-9813-8511161244AB}" destId="{17497B9D-FCF9-6341-B23E-36CC37B17372}" srcOrd="1" destOrd="0" presId="urn:microsoft.com/office/officeart/2005/8/layout/list1"/>
    <dgm:cxn modelId="{408D6613-EB25-2F40-A24D-95DB34E18ACA}" type="presParOf" srcId="{61429022-2FE3-1E44-9813-8511161244AB}" destId="{7E65F8E1-2914-5C44-B92B-AAE2E1239DCC}" srcOrd="2" destOrd="0" presId="urn:microsoft.com/office/officeart/2005/8/layout/list1"/>
    <dgm:cxn modelId="{FEBEA1D8-67BD-D04C-970F-560E85644D5D}" type="presParOf" srcId="{61429022-2FE3-1E44-9813-8511161244AB}" destId="{C193B386-9727-5E49-B1A4-8E7C97A3BD90}" srcOrd="3" destOrd="0" presId="urn:microsoft.com/office/officeart/2005/8/layout/list1"/>
    <dgm:cxn modelId="{169D670D-E00D-D646-9071-968B856AE645}" type="presParOf" srcId="{61429022-2FE3-1E44-9813-8511161244AB}" destId="{ACD083B7-10BA-9041-A541-2AF2EA409F68}" srcOrd="4" destOrd="0" presId="urn:microsoft.com/office/officeart/2005/8/layout/list1"/>
    <dgm:cxn modelId="{12665F2B-EC7E-0C42-B06A-404DD46E4CEB}" type="presParOf" srcId="{ACD083B7-10BA-9041-A541-2AF2EA409F68}" destId="{6613ADA6-B852-B944-994A-F21986FD793C}" srcOrd="0" destOrd="0" presId="urn:microsoft.com/office/officeart/2005/8/layout/list1"/>
    <dgm:cxn modelId="{8E5C54D1-6A93-6E43-B30B-4A89E4CBCA8C}" type="presParOf" srcId="{ACD083B7-10BA-9041-A541-2AF2EA409F68}" destId="{D230032D-F0BC-6C47-8307-F8560708D938}" srcOrd="1" destOrd="0" presId="urn:microsoft.com/office/officeart/2005/8/layout/list1"/>
    <dgm:cxn modelId="{E1142D44-7D44-2749-BBA0-43427CC1F5BE}" type="presParOf" srcId="{61429022-2FE3-1E44-9813-8511161244AB}" destId="{38EAFE3F-2013-D940-8F4A-EC2C79944A23}" srcOrd="5" destOrd="0" presId="urn:microsoft.com/office/officeart/2005/8/layout/list1"/>
    <dgm:cxn modelId="{E5419910-2B3D-CF40-BA66-98357F070706}" type="presParOf" srcId="{61429022-2FE3-1E44-9813-8511161244AB}" destId="{22C32CF6-EAC0-3645-A1E7-C56B2878577F}" srcOrd="6" destOrd="0" presId="urn:microsoft.com/office/officeart/2005/8/layout/list1"/>
    <dgm:cxn modelId="{D71E79A5-1464-404E-902D-1920FBD54FE4}" type="presParOf" srcId="{61429022-2FE3-1E44-9813-8511161244AB}" destId="{A8B3798B-86F1-0E4D-AACB-73CAAB6AF1BA}" srcOrd="7" destOrd="0" presId="urn:microsoft.com/office/officeart/2005/8/layout/list1"/>
    <dgm:cxn modelId="{82851F24-4054-6943-9AC3-9F700695E158}" type="presParOf" srcId="{61429022-2FE3-1E44-9813-8511161244AB}" destId="{650B5D61-C1D5-9B4B-AECF-F3380F69502F}" srcOrd="8" destOrd="0" presId="urn:microsoft.com/office/officeart/2005/8/layout/list1"/>
    <dgm:cxn modelId="{A7525C91-1B02-3A48-BE8A-28BA230A412C}" type="presParOf" srcId="{650B5D61-C1D5-9B4B-AECF-F3380F69502F}" destId="{ED881849-C5F2-4D40-8DA2-C26EB2D0F279}" srcOrd="0" destOrd="0" presId="urn:microsoft.com/office/officeart/2005/8/layout/list1"/>
    <dgm:cxn modelId="{0534EE8D-5473-F242-A5E0-C89EB58396E4}" type="presParOf" srcId="{650B5D61-C1D5-9B4B-AECF-F3380F69502F}" destId="{EF80DE08-CDC7-324D-912D-1CCD6016DDBF}" srcOrd="1" destOrd="0" presId="urn:microsoft.com/office/officeart/2005/8/layout/list1"/>
    <dgm:cxn modelId="{3D8ACA85-8B2C-5C4C-B9A0-9C59F4943B1D}" type="presParOf" srcId="{61429022-2FE3-1E44-9813-8511161244AB}" destId="{AA341597-AADF-3845-9E96-A42C7D01DBBF}" srcOrd="9" destOrd="0" presId="urn:microsoft.com/office/officeart/2005/8/layout/list1"/>
    <dgm:cxn modelId="{51D04E3E-9D93-E849-8368-EE66EB6D4AE1}" type="presParOf" srcId="{61429022-2FE3-1E44-9813-8511161244AB}" destId="{3A3A928C-0DBC-DA47-A870-252F3FF20DAE}" srcOrd="10" destOrd="0" presId="urn:microsoft.com/office/officeart/2005/8/layout/list1"/>
    <dgm:cxn modelId="{C832FFA5-68C9-B542-86B1-813DF268E2F1}" type="presParOf" srcId="{61429022-2FE3-1E44-9813-8511161244AB}" destId="{5449D0A0-22C9-2241-8381-0DBCAC286932}" srcOrd="11" destOrd="0" presId="urn:microsoft.com/office/officeart/2005/8/layout/list1"/>
    <dgm:cxn modelId="{B5C9350F-3317-A941-A385-864EC72C37C6}" type="presParOf" srcId="{61429022-2FE3-1E44-9813-8511161244AB}" destId="{43A32F79-6A50-B547-A35D-D7CAE32BB705}" srcOrd="12" destOrd="0" presId="urn:microsoft.com/office/officeart/2005/8/layout/list1"/>
    <dgm:cxn modelId="{64A9F985-59F8-A34C-B7BC-2AA128710BA7}" type="presParOf" srcId="{43A32F79-6A50-B547-A35D-D7CAE32BB705}" destId="{2A39CC7A-7F4E-2749-BA83-2CDB7DFE2669}" srcOrd="0" destOrd="0" presId="urn:microsoft.com/office/officeart/2005/8/layout/list1"/>
    <dgm:cxn modelId="{7C463476-EDB0-A543-8D1B-76E3FF9A0E8B}" type="presParOf" srcId="{43A32F79-6A50-B547-A35D-D7CAE32BB705}" destId="{84F50577-2D64-8445-B529-4854BD236F96}" srcOrd="1" destOrd="0" presId="urn:microsoft.com/office/officeart/2005/8/layout/list1"/>
    <dgm:cxn modelId="{5A1C2AAA-0D73-A94C-B969-9963A6A4C9DD}" type="presParOf" srcId="{61429022-2FE3-1E44-9813-8511161244AB}" destId="{36B1F7BC-7511-CD46-893B-2667C7CCB502}" srcOrd="13" destOrd="0" presId="urn:microsoft.com/office/officeart/2005/8/layout/list1"/>
    <dgm:cxn modelId="{D01159BE-D0CB-0F44-AFCF-FD87AEC88340}" type="presParOf" srcId="{61429022-2FE3-1E44-9813-8511161244AB}" destId="{7DDC8E59-81F9-0945-B946-9576DF9A7173}"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4DCB239-5860-4CB3-AF7D-FE3A2789EC6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294D9EFC-ECC2-4758-B96A-773146242161}">
      <dgm:prSet/>
      <dgm:spPr/>
      <dgm:t>
        <a:bodyPr/>
        <a:lstStyle/>
        <a:p>
          <a:pPr algn="just"/>
          <a:r>
            <a:rPr lang="en-US" dirty="0">
              <a:solidFill>
                <a:srgbClr val="242424"/>
              </a:solidFill>
              <a:effectLst/>
              <a:latin typeface="+mn-lt"/>
              <a:ea typeface="Calibri" panose="020F0502020204030204" pitchFamily="34" charset="0"/>
            </a:rPr>
            <a:t>Neural Networks are algorithms that deal with cognitive tasks; including learning and optimization processes that are vaguely based on ideologies relating to the nature of the brain.  </a:t>
          </a:r>
          <a:r>
            <a:rPr lang="en-US" dirty="0"/>
            <a:t>Neural Network is a network where there’s an interconnection between all its elements. </a:t>
          </a:r>
          <a:endParaRPr lang="en-US" dirty="0">
            <a:solidFill>
              <a:srgbClr val="242424"/>
            </a:solidFill>
            <a:effectLst/>
            <a:latin typeface="+mn-lt"/>
            <a:ea typeface="Calibri" panose="020F0502020204030204" pitchFamily="34" charset="0"/>
          </a:endParaRPr>
        </a:p>
      </dgm:t>
    </dgm:pt>
    <dgm:pt modelId="{F885B9D0-D410-4419-BF20-36C6ABCA8183}" type="parTrans" cxnId="{9C2ADC06-7B08-4BA3-95C9-0ACFBE882589}">
      <dgm:prSet/>
      <dgm:spPr/>
      <dgm:t>
        <a:bodyPr/>
        <a:lstStyle/>
        <a:p>
          <a:endParaRPr lang="en-US"/>
        </a:p>
      </dgm:t>
    </dgm:pt>
    <dgm:pt modelId="{DF420569-505B-4C0C-8035-261DC73C154C}" type="sibTrans" cxnId="{9C2ADC06-7B08-4BA3-95C9-0ACFBE882589}">
      <dgm:prSet/>
      <dgm:spPr/>
      <dgm:t>
        <a:bodyPr/>
        <a:lstStyle/>
        <a:p>
          <a:endParaRPr lang="en-US"/>
        </a:p>
      </dgm:t>
    </dgm:pt>
    <dgm:pt modelId="{4877F2DB-74D6-421D-A985-CDEF425ECC7D}">
      <dgm:prSet/>
      <dgm:spPr/>
      <dgm:t>
        <a:bodyPr/>
        <a:lstStyle/>
        <a:p>
          <a:r>
            <a:rPr lang="en-US" dirty="0"/>
            <a:t>Neural Networks also involves building machines with the idea that these machines work similarly to how the human brain functions and there ate four major types. Perceptron, Multilayer perceptron, Convolutional and Recurrent Neural Networks, respectively. </a:t>
          </a:r>
        </a:p>
      </dgm:t>
    </dgm:pt>
    <dgm:pt modelId="{CF334341-DE68-44B5-B546-D920D6AA29CA}" type="parTrans" cxnId="{A18BA643-1BEA-4266-A546-607A36209B71}">
      <dgm:prSet/>
      <dgm:spPr/>
      <dgm:t>
        <a:bodyPr/>
        <a:lstStyle/>
        <a:p>
          <a:endParaRPr lang="en-US"/>
        </a:p>
      </dgm:t>
    </dgm:pt>
    <dgm:pt modelId="{4FCC1A81-9523-4B52-8797-D0C32BE9967A}" type="sibTrans" cxnId="{A18BA643-1BEA-4266-A546-607A36209B71}">
      <dgm:prSet/>
      <dgm:spPr/>
      <dgm:t>
        <a:bodyPr/>
        <a:lstStyle/>
        <a:p>
          <a:endParaRPr lang="en-US"/>
        </a:p>
      </dgm:t>
    </dgm:pt>
    <dgm:pt modelId="{CD341C92-CD94-48E2-903F-530F19F4F26E}">
      <dgm:prSet/>
      <dgm:spPr/>
      <dgm:t>
        <a:bodyPr/>
        <a:lstStyle/>
        <a:p>
          <a:r>
            <a:rPr lang="en-US" dirty="0"/>
            <a:t>Perceptrons are </a:t>
          </a:r>
          <a:r>
            <a:rPr lang="en-US" dirty="0">
              <a:solidFill>
                <a:schemeClr val="bg1"/>
              </a:solidFill>
            </a:rPr>
            <a:t>oldest Neural Networks with one neuron</a:t>
          </a:r>
          <a:r>
            <a:rPr lang="en-US" dirty="0"/>
            <a:t>. Multilayer Perceptrons have both input, hidden and output layers and are the foundation of NLPs.</a:t>
          </a:r>
        </a:p>
      </dgm:t>
    </dgm:pt>
    <dgm:pt modelId="{7B72E6F2-E8ED-43F6-8F09-71A7201F30DB}" type="parTrans" cxnId="{E56A6700-BAA3-4DA9-9091-116F54EE345F}">
      <dgm:prSet/>
      <dgm:spPr/>
      <dgm:t>
        <a:bodyPr/>
        <a:lstStyle/>
        <a:p>
          <a:endParaRPr lang="en-US"/>
        </a:p>
      </dgm:t>
    </dgm:pt>
    <dgm:pt modelId="{547BCF22-56CF-46F9-B5F3-E68D34B71874}" type="sibTrans" cxnId="{E56A6700-BAA3-4DA9-9091-116F54EE345F}">
      <dgm:prSet/>
      <dgm:spPr/>
      <dgm:t>
        <a:bodyPr/>
        <a:lstStyle/>
        <a:p>
          <a:endParaRPr lang="en-US"/>
        </a:p>
      </dgm:t>
    </dgm:pt>
    <dgm:pt modelId="{0E1B7B63-524A-4408-9C94-49EE4A342B5A}">
      <dgm:prSet/>
      <dgm:spPr/>
      <dgm:t>
        <a:bodyPr/>
        <a:lstStyle/>
        <a:p>
          <a:r>
            <a:rPr lang="en-US" dirty="0"/>
            <a:t>Convolutional Neural Networks are used for image recognition and computer vision while Recurrent Neural Networks are useful in predicting future outcomes and are known for their feedback loop.</a:t>
          </a:r>
        </a:p>
      </dgm:t>
    </dgm:pt>
    <dgm:pt modelId="{465643CD-F1B9-4B52-9219-7C0A684E5435}" type="parTrans" cxnId="{FBFB5CAB-CC06-456D-88CD-8D0039CAB6C8}">
      <dgm:prSet/>
      <dgm:spPr/>
      <dgm:t>
        <a:bodyPr/>
        <a:lstStyle/>
        <a:p>
          <a:endParaRPr lang="en-US"/>
        </a:p>
      </dgm:t>
    </dgm:pt>
    <dgm:pt modelId="{837F6C09-5083-40AD-9FB6-8023A2F47B38}" type="sibTrans" cxnId="{FBFB5CAB-CC06-456D-88CD-8D0039CAB6C8}">
      <dgm:prSet/>
      <dgm:spPr/>
      <dgm:t>
        <a:bodyPr/>
        <a:lstStyle/>
        <a:p>
          <a:endParaRPr lang="en-US"/>
        </a:p>
      </dgm:t>
    </dgm:pt>
    <dgm:pt modelId="{D0D1A5B9-375F-4E67-AD1F-C51E8389CC6E}" type="pres">
      <dgm:prSet presAssocID="{34DCB239-5860-4CB3-AF7D-FE3A2789EC6F}" presName="root" presStyleCnt="0">
        <dgm:presLayoutVars>
          <dgm:dir/>
          <dgm:resizeHandles val="exact"/>
        </dgm:presLayoutVars>
      </dgm:prSet>
      <dgm:spPr/>
    </dgm:pt>
    <dgm:pt modelId="{7C94D2D2-89CC-49C9-86BB-DC896B158A7F}" type="pres">
      <dgm:prSet presAssocID="{294D9EFC-ECC2-4758-B96A-773146242161}" presName="compNode" presStyleCnt="0"/>
      <dgm:spPr/>
    </dgm:pt>
    <dgm:pt modelId="{5E2683EB-5103-4C7A-85AB-8133B558FB6B}" type="pres">
      <dgm:prSet presAssocID="{294D9EFC-ECC2-4758-B96A-773146242161}" presName="bgRect" presStyleLbl="bgShp" presStyleIdx="0" presStyleCnt="4"/>
      <dgm:spPr/>
    </dgm:pt>
    <dgm:pt modelId="{AEC105D6-DC9F-45F0-A724-9B660EFB36F8}" type="pres">
      <dgm:prSet presAssocID="{294D9EFC-ECC2-4758-B96A-77314624216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nnected"/>
        </a:ext>
      </dgm:extLst>
    </dgm:pt>
    <dgm:pt modelId="{D09997A2-DD64-41EB-9A80-890496C03131}" type="pres">
      <dgm:prSet presAssocID="{294D9EFC-ECC2-4758-B96A-773146242161}" presName="spaceRect" presStyleCnt="0"/>
      <dgm:spPr/>
    </dgm:pt>
    <dgm:pt modelId="{39F18DFA-6800-4A5B-936C-5C406E885354}" type="pres">
      <dgm:prSet presAssocID="{294D9EFC-ECC2-4758-B96A-773146242161}" presName="parTx" presStyleLbl="revTx" presStyleIdx="0" presStyleCnt="4">
        <dgm:presLayoutVars>
          <dgm:chMax val="0"/>
          <dgm:chPref val="0"/>
        </dgm:presLayoutVars>
      </dgm:prSet>
      <dgm:spPr/>
    </dgm:pt>
    <dgm:pt modelId="{876C3583-FEED-4AA3-9A30-97F75C829D7D}" type="pres">
      <dgm:prSet presAssocID="{DF420569-505B-4C0C-8035-261DC73C154C}" presName="sibTrans" presStyleCnt="0"/>
      <dgm:spPr/>
    </dgm:pt>
    <dgm:pt modelId="{0BBCB158-8624-4129-8778-590D3F9C7F4F}" type="pres">
      <dgm:prSet presAssocID="{4877F2DB-74D6-421D-A985-CDEF425ECC7D}" presName="compNode" presStyleCnt="0"/>
      <dgm:spPr/>
    </dgm:pt>
    <dgm:pt modelId="{91EDC7F4-972D-4ACB-BF04-43D1FA9BA85A}" type="pres">
      <dgm:prSet presAssocID="{4877F2DB-74D6-421D-A985-CDEF425ECC7D}" presName="bgRect" presStyleLbl="bgShp" presStyleIdx="1" presStyleCnt="4"/>
      <dgm:spPr/>
    </dgm:pt>
    <dgm:pt modelId="{A4B7625A-22EB-4DA9-93D7-EE77CB2D8F18}" type="pres">
      <dgm:prSet presAssocID="{4877F2DB-74D6-421D-A985-CDEF425ECC7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 Network"/>
        </a:ext>
      </dgm:extLst>
    </dgm:pt>
    <dgm:pt modelId="{594D9E72-F703-4868-8222-CC3478502BAB}" type="pres">
      <dgm:prSet presAssocID="{4877F2DB-74D6-421D-A985-CDEF425ECC7D}" presName="spaceRect" presStyleCnt="0"/>
      <dgm:spPr/>
    </dgm:pt>
    <dgm:pt modelId="{919EFAD8-BFC8-444B-986B-0018E53ADDD0}" type="pres">
      <dgm:prSet presAssocID="{4877F2DB-74D6-421D-A985-CDEF425ECC7D}" presName="parTx" presStyleLbl="revTx" presStyleIdx="1" presStyleCnt="4">
        <dgm:presLayoutVars>
          <dgm:chMax val="0"/>
          <dgm:chPref val="0"/>
        </dgm:presLayoutVars>
      </dgm:prSet>
      <dgm:spPr/>
    </dgm:pt>
    <dgm:pt modelId="{FC509238-49B3-4319-81AE-8070CE553913}" type="pres">
      <dgm:prSet presAssocID="{4FCC1A81-9523-4B52-8797-D0C32BE9967A}" presName="sibTrans" presStyleCnt="0"/>
      <dgm:spPr/>
    </dgm:pt>
    <dgm:pt modelId="{CDB5A0E8-E842-4CBF-B295-229DD2B9DA77}" type="pres">
      <dgm:prSet presAssocID="{CD341C92-CD94-48E2-903F-530F19F4F26E}" presName="compNode" presStyleCnt="0"/>
      <dgm:spPr/>
    </dgm:pt>
    <dgm:pt modelId="{FAE1F481-D685-49BB-8737-ED584ABB2CB3}" type="pres">
      <dgm:prSet presAssocID="{CD341C92-CD94-48E2-903F-530F19F4F26E}" presName="bgRect" presStyleLbl="bgShp" presStyleIdx="2" presStyleCnt="4"/>
      <dgm:spPr/>
    </dgm:pt>
    <dgm:pt modelId="{BBBA9D7C-35D0-4449-AE7F-AC23D3A299C1}" type="pres">
      <dgm:prSet presAssocID="{CD341C92-CD94-48E2-903F-530F19F4F26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nnections"/>
        </a:ext>
      </dgm:extLst>
    </dgm:pt>
    <dgm:pt modelId="{0691DECB-60F4-45AE-BE0F-1253CCBF78EC}" type="pres">
      <dgm:prSet presAssocID="{CD341C92-CD94-48E2-903F-530F19F4F26E}" presName="spaceRect" presStyleCnt="0"/>
      <dgm:spPr/>
    </dgm:pt>
    <dgm:pt modelId="{2ECB1A1E-5097-48C7-9132-B27A1DD077E7}" type="pres">
      <dgm:prSet presAssocID="{CD341C92-CD94-48E2-903F-530F19F4F26E}" presName="parTx" presStyleLbl="revTx" presStyleIdx="2" presStyleCnt="4">
        <dgm:presLayoutVars>
          <dgm:chMax val="0"/>
          <dgm:chPref val="0"/>
        </dgm:presLayoutVars>
      </dgm:prSet>
      <dgm:spPr/>
    </dgm:pt>
    <dgm:pt modelId="{956B101B-1401-45A2-ACB7-B48E85E152FD}" type="pres">
      <dgm:prSet presAssocID="{547BCF22-56CF-46F9-B5F3-E68D34B71874}" presName="sibTrans" presStyleCnt="0"/>
      <dgm:spPr/>
    </dgm:pt>
    <dgm:pt modelId="{069B9056-68C5-4F32-8E47-3D87C5BAFFF3}" type="pres">
      <dgm:prSet presAssocID="{0E1B7B63-524A-4408-9C94-49EE4A342B5A}" presName="compNode" presStyleCnt="0"/>
      <dgm:spPr/>
    </dgm:pt>
    <dgm:pt modelId="{71863CD8-7312-4B5C-BE57-CB3DD6280892}" type="pres">
      <dgm:prSet presAssocID="{0E1B7B63-524A-4408-9C94-49EE4A342B5A}" presName="bgRect" presStyleLbl="bgShp" presStyleIdx="3" presStyleCnt="4"/>
      <dgm:spPr/>
    </dgm:pt>
    <dgm:pt modelId="{5801CE6D-8C63-4782-9E98-94B9F43C3410}" type="pres">
      <dgm:prSet presAssocID="{0E1B7B63-524A-4408-9C94-49EE4A342B5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Network"/>
        </a:ext>
      </dgm:extLst>
    </dgm:pt>
    <dgm:pt modelId="{C7A524D9-9404-48F1-9EF6-37792DEE1B63}" type="pres">
      <dgm:prSet presAssocID="{0E1B7B63-524A-4408-9C94-49EE4A342B5A}" presName="spaceRect" presStyleCnt="0"/>
      <dgm:spPr/>
    </dgm:pt>
    <dgm:pt modelId="{3612F5E9-A321-4D65-B865-87B47CEF4916}" type="pres">
      <dgm:prSet presAssocID="{0E1B7B63-524A-4408-9C94-49EE4A342B5A}" presName="parTx" presStyleLbl="revTx" presStyleIdx="3" presStyleCnt="4">
        <dgm:presLayoutVars>
          <dgm:chMax val="0"/>
          <dgm:chPref val="0"/>
        </dgm:presLayoutVars>
      </dgm:prSet>
      <dgm:spPr/>
    </dgm:pt>
  </dgm:ptLst>
  <dgm:cxnLst>
    <dgm:cxn modelId="{E56A6700-BAA3-4DA9-9091-116F54EE345F}" srcId="{34DCB239-5860-4CB3-AF7D-FE3A2789EC6F}" destId="{CD341C92-CD94-48E2-903F-530F19F4F26E}" srcOrd="2" destOrd="0" parTransId="{7B72E6F2-E8ED-43F6-8F09-71A7201F30DB}" sibTransId="{547BCF22-56CF-46F9-B5F3-E68D34B71874}"/>
    <dgm:cxn modelId="{0DDD0F05-14CE-41D4-AFEF-55148C91DF8A}" type="presOf" srcId="{CD341C92-CD94-48E2-903F-530F19F4F26E}" destId="{2ECB1A1E-5097-48C7-9132-B27A1DD077E7}" srcOrd="0" destOrd="0" presId="urn:microsoft.com/office/officeart/2018/2/layout/IconVerticalSolidList"/>
    <dgm:cxn modelId="{9C2ADC06-7B08-4BA3-95C9-0ACFBE882589}" srcId="{34DCB239-5860-4CB3-AF7D-FE3A2789EC6F}" destId="{294D9EFC-ECC2-4758-B96A-773146242161}" srcOrd="0" destOrd="0" parTransId="{F885B9D0-D410-4419-BF20-36C6ABCA8183}" sibTransId="{DF420569-505B-4C0C-8035-261DC73C154C}"/>
    <dgm:cxn modelId="{3249851D-D7BA-4B81-B368-3334FE32BF01}" type="presOf" srcId="{34DCB239-5860-4CB3-AF7D-FE3A2789EC6F}" destId="{D0D1A5B9-375F-4E67-AD1F-C51E8389CC6E}" srcOrd="0" destOrd="0" presId="urn:microsoft.com/office/officeart/2018/2/layout/IconVerticalSolidList"/>
    <dgm:cxn modelId="{A18BA643-1BEA-4266-A546-607A36209B71}" srcId="{34DCB239-5860-4CB3-AF7D-FE3A2789EC6F}" destId="{4877F2DB-74D6-421D-A985-CDEF425ECC7D}" srcOrd="1" destOrd="0" parTransId="{CF334341-DE68-44B5-B546-D920D6AA29CA}" sibTransId="{4FCC1A81-9523-4B52-8797-D0C32BE9967A}"/>
    <dgm:cxn modelId="{25085F55-B659-427D-B9D3-1C8BD1C9F56A}" type="presOf" srcId="{294D9EFC-ECC2-4758-B96A-773146242161}" destId="{39F18DFA-6800-4A5B-936C-5C406E885354}" srcOrd="0" destOrd="0" presId="urn:microsoft.com/office/officeart/2018/2/layout/IconVerticalSolidList"/>
    <dgm:cxn modelId="{031F8FA9-024F-48CD-B6AB-4090B8BE1CD3}" type="presOf" srcId="{0E1B7B63-524A-4408-9C94-49EE4A342B5A}" destId="{3612F5E9-A321-4D65-B865-87B47CEF4916}" srcOrd="0" destOrd="0" presId="urn:microsoft.com/office/officeart/2018/2/layout/IconVerticalSolidList"/>
    <dgm:cxn modelId="{FBFB5CAB-CC06-456D-88CD-8D0039CAB6C8}" srcId="{34DCB239-5860-4CB3-AF7D-FE3A2789EC6F}" destId="{0E1B7B63-524A-4408-9C94-49EE4A342B5A}" srcOrd="3" destOrd="0" parTransId="{465643CD-F1B9-4B52-9219-7C0A684E5435}" sibTransId="{837F6C09-5083-40AD-9FB6-8023A2F47B38}"/>
    <dgm:cxn modelId="{D8A2E6BE-60B0-4EE3-8C33-958CF24FA6D9}" type="presOf" srcId="{4877F2DB-74D6-421D-A985-CDEF425ECC7D}" destId="{919EFAD8-BFC8-444B-986B-0018E53ADDD0}" srcOrd="0" destOrd="0" presId="urn:microsoft.com/office/officeart/2018/2/layout/IconVerticalSolidList"/>
    <dgm:cxn modelId="{884B9420-C982-4BD4-8CF3-3579A18D7E1A}" type="presParOf" srcId="{D0D1A5B9-375F-4E67-AD1F-C51E8389CC6E}" destId="{7C94D2D2-89CC-49C9-86BB-DC896B158A7F}" srcOrd="0" destOrd="0" presId="urn:microsoft.com/office/officeart/2018/2/layout/IconVerticalSolidList"/>
    <dgm:cxn modelId="{657206D3-A7BF-4643-9665-DE42348FE490}" type="presParOf" srcId="{7C94D2D2-89CC-49C9-86BB-DC896B158A7F}" destId="{5E2683EB-5103-4C7A-85AB-8133B558FB6B}" srcOrd="0" destOrd="0" presId="urn:microsoft.com/office/officeart/2018/2/layout/IconVerticalSolidList"/>
    <dgm:cxn modelId="{5C9443C2-33BC-4DC6-A8E1-62077640C149}" type="presParOf" srcId="{7C94D2D2-89CC-49C9-86BB-DC896B158A7F}" destId="{AEC105D6-DC9F-45F0-A724-9B660EFB36F8}" srcOrd="1" destOrd="0" presId="urn:microsoft.com/office/officeart/2018/2/layout/IconVerticalSolidList"/>
    <dgm:cxn modelId="{918F1CD9-2191-47B9-86CB-3F0C5AF52A29}" type="presParOf" srcId="{7C94D2D2-89CC-49C9-86BB-DC896B158A7F}" destId="{D09997A2-DD64-41EB-9A80-890496C03131}" srcOrd="2" destOrd="0" presId="urn:microsoft.com/office/officeart/2018/2/layout/IconVerticalSolidList"/>
    <dgm:cxn modelId="{9289BF34-04D0-4DF2-BB8E-C14FCCDC0B82}" type="presParOf" srcId="{7C94D2D2-89CC-49C9-86BB-DC896B158A7F}" destId="{39F18DFA-6800-4A5B-936C-5C406E885354}" srcOrd="3" destOrd="0" presId="urn:microsoft.com/office/officeart/2018/2/layout/IconVerticalSolidList"/>
    <dgm:cxn modelId="{F1D4F520-07F0-404E-B547-3DB1A65D6368}" type="presParOf" srcId="{D0D1A5B9-375F-4E67-AD1F-C51E8389CC6E}" destId="{876C3583-FEED-4AA3-9A30-97F75C829D7D}" srcOrd="1" destOrd="0" presId="urn:microsoft.com/office/officeart/2018/2/layout/IconVerticalSolidList"/>
    <dgm:cxn modelId="{5D7B69AE-10E8-4812-864C-0D31193FC77E}" type="presParOf" srcId="{D0D1A5B9-375F-4E67-AD1F-C51E8389CC6E}" destId="{0BBCB158-8624-4129-8778-590D3F9C7F4F}" srcOrd="2" destOrd="0" presId="urn:microsoft.com/office/officeart/2018/2/layout/IconVerticalSolidList"/>
    <dgm:cxn modelId="{5F931761-0A8B-4BC1-908A-632C7C6232AF}" type="presParOf" srcId="{0BBCB158-8624-4129-8778-590D3F9C7F4F}" destId="{91EDC7F4-972D-4ACB-BF04-43D1FA9BA85A}" srcOrd="0" destOrd="0" presId="urn:microsoft.com/office/officeart/2018/2/layout/IconVerticalSolidList"/>
    <dgm:cxn modelId="{ABA3C8EB-C84D-4EA9-9631-89B28111B5D9}" type="presParOf" srcId="{0BBCB158-8624-4129-8778-590D3F9C7F4F}" destId="{A4B7625A-22EB-4DA9-93D7-EE77CB2D8F18}" srcOrd="1" destOrd="0" presId="urn:microsoft.com/office/officeart/2018/2/layout/IconVerticalSolidList"/>
    <dgm:cxn modelId="{F84D8D91-221C-4DFA-B4D2-55E872ECB8F8}" type="presParOf" srcId="{0BBCB158-8624-4129-8778-590D3F9C7F4F}" destId="{594D9E72-F703-4868-8222-CC3478502BAB}" srcOrd="2" destOrd="0" presId="urn:microsoft.com/office/officeart/2018/2/layout/IconVerticalSolidList"/>
    <dgm:cxn modelId="{6D25C7D6-7F34-41AB-A0BA-C6A36E0401F9}" type="presParOf" srcId="{0BBCB158-8624-4129-8778-590D3F9C7F4F}" destId="{919EFAD8-BFC8-444B-986B-0018E53ADDD0}" srcOrd="3" destOrd="0" presId="urn:microsoft.com/office/officeart/2018/2/layout/IconVerticalSolidList"/>
    <dgm:cxn modelId="{1F109CFE-300D-4415-BB5E-19E73875592D}" type="presParOf" srcId="{D0D1A5B9-375F-4E67-AD1F-C51E8389CC6E}" destId="{FC509238-49B3-4319-81AE-8070CE553913}" srcOrd="3" destOrd="0" presId="urn:microsoft.com/office/officeart/2018/2/layout/IconVerticalSolidList"/>
    <dgm:cxn modelId="{053AE058-86FA-4FA7-8533-FC709FB3E0CD}" type="presParOf" srcId="{D0D1A5B9-375F-4E67-AD1F-C51E8389CC6E}" destId="{CDB5A0E8-E842-4CBF-B295-229DD2B9DA77}" srcOrd="4" destOrd="0" presId="urn:microsoft.com/office/officeart/2018/2/layout/IconVerticalSolidList"/>
    <dgm:cxn modelId="{19D61792-C546-4EE1-B1BC-4B6D59030F71}" type="presParOf" srcId="{CDB5A0E8-E842-4CBF-B295-229DD2B9DA77}" destId="{FAE1F481-D685-49BB-8737-ED584ABB2CB3}" srcOrd="0" destOrd="0" presId="urn:microsoft.com/office/officeart/2018/2/layout/IconVerticalSolidList"/>
    <dgm:cxn modelId="{1985D08B-418D-4A67-9CC1-AB0B08565D66}" type="presParOf" srcId="{CDB5A0E8-E842-4CBF-B295-229DD2B9DA77}" destId="{BBBA9D7C-35D0-4449-AE7F-AC23D3A299C1}" srcOrd="1" destOrd="0" presId="urn:microsoft.com/office/officeart/2018/2/layout/IconVerticalSolidList"/>
    <dgm:cxn modelId="{482660F7-F529-4BCA-A161-C7BF1E392ABF}" type="presParOf" srcId="{CDB5A0E8-E842-4CBF-B295-229DD2B9DA77}" destId="{0691DECB-60F4-45AE-BE0F-1253CCBF78EC}" srcOrd="2" destOrd="0" presId="urn:microsoft.com/office/officeart/2018/2/layout/IconVerticalSolidList"/>
    <dgm:cxn modelId="{FD4C84DD-D7D1-4385-9167-DCEDC05F1FD4}" type="presParOf" srcId="{CDB5A0E8-E842-4CBF-B295-229DD2B9DA77}" destId="{2ECB1A1E-5097-48C7-9132-B27A1DD077E7}" srcOrd="3" destOrd="0" presId="urn:microsoft.com/office/officeart/2018/2/layout/IconVerticalSolidList"/>
    <dgm:cxn modelId="{61ADEA72-53EB-4775-A3E2-B665994426EA}" type="presParOf" srcId="{D0D1A5B9-375F-4E67-AD1F-C51E8389CC6E}" destId="{956B101B-1401-45A2-ACB7-B48E85E152FD}" srcOrd="5" destOrd="0" presId="urn:microsoft.com/office/officeart/2018/2/layout/IconVerticalSolidList"/>
    <dgm:cxn modelId="{24F3B6B0-4F46-4BFC-9336-05C7475F77CA}" type="presParOf" srcId="{D0D1A5B9-375F-4E67-AD1F-C51E8389CC6E}" destId="{069B9056-68C5-4F32-8E47-3D87C5BAFFF3}" srcOrd="6" destOrd="0" presId="urn:microsoft.com/office/officeart/2018/2/layout/IconVerticalSolidList"/>
    <dgm:cxn modelId="{E9CAFDA5-0ED0-4513-B7EB-53847F821E2D}" type="presParOf" srcId="{069B9056-68C5-4F32-8E47-3D87C5BAFFF3}" destId="{71863CD8-7312-4B5C-BE57-CB3DD6280892}" srcOrd="0" destOrd="0" presId="urn:microsoft.com/office/officeart/2018/2/layout/IconVerticalSolidList"/>
    <dgm:cxn modelId="{14947F22-2351-4C3B-BB93-BB38962003F1}" type="presParOf" srcId="{069B9056-68C5-4F32-8E47-3D87C5BAFFF3}" destId="{5801CE6D-8C63-4782-9E98-94B9F43C3410}" srcOrd="1" destOrd="0" presId="urn:microsoft.com/office/officeart/2018/2/layout/IconVerticalSolidList"/>
    <dgm:cxn modelId="{D45FE8B0-615F-45F6-8B6B-F9A2C1DCBA2B}" type="presParOf" srcId="{069B9056-68C5-4F32-8E47-3D87C5BAFFF3}" destId="{C7A524D9-9404-48F1-9EF6-37792DEE1B63}" srcOrd="2" destOrd="0" presId="urn:microsoft.com/office/officeart/2018/2/layout/IconVerticalSolidList"/>
    <dgm:cxn modelId="{53655024-5D48-465F-89C0-68A381692DA9}" type="presParOf" srcId="{069B9056-68C5-4F32-8E47-3D87C5BAFFF3}" destId="{3612F5E9-A321-4D65-B865-87B47CEF491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65F8E1-2914-5C44-B92B-AAE2E1239DCC}">
      <dsp:nvSpPr>
        <dsp:cNvPr id="0" name=""/>
        <dsp:cNvSpPr/>
      </dsp:nvSpPr>
      <dsp:spPr>
        <a:xfrm>
          <a:off x="0" y="265732"/>
          <a:ext cx="7012370" cy="1552950"/>
        </a:xfrm>
        <a:prstGeom prst="rect">
          <a:avLst/>
        </a:prstGeom>
        <a:solidFill>
          <a:schemeClr val="lt1">
            <a:alpha val="90000"/>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44238" tIns="354076" rIns="544238" bIns="120904" numCol="1" spcCol="1270" anchor="t" anchorCtr="0">
          <a:noAutofit/>
        </a:bodyPr>
        <a:lstStyle/>
        <a:p>
          <a:pPr marL="171450" lvl="1" indent="-171450" algn="l" defTabSz="755650">
            <a:lnSpc>
              <a:spcPct val="90000"/>
            </a:lnSpc>
            <a:spcBef>
              <a:spcPct val="0"/>
            </a:spcBef>
            <a:spcAft>
              <a:spcPct val="15000"/>
            </a:spcAft>
            <a:buChar char="•"/>
          </a:pPr>
          <a:r>
            <a:rPr lang="en-NG" sz="1700" kern="1200" dirty="0"/>
            <a:t>Neural Networks</a:t>
          </a:r>
          <a:endParaRPr lang="en-US" sz="1700" kern="1200" dirty="0"/>
        </a:p>
        <a:p>
          <a:pPr marL="171450" lvl="1" indent="-171450" algn="l" defTabSz="755650">
            <a:lnSpc>
              <a:spcPct val="90000"/>
            </a:lnSpc>
            <a:spcBef>
              <a:spcPct val="0"/>
            </a:spcBef>
            <a:spcAft>
              <a:spcPct val="15000"/>
            </a:spcAft>
            <a:buChar char="•"/>
          </a:pPr>
          <a:r>
            <a:rPr lang="en-NG" sz="1700" kern="1200" dirty="0"/>
            <a:t>Recurrent Neural Networks</a:t>
          </a:r>
          <a:endParaRPr lang="en-US" sz="1700" kern="1200" dirty="0"/>
        </a:p>
        <a:p>
          <a:pPr marL="171450" lvl="1" indent="-171450" algn="l" defTabSz="755650">
            <a:lnSpc>
              <a:spcPct val="90000"/>
            </a:lnSpc>
            <a:spcBef>
              <a:spcPct val="0"/>
            </a:spcBef>
            <a:spcAft>
              <a:spcPct val="15000"/>
            </a:spcAft>
            <a:buChar char="•"/>
          </a:pPr>
          <a:r>
            <a:rPr lang="en-NG" sz="1700" kern="1200" dirty="0"/>
            <a:t>Problem Statement</a:t>
          </a:r>
          <a:endParaRPr lang="en-US" sz="1700" kern="1200" dirty="0"/>
        </a:p>
        <a:p>
          <a:pPr marL="171450" lvl="1" indent="-171450" algn="l" defTabSz="755650">
            <a:lnSpc>
              <a:spcPct val="90000"/>
            </a:lnSpc>
            <a:spcBef>
              <a:spcPct val="0"/>
            </a:spcBef>
            <a:spcAft>
              <a:spcPct val="15000"/>
            </a:spcAft>
            <a:buChar char="•"/>
          </a:pPr>
          <a:r>
            <a:rPr lang="en-NG" sz="1700" kern="1200" dirty="0"/>
            <a:t>Project Objective</a:t>
          </a:r>
          <a:endParaRPr lang="en-US" sz="1700" kern="1200" dirty="0"/>
        </a:p>
      </dsp:txBody>
      <dsp:txXfrm>
        <a:off x="0" y="265732"/>
        <a:ext cx="7012370" cy="1552950"/>
      </dsp:txXfrm>
    </dsp:sp>
    <dsp:sp modelId="{4F69F897-A83A-1D4C-AFE4-52A6A199EF06}">
      <dsp:nvSpPr>
        <dsp:cNvPr id="0" name=""/>
        <dsp:cNvSpPr/>
      </dsp:nvSpPr>
      <dsp:spPr>
        <a:xfrm>
          <a:off x="350618" y="14812"/>
          <a:ext cx="4908659" cy="501840"/>
        </a:xfrm>
        <a:prstGeom prst="round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85536" tIns="0" rIns="185536" bIns="0" numCol="1" spcCol="1270" anchor="ctr" anchorCtr="0">
          <a:noAutofit/>
        </a:bodyPr>
        <a:lstStyle/>
        <a:p>
          <a:pPr marL="0" lvl="0" indent="0" algn="l" defTabSz="755650">
            <a:lnSpc>
              <a:spcPct val="90000"/>
            </a:lnSpc>
            <a:spcBef>
              <a:spcPct val="0"/>
            </a:spcBef>
            <a:spcAft>
              <a:spcPct val="35000"/>
            </a:spcAft>
            <a:buNone/>
          </a:pPr>
          <a:r>
            <a:rPr lang="en-NG" sz="1700" kern="1200"/>
            <a:t>INTRODUCTION</a:t>
          </a:r>
          <a:endParaRPr lang="en-US" sz="1700" kern="1200"/>
        </a:p>
      </dsp:txBody>
      <dsp:txXfrm>
        <a:off x="375116" y="39310"/>
        <a:ext cx="4859663" cy="452844"/>
      </dsp:txXfrm>
    </dsp:sp>
    <dsp:sp modelId="{22C32CF6-EAC0-3645-A1E7-C56B2878577F}">
      <dsp:nvSpPr>
        <dsp:cNvPr id="0" name=""/>
        <dsp:cNvSpPr/>
      </dsp:nvSpPr>
      <dsp:spPr>
        <a:xfrm>
          <a:off x="0" y="2161403"/>
          <a:ext cx="7012370" cy="990675"/>
        </a:xfrm>
        <a:prstGeom prst="rect">
          <a:avLst/>
        </a:prstGeom>
        <a:solidFill>
          <a:schemeClr val="lt1">
            <a:alpha val="90000"/>
            <a:hueOff val="0"/>
            <a:satOff val="0"/>
            <a:lumOff val="0"/>
            <a:alphaOff val="0"/>
          </a:schemeClr>
        </a:solidFill>
        <a:ln w="12700" cap="rnd"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44238" tIns="354076" rIns="544238"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a:t>Hopfield Nets</a:t>
          </a:r>
        </a:p>
        <a:p>
          <a:pPr marL="171450" lvl="1" indent="-171450" algn="l" defTabSz="755650">
            <a:lnSpc>
              <a:spcPct val="90000"/>
            </a:lnSpc>
            <a:spcBef>
              <a:spcPct val="0"/>
            </a:spcBef>
            <a:spcAft>
              <a:spcPct val="15000"/>
            </a:spcAft>
            <a:buChar char="•"/>
          </a:pPr>
          <a:r>
            <a:rPr lang="en-US" sz="1700" kern="1200" dirty="0"/>
            <a:t>Hebbian Learning</a:t>
          </a:r>
        </a:p>
      </dsp:txBody>
      <dsp:txXfrm>
        <a:off x="0" y="2161403"/>
        <a:ext cx="7012370" cy="990675"/>
      </dsp:txXfrm>
    </dsp:sp>
    <dsp:sp modelId="{D230032D-F0BC-6C47-8307-F8560708D938}">
      <dsp:nvSpPr>
        <dsp:cNvPr id="0" name=""/>
        <dsp:cNvSpPr/>
      </dsp:nvSpPr>
      <dsp:spPr>
        <a:xfrm>
          <a:off x="350618" y="1910483"/>
          <a:ext cx="4908659" cy="501840"/>
        </a:xfrm>
        <a:prstGeom prst="roundRect">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85536" tIns="0" rIns="185536" bIns="0" numCol="1" spcCol="1270" anchor="ctr" anchorCtr="0">
          <a:noAutofit/>
        </a:bodyPr>
        <a:lstStyle/>
        <a:p>
          <a:pPr marL="0" lvl="0" indent="0" algn="l" defTabSz="755650">
            <a:lnSpc>
              <a:spcPct val="90000"/>
            </a:lnSpc>
            <a:spcBef>
              <a:spcPct val="0"/>
            </a:spcBef>
            <a:spcAft>
              <a:spcPct val="35000"/>
            </a:spcAft>
            <a:buNone/>
          </a:pPr>
          <a:r>
            <a:rPr lang="en-NG" sz="1700" kern="1200"/>
            <a:t>HOPFIELD NETWORK</a:t>
          </a:r>
          <a:endParaRPr lang="en-US" sz="1700" kern="1200"/>
        </a:p>
      </dsp:txBody>
      <dsp:txXfrm>
        <a:off x="375116" y="1934981"/>
        <a:ext cx="4859663" cy="452844"/>
      </dsp:txXfrm>
    </dsp:sp>
    <dsp:sp modelId="{3A3A928C-0DBC-DA47-A870-252F3FF20DAE}">
      <dsp:nvSpPr>
        <dsp:cNvPr id="0" name=""/>
        <dsp:cNvSpPr/>
      </dsp:nvSpPr>
      <dsp:spPr>
        <a:xfrm>
          <a:off x="0" y="3494798"/>
          <a:ext cx="7012370" cy="428400"/>
        </a:xfrm>
        <a:prstGeom prst="rect">
          <a:avLst/>
        </a:prstGeom>
        <a:solidFill>
          <a:schemeClr val="lt1">
            <a:alpha val="90000"/>
            <a:hueOff val="0"/>
            <a:satOff val="0"/>
            <a:lumOff val="0"/>
            <a:alphaOff val="0"/>
          </a:schemeClr>
        </a:solidFill>
        <a:ln w="12700" cap="rnd"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F80DE08-CDC7-324D-912D-1CCD6016DDBF}">
      <dsp:nvSpPr>
        <dsp:cNvPr id="0" name=""/>
        <dsp:cNvSpPr/>
      </dsp:nvSpPr>
      <dsp:spPr>
        <a:xfrm>
          <a:off x="350618" y="3243878"/>
          <a:ext cx="4908659" cy="501840"/>
        </a:xfrm>
        <a:prstGeom prst="roundRect">
          <a:avLst/>
        </a:prstGeom>
        <a:gradFill rotWithShape="0">
          <a:gsLst>
            <a:gs pos="0">
              <a:schemeClr val="accent4">
                <a:hueOff val="0"/>
                <a:satOff val="0"/>
                <a:lumOff val="0"/>
                <a:alphaOff val="0"/>
                <a:tint val="98000"/>
                <a:lumMod val="110000"/>
              </a:schemeClr>
            </a:gs>
            <a:gs pos="84000">
              <a:schemeClr val="accent4">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85536" tIns="0" rIns="185536" bIns="0" numCol="1" spcCol="1270" anchor="ctr" anchorCtr="0">
          <a:noAutofit/>
        </a:bodyPr>
        <a:lstStyle/>
        <a:p>
          <a:pPr marL="0" lvl="0" indent="0" algn="l" defTabSz="755650">
            <a:lnSpc>
              <a:spcPct val="90000"/>
            </a:lnSpc>
            <a:spcBef>
              <a:spcPct val="0"/>
            </a:spcBef>
            <a:spcAft>
              <a:spcPct val="35000"/>
            </a:spcAft>
            <a:buNone/>
          </a:pPr>
          <a:r>
            <a:rPr lang="en-NG" sz="1700" kern="1200" dirty="0"/>
            <a:t>TESTING/ARTEFACT DEMONSTRATION</a:t>
          </a:r>
          <a:endParaRPr lang="en-US" sz="1700" kern="1200" dirty="0"/>
        </a:p>
      </dsp:txBody>
      <dsp:txXfrm>
        <a:off x="375116" y="3268376"/>
        <a:ext cx="4859663" cy="452844"/>
      </dsp:txXfrm>
    </dsp:sp>
    <dsp:sp modelId="{7DDC8E59-81F9-0945-B946-9576DF9A7173}">
      <dsp:nvSpPr>
        <dsp:cNvPr id="0" name=""/>
        <dsp:cNvSpPr/>
      </dsp:nvSpPr>
      <dsp:spPr>
        <a:xfrm>
          <a:off x="0" y="4265918"/>
          <a:ext cx="7012370" cy="428400"/>
        </a:xfrm>
        <a:prstGeom prst="rect">
          <a:avLst/>
        </a:prstGeom>
        <a:solidFill>
          <a:schemeClr val="lt1">
            <a:alpha val="90000"/>
            <a:hueOff val="0"/>
            <a:satOff val="0"/>
            <a:lumOff val="0"/>
            <a:alphaOff val="0"/>
          </a:schemeClr>
        </a:solidFill>
        <a:ln w="12700" cap="rnd"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84F50577-2D64-8445-B529-4854BD236F96}">
      <dsp:nvSpPr>
        <dsp:cNvPr id="0" name=""/>
        <dsp:cNvSpPr/>
      </dsp:nvSpPr>
      <dsp:spPr>
        <a:xfrm>
          <a:off x="350618" y="4014998"/>
          <a:ext cx="4908659" cy="501840"/>
        </a:xfrm>
        <a:prstGeom prst="roundRect">
          <a:avLst/>
        </a:prstGeom>
        <a:gradFill rotWithShape="0">
          <a:gsLst>
            <a:gs pos="0">
              <a:schemeClr val="accent5">
                <a:hueOff val="0"/>
                <a:satOff val="0"/>
                <a:lumOff val="0"/>
                <a:alphaOff val="0"/>
                <a:tint val="98000"/>
                <a:lumMod val="110000"/>
              </a:schemeClr>
            </a:gs>
            <a:gs pos="84000">
              <a:schemeClr val="accent5">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85536" tIns="0" rIns="185536" bIns="0" numCol="1" spcCol="1270" anchor="ctr" anchorCtr="0">
          <a:noAutofit/>
        </a:bodyPr>
        <a:lstStyle/>
        <a:p>
          <a:pPr marL="0" lvl="0" indent="0" algn="l" defTabSz="755650">
            <a:lnSpc>
              <a:spcPct val="90000"/>
            </a:lnSpc>
            <a:spcBef>
              <a:spcPct val="0"/>
            </a:spcBef>
            <a:spcAft>
              <a:spcPct val="35000"/>
            </a:spcAft>
            <a:buNone/>
          </a:pPr>
          <a:r>
            <a:rPr lang="en-NG" sz="1700" kern="1200" dirty="0"/>
            <a:t>DISCUSSION &amp; CONCLUSION</a:t>
          </a:r>
          <a:endParaRPr lang="en-US" sz="1700" kern="1200" dirty="0"/>
        </a:p>
      </dsp:txBody>
      <dsp:txXfrm>
        <a:off x="375116" y="4039496"/>
        <a:ext cx="4859663" cy="4528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2683EB-5103-4C7A-85AB-8133B558FB6B}">
      <dsp:nvSpPr>
        <dsp:cNvPr id="0" name=""/>
        <dsp:cNvSpPr/>
      </dsp:nvSpPr>
      <dsp:spPr>
        <a:xfrm>
          <a:off x="0" y="1954"/>
          <a:ext cx="7012370" cy="99057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C105D6-DC9F-45F0-A724-9B660EFB36F8}">
      <dsp:nvSpPr>
        <dsp:cNvPr id="0" name=""/>
        <dsp:cNvSpPr/>
      </dsp:nvSpPr>
      <dsp:spPr>
        <a:xfrm>
          <a:off x="299648" y="224833"/>
          <a:ext cx="544815" cy="5448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9F18DFA-6800-4A5B-936C-5C406E885354}">
      <dsp:nvSpPr>
        <dsp:cNvPr id="0" name=""/>
        <dsp:cNvSpPr/>
      </dsp:nvSpPr>
      <dsp:spPr>
        <a:xfrm>
          <a:off x="1144111" y="1954"/>
          <a:ext cx="5868258" cy="990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836" tIns="104836" rIns="104836" bIns="104836" numCol="1" spcCol="1270" anchor="ctr" anchorCtr="0">
          <a:noAutofit/>
        </a:bodyPr>
        <a:lstStyle/>
        <a:p>
          <a:pPr marL="0" lvl="0" indent="0" algn="just" defTabSz="622300">
            <a:lnSpc>
              <a:spcPct val="90000"/>
            </a:lnSpc>
            <a:spcBef>
              <a:spcPct val="0"/>
            </a:spcBef>
            <a:spcAft>
              <a:spcPct val="35000"/>
            </a:spcAft>
            <a:buNone/>
          </a:pPr>
          <a:r>
            <a:rPr lang="en-US" sz="1400" kern="1200" dirty="0">
              <a:solidFill>
                <a:srgbClr val="242424"/>
              </a:solidFill>
              <a:effectLst/>
              <a:latin typeface="+mn-lt"/>
              <a:ea typeface="Calibri" panose="020F0502020204030204" pitchFamily="34" charset="0"/>
            </a:rPr>
            <a:t>Neural Networks are algorithms that deal with cognitive tasks; including learning and optimization processes that are vaguely based on ideologies relating to the nature of the brain.  </a:t>
          </a:r>
          <a:r>
            <a:rPr lang="en-US" sz="1400" kern="1200" dirty="0"/>
            <a:t>Neural Network is a network where there’s an interconnection between all its elements. </a:t>
          </a:r>
          <a:endParaRPr lang="en-US" sz="1400" kern="1200" dirty="0">
            <a:solidFill>
              <a:srgbClr val="242424"/>
            </a:solidFill>
            <a:effectLst/>
            <a:latin typeface="+mn-lt"/>
            <a:ea typeface="Calibri" panose="020F0502020204030204" pitchFamily="34" charset="0"/>
          </a:endParaRPr>
        </a:p>
      </dsp:txBody>
      <dsp:txXfrm>
        <a:off x="1144111" y="1954"/>
        <a:ext cx="5868258" cy="990573"/>
      </dsp:txXfrm>
    </dsp:sp>
    <dsp:sp modelId="{91EDC7F4-972D-4ACB-BF04-43D1FA9BA85A}">
      <dsp:nvSpPr>
        <dsp:cNvPr id="0" name=""/>
        <dsp:cNvSpPr/>
      </dsp:nvSpPr>
      <dsp:spPr>
        <a:xfrm>
          <a:off x="0" y="1240170"/>
          <a:ext cx="7012370" cy="99057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B7625A-22EB-4DA9-93D7-EE77CB2D8F18}">
      <dsp:nvSpPr>
        <dsp:cNvPr id="0" name=""/>
        <dsp:cNvSpPr/>
      </dsp:nvSpPr>
      <dsp:spPr>
        <a:xfrm>
          <a:off x="299648" y="1463049"/>
          <a:ext cx="544815" cy="5448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19EFAD8-BFC8-444B-986B-0018E53ADDD0}">
      <dsp:nvSpPr>
        <dsp:cNvPr id="0" name=""/>
        <dsp:cNvSpPr/>
      </dsp:nvSpPr>
      <dsp:spPr>
        <a:xfrm>
          <a:off x="1144111" y="1240170"/>
          <a:ext cx="5868258" cy="990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836" tIns="104836" rIns="104836" bIns="104836" numCol="1" spcCol="1270" anchor="ctr" anchorCtr="0">
          <a:noAutofit/>
        </a:bodyPr>
        <a:lstStyle/>
        <a:p>
          <a:pPr marL="0" lvl="0" indent="0" algn="l" defTabSz="622300">
            <a:lnSpc>
              <a:spcPct val="90000"/>
            </a:lnSpc>
            <a:spcBef>
              <a:spcPct val="0"/>
            </a:spcBef>
            <a:spcAft>
              <a:spcPct val="35000"/>
            </a:spcAft>
            <a:buNone/>
          </a:pPr>
          <a:r>
            <a:rPr lang="en-US" sz="1400" kern="1200" dirty="0"/>
            <a:t>Neural Networks also involves building machines with the idea that these machines work similarly to how the human brain functions and there ate four major types. Perceptron, Multilayer perceptron, Convolutional and Recurrent Neural Networks, respectively. </a:t>
          </a:r>
        </a:p>
      </dsp:txBody>
      <dsp:txXfrm>
        <a:off x="1144111" y="1240170"/>
        <a:ext cx="5868258" cy="990573"/>
      </dsp:txXfrm>
    </dsp:sp>
    <dsp:sp modelId="{FAE1F481-D685-49BB-8737-ED584ABB2CB3}">
      <dsp:nvSpPr>
        <dsp:cNvPr id="0" name=""/>
        <dsp:cNvSpPr/>
      </dsp:nvSpPr>
      <dsp:spPr>
        <a:xfrm>
          <a:off x="0" y="2478387"/>
          <a:ext cx="7012370" cy="99057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BA9D7C-35D0-4449-AE7F-AC23D3A299C1}">
      <dsp:nvSpPr>
        <dsp:cNvPr id="0" name=""/>
        <dsp:cNvSpPr/>
      </dsp:nvSpPr>
      <dsp:spPr>
        <a:xfrm>
          <a:off x="299648" y="2701266"/>
          <a:ext cx="544815" cy="5448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ECB1A1E-5097-48C7-9132-B27A1DD077E7}">
      <dsp:nvSpPr>
        <dsp:cNvPr id="0" name=""/>
        <dsp:cNvSpPr/>
      </dsp:nvSpPr>
      <dsp:spPr>
        <a:xfrm>
          <a:off x="1144111" y="2478387"/>
          <a:ext cx="5868258" cy="990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836" tIns="104836" rIns="104836" bIns="104836" numCol="1" spcCol="1270" anchor="ctr" anchorCtr="0">
          <a:noAutofit/>
        </a:bodyPr>
        <a:lstStyle/>
        <a:p>
          <a:pPr marL="0" lvl="0" indent="0" algn="l" defTabSz="622300">
            <a:lnSpc>
              <a:spcPct val="90000"/>
            </a:lnSpc>
            <a:spcBef>
              <a:spcPct val="0"/>
            </a:spcBef>
            <a:spcAft>
              <a:spcPct val="35000"/>
            </a:spcAft>
            <a:buNone/>
          </a:pPr>
          <a:r>
            <a:rPr lang="en-US" sz="1400" kern="1200" dirty="0"/>
            <a:t>Perceptrons are </a:t>
          </a:r>
          <a:r>
            <a:rPr lang="en-US" sz="1400" kern="1200" dirty="0">
              <a:solidFill>
                <a:schemeClr val="bg1"/>
              </a:solidFill>
            </a:rPr>
            <a:t>oldest Neural Networks with one neuron</a:t>
          </a:r>
          <a:r>
            <a:rPr lang="en-US" sz="1400" kern="1200" dirty="0"/>
            <a:t>. Multilayer Perceptrons have both input, hidden and output layers and are the foundation of NLPs.</a:t>
          </a:r>
        </a:p>
      </dsp:txBody>
      <dsp:txXfrm>
        <a:off x="1144111" y="2478387"/>
        <a:ext cx="5868258" cy="990573"/>
      </dsp:txXfrm>
    </dsp:sp>
    <dsp:sp modelId="{71863CD8-7312-4B5C-BE57-CB3DD6280892}">
      <dsp:nvSpPr>
        <dsp:cNvPr id="0" name=""/>
        <dsp:cNvSpPr/>
      </dsp:nvSpPr>
      <dsp:spPr>
        <a:xfrm>
          <a:off x="0" y="3716603"/>
          <a:ext cx="7012370" cy="99057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01CE6D-8C63-4782-9E98-94B9F43C3410}">
      <dsp:nvSpPr>
        <dsp:cNvPr id="0" name=""/>
        <dsp:cNvSpPr/>
      </dsp:nvSpPr>
      <dsp:spPr>
        <a:xfrm>
          <a:off x="299648" y="3939482"/>
          <a:ext cx="544815" cy="54481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612F5E9-A321-4D65-B865-87B47CEF4916}">
      <dsp:nvSpPr>
        <dsp:cNvPr id="0" name=""/>
        <dsp:cNvSpPr/>
      </dsp:nvSpPr>
      <dsp:spPr>
        <a:xfrm>
          <a:off x="1144111" y="3716603"/>
          <a:ext cx="5868258" cy="990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836" tIns="104836" rIns="104836" bIns="104836" numCol="1" spcCol="1270" anchor="ctr" anchorCtr="0">
          <a:noAutofit/>
        </a:bodyPr>
        <a:lstStyle/>
        <a:p>
          <a:pPr marL="0" lvl="0" indent="0" algn="l" defTabSz="622300">
            <a:lnSpc>
              <a:spcPct val="90000"/>
            </a:lnSpc>
            <a:spcBef>
              <a:spcPct val="0"/>
            </a:spcBef>
            <a:spcAft>
              <a:spcPct val="35000"/>
            </a:spcAft>
            <a:buNone/>
          </a:pPr>
          <a:r>
            <a:rPr lang="en-US" sz="1400" kern="1200" dirty="0"/>
            <a:t>Convolutional Neural Networks are used for image recognition and computer vision while Recurrent Neural Networks are useful in predicting future outcomes and are known for their feedback loop.</a:t>
          </a:r>
        </a:p>
      </dsp:txBody>
      <dsp:txXfrm>
        <a:off x="1144111" y="3716603"/>
        <a:ext cx="5868258" cy="990573"/>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1/23/23</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4472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1/23/23</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29380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1/23/23</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9091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1/23/23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7611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1/23/23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74112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1/23/23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58034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1/23/23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81595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1/23/23</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174753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1/23/23</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74550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1/23/23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18563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1/23/23</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78786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850">
                <a:solidFill>
                  <a:schemeClr val="tx1">
                    <a:lumMod val="75000"/>
                    <a:lumOff val="25000"/>
                  </a:schemeClr>
                </a:solidFill>
              </a:defRPr>
            </a:lvl1pPr>
          </a:lstStyle>
          <a:p>
            <a:fld id="{ED291B17-9318-49DB-B28B-6E5994AE9581}" type="datetime1">
              <a:rPr lang="en-US" smtClean="0"/>
              <a:t>1/23/23</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85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85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92536398"/>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6" r:id="rId6"/>
    <p:sldLayoutId id="2147483691" r:id="rId7"/>
    <p:sldLayoutId id="2147483692" r:id="rId8"/>
    <p:sldLayoutId id="2147483693" r:id="rId9"/>
    <p:sldLayoutId id="2147483695" r:id="rId10"/>
    <p:sldLayoutId id="2147483694" r:id="rId11"/>
  </p:sldLayoutIdLst>
  <p:hf sldNum="0" hdr="0" ftr="0" dt="0"/>
  <p:txStyles>
    <p:titleStyle>
      <a:lvl1pPr algn="l" defTabSz="457200" rtl="0" eaLnBrk="1" latinLnBrk="0" hangingPunct="1">
        <a:lnSpc>
          <a:spcPct val="90000"/>
        </a:lnSpc>
        <a:spcBef>
          <a:spcPct val="0"/>
        </a:spcBef>
        <a:buNone/>
        <a:defRPr sz="27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500" kern="1200">
          <a:solidFill>
            <a:schemeClr val="tx1">
              <a:lumMod val="75000"/>
              <a:lumOff val="25000"/>
            </a:schemeClr>
          </a:solidFill>
          <a:latin typeface="+mn-lt"/>
          <a:ea typeface="+mn-ea"/>
          <a:cs typeface="+mn-cs"/>
        </a:defRPr>
      </a:lvl2pPr>
      <a:lvl3pPr marL="900000" indent="-270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ibm.com/cloud/learn/neural-networks" TargetMode="External"/><Relationship Id="rId2" Type="http://schemas.openxmlformats.org/officeDocument/2006/relationships/hyperlink" Target="https://doi.org/10.1007/978-1-349-13530-1_1" TargetMode="External"/><Relationship Id="rId1" Type="http://schemas.openxmlformats.org/officeDocument/2006/relationships/slideLayout" Target="../slideLayouts/slideLayout2.xml"/><Relationship Id="rId6" Type="http://schemas.openxmlformats.org/officeDocument/2006/relationships/hyperlink" Target="https://www.frontiersin.org/articles/10.3389/fncom.2016.00144" TargetMode="External"/><Relationship Id="rId5" Type="http://schemas.openxmlformats.org/officeDocument/2006/relationships/hyperlink" Target="https://doi.org/10.1016/j.neucom.2017.04.075" TargetMode="External"/><Relationship Id="rId4" Type="http://schemas.openxmlformats.org/officeDocument/2006/relationships/hyperlink" Target="https://medium.com/@serbanliviu/hopfield-nets-and-the-brain-e5880070cdb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8" descr="10 Use Cases of Neural Networks in Business - Algorithm-X Lab">
            <a:extLst>
              <a:ext uri="{FF2B5EF4-FFF2-40B4-BE49-F238E27FC236}">
                <a16:creationId xmlns:a16="http://schemas.microsoft.com/office/drawing/2014/main" id="{957AC3B3-BC90-9E6E-86C4-B60C692CFB9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4255"/>
          <a:stretch/>
        </p:blipFill>
        <p:spPr bwMode="auto">
          <a:xfrm>
            <a:off x="-3047" y="10"/>
            <a:ext cx="12191999" cy="6857990"/>
          </a:xfrm>
          <a:prstGeom prst="rect">
            <a:avLst/>
          </a:prstGeom>
          <a:noFill/>
          <a:extLst>
            <a:ext uri="{909E8E84-426E-40DD-AFC4-6F175D3DCCD1}">
              <a14:hiddenFill xmlns:a14="http://schemas.microsoft.com/office/drawing/2010/main">
                <a:solidFill>
                  <a:srgbClr val="FFFFFF"/>
                </a:solidFill>
              </a14:hiddenFill>
            </a:ext>
          </a:extLst>
        </p:spPr>
      </p:pic>
      <p:sp>
        <p:nvSpPr>
          <p:cNvPr id="52" name="Rectangle 51">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chemeClr val="tx2">
                  <a:alpha val="0"/>
                </a:schemeClr>
              </a:gs>
              <a:gs pos="50000">
                <a:schemeClr val="tx2">
                  <a:alpha val="35000"/>
                </a:schemeClr>
              </a:gs>
              <a:gs pos="100000">
                <a:schemeClr val="tx2">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74337BF2-1CC6-7644-AC73-3A030F256AD4}"/>
              </a:ext>
            </a:extLst>
          </p:cNvPr>
          <p:cNvSpPr>
            <a:spLocks noGrp="1"/>
          </p:cNvSpPr>
          <p:nvPr>
            <p:ph type="ctrTitle"/>
          </p:nvPr>
        </p:nvSpPr>
        <p:spPr>
          <a:xfrm>
            <a:off x="643466" y="643467"/>
            <a:ext cx="10905059" cy="3330353"/>
          </a:xfrm>
          <a:effectLst>
            <a:outerShdw blurRad="50800" dist="38100" dir="2700000" algn="tl" rotWithShape="0">
              <a:prstClr val="black">
                <a:alpha val="40000"/>
              </a:prstClr>
            </a:outerShdw>
          </a:effectLst>
        </p:spPr>
        <p:txBody>
          <a:bodyPr vert="horz" lIns="91440" tIns="45720" rIns="91440" bIns="45720" rtlCol="0">
            <a:normAutofit/>
          </a:bodyPr>
          <a:lstStyle/>
          <a:p>
            <a:pPr algn="ctr"/>
            <a:r>
              <a:rPr lang="en-NG" dirty="0">
                <a:solidFill>
                  <a:schemeClr val="bg1"/>
                </a:solidFill>
              </a:rPr>
              <a:t>USING RECURRENT NEURAL NETWORKS TO SOLVE OPTIMIZATION PROBLEMS :HOPFIELD NEURAL NETWOKS(HNN)</a:t>
            </a:r>
            <a:endParaRPr lang="en-US" b="0" kern="1200" cap="all" dirty="0">
              <a:solidFill>
                <a:schemeClr val="bg1"/>
              </a:solidFill>
              <a:latin typeface="+mj-lt"/>
              <a:ea typeface="+mj-ea"/>
              <a:cs typeface="+mj-cs"/>
            </a:endParaRPr>
          </a:p>
        </p:txBody>
      </p:sp>
      <p:sp>
        <p:nvSpPr>
          <p:cNvPr id="3" name="Subtitle 2">
            <a:extLst>
              <a:ext uri="{FF2B5EF4-FFF2-40B4-BE49-F238E27FC236}">
                <a16:creationId xmlns:a16="http://schemas.microsoft.com/office/drawing/2014/main" id="{CF36B5C2-BD9F-4D41-A9A7-4DCFC749C1DA}"/>
              </a:ext>
            </a:extLst>
          </p:cNvPr>
          <p:cNvSpPr>
            <a:spLocks noGrp="1"/>
          </p:cNvSpPr>
          <p:nvPr>
            <p:ph type="subTitle" idx="1"/>
          </p:nvPr>
        </p:nvSpPr>
        <p:spPr>
          <a:xfrm>
            <a:off x="643466" y="4133135"/>
            <a:ext cx="10902016" cy="1454510"/>
          </a:xfrm>
          <a:effectLst>
            <a:outerShdw blurRad="50800" dist="38100" dir="2700000" algn="tl" rotWithShape="0">
              <a:prstClr val="black">
                <a:alpha val="40000"/>
              </a:prstClr>
            </a:outerShdw>
          </a:effectLst>
        </p:spPr>
        <p:txBody>
          <a:bodyPr vert="horz" lIns="91440" tIns="45720" rIns="91440" bIns="45720" rtlCol="0">
            <a:normAutofit/>
          </a:bodyPr>
          <a:lstStyle/>
          <a:p>
            <a:pPr algn="ctr"/>
            <a:r>
              <a:rPr lang="en-NG" sz="1800" dirty="0">
                <a:solidFill>
                  <a:schemeClr val="bg1"/>
                </a:solidFill>
              </a:rPr>
              <a:t>COURSE CODE – 7CS041/UM1 : MSC PROJECT DATA SCIENCE</a:t>
            </a:r>
          </a:p>
          <a:p>
            <a:pPr algn="ctr"/>
            <a:r>
              <a:rPr lang="en-NG" sz="1800" dirty="0">
                <a:solidFill>
                  <a:schemeClr val="bg1"/>
                </a:solidFill>
              </a:rPr>
              <a:t>STUDENT NUMBER - 2050717</a:t>
            </a:r>
          </a:p>
        </p:txBody>
      </p:sp>
      <p:cxnSp>
        <p:nvCxnSpPr>
          <p:cNvPr id="54" name="Straight Connector 53">
            <a:extLst>
              <a:ext uri="{FF2B5EF4-FFF2-40B4-BE49-F238E27FC236}">
                <a16:creationId xmlns:a16="http://schemas.microsoft.com/office/drawing/2014/main" id="{34E5597F-CE67-4085-9548-E6A8036DA3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393881" y="4035362"/>
            <a:ext cx="5404237" cy="0"/>
          </a:xfrm>
          <a:prstGeom prst="line">
            <a:avLst/>
          </a:prstGeom>
          <a:ln>
            <a:solidFill>
              <a:schemeClr val="bg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9280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98000"/>
                <a:satMod val="110000"/>
                <a:lumMod val="86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92989FB-1024-49B7-BDF1-B3CE27D486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867E99-4222-C618-0546-81C48A3EDBD8}"/>
              </a:ext>
            </a:extLst>
          </p:cNvPr>
          <p:cNvSpPr>
            <a:spLocks noGrp="1"/>
          </p:cNvSpPr>
          <p:nvPr>
            <p:ph type="title"/>
          </p:nvPr>
        </p:nvSpPr>
        <p:spPr>
          <a:xfrm>
            <a:off x="746228" y="1037967"/>
            <a:ext cx="3054091" cy="4709131"/>
          </a:xfrm>
        </p:spPr>
        <p:txBody>
          <a:bodyPr anchor="ctr">
            <a:normAutofit/>
          </a:bodyPr>
          <a:lstStyle/>
          <a:p>
            <a:pPr algn="ctr"/>
            <a:r>
              <a:rPr lang="en-NG" sz="3600" dirty="0">
                <a:solidFill>
                  <a:schemeClr val="bg1">
                    <a:lumMod val="85000"/>
                    <a:lumOff val="15000"/>
                  </a:schemeClr>
                </a:solidFill>
              </a:rPr>
              <a:t>TABLE OF CONTENT</a:t>
            </a:r>
          </a:p>
        </p:txBody>
      </p:sp>
      <p:sp>
        <p:nvSpPr>
          <p:cNvPr id="11" name="Rectangle 10">
            <a:extLst>
              <a:ext uri="{FF2B5EF4-FFF2-40B4-BE49-F238E27FC236}">
                <a16:creationId xmlns:a16="http://schemas.microsoft.com/office/drawing/2014/main" id="{2987D6F4-EC95-4EF1-A8AD-4B70386CEE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12">
            <a:extLst>
              <a:ext uri="{FF2B5EF4-FFF2-40B4-BE49-F238E27FC236}">
                <a16:creationId xmlns:a16="http://schemas.microsoft.com/office/drawing/2014/main" id="{F5F792DF-9D0A-4DB6-9A9E-7312F5A7E8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7498080" cy="9144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14">
            <a:extLst>
              <a:ext uri="{FF2B5EF4-FFF2-40B4-BE49-F238E27FC236}">
                <a16:creationId xmlns:a16="http://schemas.microsoft.com/office/drawing/2014/main" id="{7BC7EA7B-802E-41F4-8926-C4475287A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6851" y="723898"/>
            <a:ext cx="7498616" cy="567690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5" name="Content Placeholder 2">
            <a:extLst>
              <a:ext uri="{FF2B5EF4-FFF2-40B4-BE49-F238E27FC236}">
                <a16:creationId xmlns:a16="http://schemas.microsoft.com/office/drawing/2014/main" id="{77C94269-5AAA-EB69-7E92-33DD0153C5A7}"/>
              </a:ext>
            </a:extLst>
          </p:cNvPr>
          <p:cNvGraphicFramePr>
            <a:graphicFrameLocks noGrp="1"/>
          </p:cNvGraphicFramePr>
          <p:nvPr>
            <p:ph idx="1"/>
            <p:extLst>
              <p:ext uri="{D42A27DB-BD31-4B8C-83A1-F6EECF244321}">
                <p14:modId xmlns:p14="http://schemas.microsoft.com/office/powerpoint/2010/main" val="176753253"/>
              </p:ext>
            </p:extLst>
          </p:nvPr>
        </p:nvGraphicFramePr>
        <p:xfrm>
          <a:off x="4598438" y="1207783"/>
          <a:ext cx="7012370" cy="47091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40017465"/>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98000"/>
                <a:satMod val="110000"/>
                <a:lumMod val="86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92989FB-1024-49B7-BDF1-B3CE27D486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64E59A-BC76-4048-AC7D-31B1F914D893}"/>
              </a:ext>
            </a:extLst>
          </p:cNvPr>
          <p:cNvSpPr>
            <a:spLocks noGrp="1"/>
          </p:cNvSpPr>
          <p:nvPr>
            <p:ph type="title"/>
          </p:nvPr>
        </p:nvSpPr>
        <p:spPr>
          <a:xfrm>
            <a:off x="746228" y="1037967"/>
            <a:ext cx="3054091" cy="4709131"/>
          </a:xfrm>
        </p:spPr>
        <p:txBody>
          <a:bodyPr anchor="ctr">
            <a:normAutofit/>
          </a:bodyPr>
          <a:lstStyle/>
          <a:p>
            <a:pPr algn="ctr"/>
            <a:r>
              <a:rPr lang="en-NG" sz="3600" dirty="0">
                <a:solidFill>
                  <a:schemeClr val="bg1">
                    <a:lumMod val="85000"/>
                    <a:lumOff val="15000"/>
                  </a:schemeClr>
                </a:solidFill>
              </a:rPr>
              <a:t>WHAT A</a:t>
            </a:r>
            <a:r>
              <a:rPr lang="en-GB" sz="3600" dirty="0">
                <a:solidFill>
                  <a:schemeClr val="bg1">
                    <a:lumMod val="85000"/>
                    <a:lumOff val="15000"/>
                  </a:schemeClr>
                </a:solidFill>
              </a:rPr>
              <a:t>r</a:t>
            </a:r>
            <a:r>
              <a:rPr lang="en-NG" sz="3600" dirty="0">
                <a:solidFill>
                  <a:schemeClr val="bg1">
                    <a:lumMod val="85000"/>
                    <a:lumOff val="15000"/>
                  </a:schemeClr>
                </a:solidFill>
              </a:rPr>
              <a:t>e neural NETWORKs?</a:t>
            </a:r>
            <a:br>
              <a:rPr lang="en-NG" dirty="0">
                <a:solidFill>
                  <a:schemeClr val="bg1">
                    <a:lumMod val="85000"/>
                    <a:lumOff val="15000"/>
                  </a:schemeClr>
                </a:solidFill>
              </a:rPr>
            </a:br>
            <a:endParaRPr lang="en-NG" dirty="0">
              <a:solidFill>
                <a:schemeClr val="bg1">
                  <a:lumMod val="85000"/>
                  <a:lumOff val="15000"/>
                </a:schemeClr>
              </a:solidFill>
            </a:endParaRPr>
          </a:p>
        </p:txBody>
      </p:sp>
      <p:sp>
        <p:nvSpPr>
          <p:cNvPr id="11" name="Rectangle 10">
            <a:extLst>
              <a:ext uri="{FF2B5EF4-FFF2-40B4-BE49-F238E27FC236}">
                <a16:creationId xmlns:a16="http://schemas.microsoft.com/office/drawing/2014/main" id="{2987D6F4-EC95-4EF1-A8AD-4B70386CEE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12">
            <a:extLst>
              <a:ext uri="{FF2B5EF4-FFF2-40B4-BE49-F238E27FC236}">
                <a16:creationId xmlns:a16="http://schemas.microsoft.com/office/drawing/2014/main" id="{F5F792DF-9D0A-4DB6-9A9E-7312F5A7E8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7498080" cy="9144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14">
            <a:extLst>
              <a:ext uri="{FF2B5EF4-FFF2-40B4-BE49-F238E27FC236}">
                <a16:creationId xmlns:a16="http://schemas.microsoft.com/office/drawing/2014/main" id="{7BC7EA7B-802E-41F4-8926-C4475287A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6851" y="723898"/>
            <a:ext cx="7498616" cy="567690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5" name="Content Placeholder 2">
            <a:extLst>
              <a:ext uri="{FF2B5EF4-FFF2-40B4-BE49-F238E27FC236}">
                <a16:creationId xmlns:a16="http://schemas.microsoft.com/office/drawing/2014/main" id="{8BCB7B4D-01C1-44D7-BCB8-18C133E6F94A}"/>
              </a:ext>
            </a:extLst>
          </p:cNvPr>
          <p:cNvGraphicFramePr>
            <a:graphicFrameLocks noGrp="1"/>
          </p:cNvGraphicFramePr>
          <p:nvPr>
            <p:ph idx="1"/>
            <p:extLst>
              <p:ext uri="{D42A27DB-BD31-4B8C-83A1-F6EECF244321}">
                <p14:modId xmlns:p14="http://schemas.microsoft.com/office/powerpoint/2010/main" val="2305585990"/>
              </p:ext>
            </p:extLst>
          </p:nvPr>
        </p:nvGraphicFramePr>
        <p:xfrm>
          <a:off x="4598438" y="1207783"/>
          <a:ext cx="7012370" cy="47091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33336607"/>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1D5E1-83B2-3A9F-5F0D-EE308DD474DC}"/>
              </a:ext>
            </a:extLst>
          </p:cNvPr>
          <p:cNvSpPr>
            <a:spLocks noGrp="1"/>
          </p:cNvSpPr>
          <p:nvPr>
            <p:ph type="title"/>
          </p:nvPr>
        </p:nvSpPr>
        <p:spPr>
          <a:xfrm>
            <a:off x="581193" y="722155"/>
            <a:ext cx="11029616" cy="549590"/>
          </a:xfrm>
        </p:spPr>
        <p:txBody>
          <a:bodyPr/>
          <a:lstStyle/>
          <a:p>
            <a:pPr algn="ctr"/>
            <a:r>
              <a:rPr lang="en-NG" dirty="0"/>
              <a:t>RECURRENT NEURAL NETWORKS</a:t>
            </a:r>
          </a:p>
        </p:txBody>
      </p:sp>
      <p:sp>
        <p:nvSpPr>
          <p:cNvPr id="3" name="Content Placeholder 2">
            <a:extLst>
              <a:ext uri="{FF2B5EF4-FFF2-40B4-BE49-F238E27FC236}">
                <a16:creationId xmlns:a16="http://schemas.microsoft.com/office/drawing/2014/main" id="{280D6F37-5A1B-04FE-0926-B9032F04E9D4}"/>
              </a:ext>
            </a:extLst>
          </p:cNvPr>
          <p:cNvSpPr>
            <a:spLocks noGrp="1"/>
          </p:cNvSpPr>
          <p:nvPr>
            <p:ph sz="half" idx="1"/>
          </p:nvPr>
        </p:nvSpPr>
        <p:spPr>
          <a:xfrm>
            <a:off x="581192" y="1546540"/>
            <a:ext cx="5194767" cy="4589305"/>
          </a:xfrm>
        </p:spPr>
        <p:txBody>
          <a:bodyPr>
            <a:normAutofit fontScale="92500" lnSpcReduction="10000"/>
          </a:bodyPr>
          <a:lstStyle/>
          <a:p>
            <a:pPr marL="0" indent="0" algn="just">
              <a:buNone/>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Recurrent Neural Networks(RNNs) are designed to understand and learn sequences as well as ti</a:t>
            </a:r>
            <a:r>
              <a:rPr lang="en-US" sz="1800" dirty="0">
                <a:latin typeface="Times New Roman" panose="02020603050405020304" pitchFamily="18" charset="0"/>
                <a:ea typeface="Calibri" panose="020F0502020204030204" pitchFamily="34" charset="0"/>
                <a:cs typeface="Times New Roman" panose="02020603050405020304" pitchFamily="18" charset="0"/>
              </a:rPr>
              <a:t>me varying patterns. U</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sing recursive connections, RNNs are quite good in storing past information as well as being good predictors. With the emergence of Optimization problems, RNNs have been applied and has proven to be effective when solving such problems. These problems include; Language modeling, speech and handwriting recognition</a:t>
            </a:r>
            <a:r>
              <a:rPr lang="en-US" sz="1800" dirty="0">
                <a:latin typeface="Times New Roman" panose="02020603050405020304" pitchFamily="18" charset="0"/>
                <a:ea typeface="Calibri" panose="020F0502020204030204" pitchFamily="34" charset="0"/>
                <a:cs typeface="Times New Roman" panose="02020603050405020304" pitchFamily="18" charset="0"/>
              </a:rPr>
              <a:t>, and image recognition. </a:t>
            </a:r>
          </a:p>
          <a:p>
            <a:pPr marL="0" indent="0" algn="jus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Examples of Recurrent Neural Networks - Recurrent Backpropagation nets, Hopfield Network, BAM etc.</a:t>
            </a:r>
          </a:p>
          <a:p>
            <a:pPr marL="0" indent="0" algn="just">
              <a:buNone/>
            </a:pPr>
            <a:r>
              <a:rPr lang="en-US" sz="1800" dirty="0">
                <a:effectLst/>
                <a:latin typeface="Times New Roman" panose="02020603050405020304" pitchFamily="18" charset="0"/>
                <a:ea typeface="Calibri" panose="020F0502020204030204" pitchFamily="34" charset="0"/>
              </a:rPr>
              <a:t>Recurrent Neural Networks Architectures basically describe the set up of how various networks are set. </a:t>
            </a:r>
          </a:p>
          <a:p>
            <a:pPr marL="0" indent="0" algn="just">
              <a:buNone/>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NG" dirty="0"/>
          </a:p>
        </p:txBody>
      </p:sp>
      <p:sp>
        <p:nvSpPr>
          <p:cNvPr id="4" name="Content Placeholder 3">
            <a:extLst>
              <a:ext uri="{FF2B5EF4-FFF2-40B4-BE49-F238E27FC236}">
                <a16:creationId xmlns:a16="http://schemas.microsoft.com/office/drawing/2014/main" id="{D6080B8F-CAA1-F4DC-78A7-2350D26C21E2}"/>
              </a:ext>
            </a:extLst>
          </p:cNvPr>
          <p:cNvSpPr>
            <a:spLocks noGrp="1"/>
          </p:cNvSpPr>
          <p:nvPr>
            <p:ph sz="half" idx="2"/>
          </p:nvPr>
        </p:nvSpPr>
        <p:spPr>
          <a:xfrm>
            <a:off x="6416039" y="1749265"/>
            <a:ext cx="5194769" cy="4692175"/>
          </a:xfrm>
        </p:spPr>
        <p:txBody>
          <a:bodyPr>
            <a:normAutofit fontScale="92500" lnSpcReduction="10000"/>
          </a:bodyPr>
          <a:lstStyle/>
          <a:p>
            <a:pPr marL="0" indent="0">
              <a:buNone/>
            </a:pPr>
            <a:endParaRPr lang="en-NG" dirty="0"/>
          </a:p>
          <a:p>
            <a:pPr marL="0" indent="0">
              <a:buNone/>
            </a:pPr>
            <a:endParaRPr lang="en-NG" dirty="0"/>
          </a:p>
          <a:p>
            <a:pPr marL="0" indent="0" algn="ctr">
              <a:buNone/>
            </a:pPr>
            <a:r>
              <a:rPr lang="en-NG" sz="1900" b="1" dirty="0"/>
              <a:t>TYPES OF RNN ARCHITECTURE</a:t>
            </a:r>
          </a:p>
          <a:p>
            <a:pPr algn="just"/>
            <a:r>
              <a:rPr lang="en-US" sz="1800" dirty="0">
                <a:effectLst/>
                <a:latin typeface="Times New Roman" panose="02020603050405020304" pitchFamily="18" charset="0"/>
                <a:ea typeface="Calibri" panose="020F0502020204030204" pitchFamily="34" charset="0"/>
              </a:rPr>
              <a:t>Standard RNNs an architecture that has an input vector</a:t>
            </a:r>
            <a:r>
              <a:rPr lang="en-US" sz="1800" i="1" dirty="0">
                <a:effectLst/>
                <a:latin typeface="Times New Roman" panose="02020603050405020304" pitchFamily="18" charset="0"/>
                <a:ea typeface="Calibri" panose="020F0502020204030204" pitchFamily="34" charset="0"/>
              </a:rPr>
              <a:t> I</a:t>
            </a:r>
            <a:r>
              <a:rPr lang="en-US" sz="1800" dirty="0">
                <a:effectLst/>
                <a:latin typeface="Times New Roman" panose="02020603050405020304" pitchFamily="18" charset="0"/>
                <a:ea typeface="Calibri" panose="020F0502020204030204" pitchFamily="34" charset="0"/>
              </a:rPr>
              <a:t>, a hidden vector </a:t>
            </a:r>
            <a:r>
              <a:rPr lang="en-US" sz="1800" i="1" dirty="0">
                <a:effectLst/>
                <a:latin typeface="Times New Roman" panose="02020603050405020304" pitchFamily="18" charset="0"/>
                <a:ea typeface="Calibri" panose="020F0502020204030204" pitchFamily="34" charset="0"/>
              </a:rPr>
              <a:t>H, </a:t>
            </a:r>
            <a:r>
              <a:rPr lang="en-US" sz="1800" dirty="0">
                <a:effectLst/>
                <a:latin typeface="Times New Roman" panose="02020603050405020304" pitchFamily="18" charset="0"/>
                <a:ea typeface="Calibri" panose="020F0502020204030204" pitchFamily="34" charset="0"/>
              </a:rPr>
              <a:t>and an output vector </a:t>
            </a:r>
            <a:r>
              <a:rPr lang="en-US" sz="1800" i="1" dirty="0">
                <a:effectLst/>
                <a:latin typeface="Times New Roman" panose="02020603050405020304" pitchFamily="18" charset="0"/>
                <a:ea typeface="Calibri" panose="020F0502020204030204" pitchFamily="34" charset="0"/>
              </a:rPr>
              <a:t>O</a:t>
            </a:r>
            <a:r>
              <a:rPr lang="en-US" sz="1800" dirty="0">
                <a:effectLst/>
                <a:latin typeface="Times New Roman" panose="02020603050405020304" pitchFamily="18" charset="0"/>
                <a:ea typeface="Calibri" panose="020F0502020204030204" pitchFamily="34" charset="0"/>
              </a:rPr>
              <a:t>. </a:t>
            </a:r>
          </a:p>
          <a:p>
            <a:pPr algn="just"/>
            <a:r>
              <a:rPr lang="en-US" sz="1800" dirty="0">
                <a:effectLst/>
                <a:latin typeface="Times New Roman" panose="02020603050405020304" pitchFamily="18" charset="0"/>
                <a:ea typeface="Calibri" panose="020F0502020204030204" pitchFamily="34" charset="0"/>
              </a:rPr>
              <a:t>Long short-term memory (LSTM) tackles gradient-based learning issues by its memory cells using soft multiplicative gates to control information flows</a:t>
            </a:r>
            <a:r>
              <a:rPr lang="en-NG" sz="1800" dirty="0">
                <a:latin typeface="Times New Roman" panose="02020603050405020304" pitchFamily="18" charset="0"/>
                <a:ea typeface="Calibri" panose="020F0502020204030204" pitchFamily="34" charset="0"/>
              </a:rPr>
              <a:t>.</a:t>
            </a:r>
          </a:p>
          <a:p>
            <a:pPr algn="just"/>
            <a:r>
              <a:rPr lang="en-US" sz="1800" dirty="0">
                <a:effectLst/>
                <a:latin typeface="Times New Roman" panose="02020603050405020304" pitchFamily="18" charset="0"/>
                <a:ea typeface="Times New Roman" panose="02020603050405020304" pitchFamily="18" charset="0"/>
              </a:rPr>
              <a:t>Stacked RNNs are deep hybrid that are used to increase an RNN's architectural expressiveness by “stacking” RNNs sequentially</a:t>
            </a:r>
            <a:r>
              <a:rPr lang="en-NG" sz="1800" dirty="0">
                <a:latin typeface="Times New Roman" panose="02020603050405020304" pitchFamily="18" charset="0"/>
                <a:ea typeface="Times New Roman" panose="02020603050405020304" pitchFamily="18" charset="0"/>
              </a:rPr>
              <a:t>.</a:t>
            </a:r>
          </a:p>
          <a:p>
            <a:pPr algn="just"/>
            <a:r>
              <a:rPr lang="en-US" sz="1800" dirty="0">
                <a:effectLst/>
                <a:latin typeface="Times New Roman" panose="02020603050405020304" pitchFamily="18" charset="0"/>
                <a:ea typeface="Calibri" panose="020F0502020204030204" pitchFamily="34" charset="0"/>
              </a:rPr>
              <a:t>Multiplicative RNNs use a matrix factorization that allows weights in the hidden transition to change largely depending on the input</a:t>
            </a:r>
            <a:r>
              <a:rPr lang="en-NG" sz="1800" dirty="0">
                <a:latin typeface="Times New Roman" panose="02020603050405020304" pitchFamily="18" charset="0"/>
                <a:ea typeface="Calibri" panose="020F0502020204030204" pitchFamily="34" charset="0"/>
              </a:rPr>
              <a:t>. </a:t>
            </a:r>
            <a:endParaRPr lang="en-US" sz="1800" dirty="0">
              <a:latin typeface="Times New Roman" panose="02020603050405020304" pitchFamily="18" charset="0"/>
              <a:cs typeface="Times New Roman" panose="02020603050405020304" pitchFamily="18" charset="0"/>
            </a:endParaRPr>
          </a:p>
          <a:p>
            <a:pPr algn="just"/>
            <a:endParaRPr lang="en-NG" sz="1500" dirty="0">
              <a:latin typeface="Times New Roman" panose="02020603050405020304" pitchFamily="18" charset="0"/>
              <a:ea typeface="Calibri" panose="020F0502020204030204" pitchFamily="34" charset="0"/>
            </a:endParaRPr>
          </a:p>
          <a:p>
            <a:pPr algn="just"/>
            <a:endParaRPr lang="en-US" sz="1500" dirty="0">
              <a:effectLst/>
              <a:latin typeface="Times New Roman" panose="02020603050405020304" pitchFamily="18" charset="0"/>
              <a:cs typeface="Times New Roman" panose="02020603050405020304" pitchFamily="18" charset="0"/>
            </a:endParaRPr>
          </a:p>
          <a:p>
            <a:endParaRPr lang="en-US" sz="1600" dirty="0">
              <a:effectLst/>
              <a:latin typeface="Times New Roman" panose="02020603050405020304" pitchFamily="18" charset="0"/>
              <a:ea typeface="Calibri" panose="020F0502020204030204" pitchFamily="34" charset="0"/>
            </a:endParaRPr>
          </a:p>
          <a:p>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endParaRPr lang="en-NG" dirty="0"/>
          </a:p>
        </p:txBody>
      </p:sp>
    </p:spTree>
    <p:extLst>
      <p:ext uri="{BB962C8B-B14F-4D97-AF65-F5344CB8AC3E}">
        <p14:creationId xmlns:p14="http://schemas.microsoft.com/office/powerpoint/2010/main" val="1992871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B6591-F1EE-EE43-B3F6-0B8C80A3E714}"/>
              </a:ext>
            </a:extLst>
          </p:cNvPr>
          <p:cNvSpPr>
            <a:spLocks noGrp="1"/>
          </p:cNvSpPr>
          <p:nvPr>
            <p:ph type="title"/>
          </p:nvPr>
        </p:nvSpPr>
        <p:spPr>
          <a:xfrm>
            <a:off x="581192" y="572212"/>
            <a:ext cx="11029616" cy="620876"/>
          </a:xfrm>
        </p:spPr>
        <p:txBody>
          <a:bodyPr>
            <a:normAutofit/>
          </a:bodyPr>
          <a:lstStyle/>
          <a:p>
            <a:pPr algn="ctr"/>
            <a:r>
              <a:rPr lang="en-NG" dirty="0"/>
              <a:t>	  			</a:t>
            </a:r>
            <a:r>
              <a:rPr lang="en-NG" sz="3600" dirty="0"/>
              <a:t>PROBLEM DEFINITION</a:t>
            </a:r>
          </a:p>
        </p:txBody>
      </p:sp>
      <p:pic>
        <p:nvPicPr>
          <p:cNvPr id="1028" name="Picture 4" descr="526 Problem Statement Stock Vector Illustration and Royalty Free Problem  Statement Clipart">
            <a:extLst>
              <a:ext uri="{FF2B5EF4-FFF2-40B4-BE49-F238E27FC236}">
                <a16:creationId xmlns:a16="http://schemas.microsoft.com/office/drawing/2014/main" id="{A1D04295-7B1D-F77B-2109-CE9A61BFBBE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 b="1323"/>
          <a:stretch/>
        </p:blipFill>
        <p:spPr bwMode="auto">
          <a:xfrm>
            <a:off x="497839" y="1528064"/>
            <a:ext cx="3683001" cy="363448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687B6B86-7A71-B945-97D9-D0AE75B7C8F2}"/>
              </a:ext>
            </a:extLst>
          </p:cNvPr>
          <p:cNvSpPr>
            <a:spLocks noGrp="1"/>
          </p:cNvSpPr>
          <p:nvPr>
            <p:ph idx="1"/>
          </p:nvPr>
        </p:nvSpPr>
        <p:spPr>
          <a:xfrm>
            <a:off x="4536281" y="1270000"/>
            <a:ext cx="7074526" cy="4705350"/>
          </a:xfrm>
        </p:spPr>
        <p:txBody>
          <a:bodyPr>
            <a:normAutofit lnSpcReduction="10000"/>
          </a:bodyPr>
          <a:lstStyle/>
          <a:p>
            <a:pPr marL="0" indent="0" algn="just">
              <a:lnSpc>
                <a:spcPct val="100000"/>
              </a:lnSpc>
              <a:buNone/>
            </a:pPr>
            <a:endParaRPr lang="en-US" sz="1600" dirty="0">
              <a:ea typeface="Calibri" panose="020F0502020204030204" pitchFamily="34" charset="0"/>
            </a:endParaRPr>
          </a:p>
          <a:p>
            <a:pPr marL="0" indent="0" algn="just">
              <a:lnSpc>
                <a:spcPct val="100000"/>
              </a:lnSpc>
              <a:buNone/>
            </a:pPr>
            <a:r>
              <a:rPr lang="en-US" sz="1600" dirty="0">
                <a:ea typeface="Calibri" panose="020F0502020204030204" pitchFamily="34" charset="0"/>
              </a:rPr>
              <a:t>O</a:t>
            </a:r>
            <a:r>
              <a:rPr lang="en-US" sz="1600" dirty="0">
                <a:effectLst/>
                <a:ea typeface="Calibri" panose="020F0502020204030204" pitchFamily="34" charset="0"/>
              </a:rPr>
              <a:t>ptimization problems involve finding the best solution among the possible ones available. Optimization problems need optimized methods that allow the maximization and minimization of various objective functions. </a:t>
            </a:r>
          </a:p>
          <a:p>
            <a:pPr marL="0" indent="0" algn="just">
              <a:lnSpc>
                <a:spcPct val="100000"/>
              </a:lnSpc>
              <a:buNone/>
            </a:pPr>
            <a:r>
              <a:rPr lang="en-US" sz="1600" dirty="0">
                <a:effectLst/>
                <a:ea typeface="Calibri" panose="020F0502020204030204" pitchFamily="34" charset="0"/>
              </a:rPr>
              <a:t>There are generic linear and polynomial examples of optimization problems, however some problems that need optimization </a:t>
            </a:r>
            <a:r>
              <a:rPr lang="en-US" sz="1600" dirty="0">
                <a:ea typeface="Calibri" panose="020F0502020204030204" pitchFamily="34" charset="0"/>
              </a:rPr>
              <a:t>may not </a:t>
            </a:r>
            <a:r>
              <a:rPr lang="en-US" sz="1600" dirty="0">
                <a:effectLst/>
                <a:ea typeface="Calibri" panose="020F0502020204030204" pitchFamily="34" charset="0"/>
              </a:rPr>
              <a:t>be solved and as such, some form of approximation is necessary.</a:t>
            </a:r>
            <a:endParaRPr lang="en-US" sz="1600" dirty="0">
              <a:ea typeface="Calibri" panose="020F0502020204030204" pitchFamily="34" charset="0"/>
            </a:endParaRPr>
          </a:p>
          <a:p>
            <a:pPr marL="0" indent="0" algn="just">
              <a:lnSpc>
                <a:spcPct val="100000"/>
              </a:lnSpc>
              <a:buNone/>
            </a:pPr>
            <a:r>
              <a:rPr lang="en-US" sz="1600" dirty="0">
                <a:effectLst/>
                <a:ea typeface="Calibri" panose="020F0502020204030204" pitchFamily="34" charset="0"/>
              </a:rPr>
              <a:t>Optimization problems can be nonlinear as well and these are extremely complex due to numerous constraints</a:t>
            </a:r>
            <a:r>
              <a:rPr lang="en-NG" sz="1600" dirty="0">
                <a:effectLst/>
                <a:ea typeface="Calibri" panose="020F0502020204030204" pitchFamily="34" charset="0"/>
              </a:rPr>
              <a:t> and </a:t>
            </a:r>
            <a:r>
              <a:rPr lang="en-US" sz="1600" dirty="0">
                <a:effectLst/>
                <a:ea typeface="Calibri" panose="020F0502020204030204" pitchFamily="34" charset="0"/>
              </a:rPr>
              <a:t>finding the best possible solutions requiring the shortest computation time is the. main objective when solving optimization problems. There is a need to find real-time solutions for optimization problems as these problems exist specifically in scientific and engineering fields. </a:t>
            </a:r>
          </a:p>
          <a:p>
            <a:pPr marL="0" indent="0" algn="just">
              <a:lnSpc>
                <a:spcPct val="100000"/>
              </a:lnSpc>
              <a:buNone/>
            </a:pPr>
            <a:r>
              <a:rPr lang="en-US" sz="1600" dirty="0">
                <a:effectLst/>
                <a:ea typeface="Calibri" panose="020F0502020204030204" pitchFamily="34" charset="0"/>
                <a:cs typeface="Times New Roman" panose="02020603050405020304" pitchFamily="18" charset="0"/>
              </a:rPr>
              <a:t>Optimization problems come in numerous forms and if not tackled can lead to some consequences. The primary or basic consequence of not tackling the optimization problem is not using the best possible solution when solving machine learning and technical issues at hand. </a:t>
            </a:r>
            <a:endParaRPr lang="en-NG" sz="1600" dirty="0">
              <a:effectLst/>
              <a:ea typeface="Calibri" panose="020F0502020204030204" pitchFamily="34" charset="0"/>
              <a:cs typeface="Times New Roman" panose="02020603050405020304" pitchFamily="18" charset="0"/>
            </a:endParaRPr>
          </a:p>
          <a:p>
            <a:pPr marL="0" indent="0" algn="just">
              <a:lnSpc>
                <a:spcPct val="100000"/>
              </a:lnSpc>
              <a:buNone/>
            </a:pPr>
            <a:endParaRPr lang="en-NG" sz="1600" dirty="0"/>
          </a:p>
        </p:txBody>
      </p:sp>
    </p:spTree>
    <p:extLst>
      <p:ext uri="{BB962C8B-B14F-4D97-AF65-F5344CB8AC3E}">
        <p14:creationId xmlns:p14="http://schemas.microsoft.com/office/powerpoint/2010/main" val="4214763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B5A42-E5B7-EC9E-EB0E-E3831E987D3D}"/>
              </a:ext>
            </a:extLst>
          </p:cNvPr>
          <p:cNvSpPr>
            <a:spLocks noGrp="1"/>
          </p:cNvSpPr>
          <p:nvPr>
            <p:ph type="title"/>
          </p:nvPr>
        </p:nvSpPr>
        <p:spPr>
          <a:xfrm>
            <a:off x="581192" y="702156"/>
            <a:ext cx="11029616" cy="1188720"/>
          </a:xfrm>
        </p:spPr>
        <p:txBody>
          <a:bodyPr>
            <a:normAutofit/>
          </a:bodyPr>
          <a:lstStyle/>
          <a:p>
            <a:r>
              <a:rPr lang="en-GB" sz="3600" dirty="0"/>
              <a:t>P</a:t>
            </a:r>
            <a:r>
              <a:rPr lang="en-NG" sz="3600" dirty="0"/>
              <a:t>roject objective</a:t>
            </a:r>
          </a:p>
        </p:txBody>
      </p:sp>
      <p:sp>
        <p:nvSpPr>
          <p:cNvPr id="3" name="Content Placeholder 2">
            <a:extLst>
              <a:ext uri="{FF2B5EF4-FFF2-40B4-BE49-F238E27FC236}">
                <a16:creationId xmlns:a16="http://schemas.microsoft.com/office/drawing/2014/main" id="{EEB84DE9-1E9F-DE90-0CD9-BB2D6A222232}"/>
              </a:ext>
            </a:extLst>
          </p:cNvPr>
          <p:cNvSpPr>
            <a:spLocks noGrp="1"/>
          </p:cNvSpPr>
          <p:nvPr>
            <p:ph idx="1"/>
          </p:nvPr>
        </p:nvSpPr>
        <p:spPr>
          <a:xfrm>
            <a:off x="581192" y="1890876"/>
            <a:ext cx="7024758" cy="4003194"/>
          </a:xfrm>
        </p:spPr>
        <p:txBody>
          <a:bodyPr>
            <a:normAutofit/>
          </a:bodyPr>
          <a:lstStyle/>
          <a:p>
            <a:pPr marL="0" indent="0" algn="just">
              <a:lnSpc>
                <a:spcPct val="100000"/>
              </a:lnSpc>
              <a:buNone/>
            </a:pPr>
            <a:r>
              <a:rPr lang="en-US" dirty="0">
                <a:effectLst/>
                <a:ea typeface="Calibri" panose="020F0502020204030204" pitchFamily="34" charset="0"/>
              </a:rPr>
              <a:t>Neural networks have over decades been used in investigating optimization problems such as system identification, filter design, function approximation, regression analysis and image/pattern recognition and identification.  Using Hopfield Network, a type of RNN(which are good in predictive analysis), this research investigates Optimization problems (pattern/image recognition specifically). </a:t>
            </a:r>
          </a:p>
          <a:p>
            <a:pPr marL="0" indent="0" algn="just">
              <a:lnSpc>
                <a:spcPct val="100000"/>
              </a:lnSpc>
              <a:buNone/>
            </a:pPr>
            <a:r>
              <a:rPr lang="en-US" dirty="0">
                <a:solidFill>
                  <a:srgbClr val="C00000"/>
                </a:solidFill>
                <a:effectLst/>
                <a:ea typeface="Calibri" panose="020F0502020204030204" pitchFamily="34" charset="0"/>
                <a:cs typeface="Times New Roman" panose="02020603050405020304" pitchFamily="18" charset="0"/>
              </a:rPr>
              <a:t>The main objective of this research is to develop a predictive Hopfield Neural Network model that can be used for predictive analysis in pattern recognition and identification, where an output pattern is returned based on an input pattern(s). </a:t>
            </a:r>
          </a:p>
          <a:p>
            <a:pPr marL="0" indent="0" algn="just">
              <a:lnSpc>
                <a:spcPct val="100000"/>
              </a:lnSpc>
              <a:buNone/>
            </a:pPr>
            <a:r>
              <a:rPr lang="en-NG" dirty="0"/>
              <a:t>Hebbian Learning rule is applied to the Hopfield Neural Network </a:t>
            </a:r>
            <a:r>
              <a:rPr lang="en-GB" dirty="0"/>
              <a:t>for</a:t>
            </a:r>
            <a:r>
              <a:rPr lang="en-NG" dirty="0"/>
              <a:t> the model to be developed. </a:t>
            </a:r>
          </a:p>
        </p:txBody>
      </p:sp>
      <p:pic>
        <p:nvPicPr>
          <p:cNvPr id="2052" name="Picture 4" descr="Acting Magazine What is an Objective? - Acting Magazine">
            <a:extLst>
              <a:ext uri="{FF2B5EF4-FFF2-40B4-BE49-F238E27FC236}">
                <a16:creationId xmlns:a16="http://schemas.microsoft.com/office/drawing/2014/main" id="{50370BA7-F87E-E530-518C-BF13B009555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630" r="15728" b="-2"/>
          <a:stretch/>
        </p:blipFill>
        <p:spPr bwMode="auto">
          <a:xfrm>
            <a:off x="8051799" y="2340864"/>
            <a:ext cx="3683001" cy="3634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8300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29F61-9666-F6D5-D09A-A894BC744B44}"/>
              </a:ext>
            </a:extLst>
          </p:cNvPr>
          <p:cNvSpPr>
            <a:spLocks noGrp="1"/>
          </p:cNvSpPr>
          <p:nvPr>
            <p:ph type="title"/>
          </p:nvPr>
        </p:nvSpPr>
        <p:spPr>
          <a:xfrm>
            <a:off x="581191" y="711200"/>
            <a:ext cx="11029616" cy="580236"/>
          </a:xfrm>
        </p:spPr>
        <p:txBody>
          <a:bodyPr/>
          <a:lstStyle/>
          <a:p>
            <a:pPr algn="ctr"/>
            <a:r>
              <a:rPr lang="en-NG" dirty="0"/>
              <a:t>HOPFIELD NETS</a:t>
            </a:r>
          </a:p>
        </p:txBody>
      </p:sp>
      <p:sp>
        <p:nvSpPr>
          <p:cNvPr id="3" name="Content Placeholder 2">
            <a:extLst>
              <a:ext uri="{FF2B5EF4-FFF2-40B4-BE49-F238E27FC236}">
                <a16:creationId xmlns:a16="http://schemas.microsoft.com/office/drawing/2014/main" id="{E41F0FC2-4EE8-6D8B-480C-22AF3A47AA47}"/>
              </a:ext>
            </a:extLst>
          </p:cNvPr>
          <p:cNvSpPr>
            <a:spLocks noGrp="1"/>
          </p:cNvSpPr>
          <p:nvPr>
            <p:ph idx="1"/>
          </p:nvPr>
        </p:nvSpPr>
        <p:spPr>
          <a:xfrm>
            <a:off x="581191" y="1611757"/>
            <a:ext cx="11029615" cy="3634486"/>
          </a:xfrm>
        </p:spPr>
        <p:txBody>
          <a:bodyPr>
            <a:normAutofit/>
          </a:bodyPr>
          <a:lstStyle/>
          <a:p>
            <a:pPr marL="0" indent="0" algn="just">
              <a:buNone/>
            </a:pPr>
            <a:r>
              <a:rPr lang="en-US" sz="1600" dirty="0">
                <a:effectLst/>
                <a:ea typeface="Calibri" panose="020F0502020204030204" pitchFamily="34" charset="0"/>
              </a:rPr>
              <a:t>The Hopfield net is a recurrent neural network type that has a synaptic connection pattern where a fundamental Lyapunov (energy) function exists for the activity dynamics. They can also be seen as sets of neurons that are bidirectionally linked to one another with symmetric weights and are not self connected. </a:t>
            </a:r>
          </a:p>
          <a:p>
            <a:pPr marL="0" indent="0" algn="just">
              <a:buNone/>
            </a:pPr>
            <a:r>
              <a:rPr lang="en-US" sz="1600" b="1" dirty="0">
                <a:ea typeface="Calibri" panose="020F0502020204030204" pitchFamily="34" charset="0"/>
              </a:rPr>
              <a:t>Characteristics of a Hopfield Network</a:t>
            </a:r>
          </a:p>
          <a:p>
            <a:pPr algn="just"/>
            <a:r>
              <a:rPr lang="en-US" sz="1600" dirty="0">
                <a:effectLst/>
                <a:ea typeface="Calibri" panose="020F0502020204030204" pitchFamily="34" charset="0"/>
              </a:rPr>
              <a:t>They are unsupervised</a:t>
            </a:r>
          </a:p>
          <a:p>
            <a:pPr algn="just"/>
            <a:r>
              <a:rPr lang="en-US" sz="1600" dirty="0"/>
              <a:t>Patterns are memorized easily from just one sample. This is done without the aid of training sets.</a:t>
            </a:r>
          </a:p>
          <a:p>
            <a:pPr algn="just"/>
            <a:r>
              <a:rPr lang="en-US" sz="1600" dirty="0"/>
              <a:t>They work as error correctors and auto associators.</a:t>
            </a:r>
          </a:p>
          <a:p>
            <a:pPr algn="just"/>
            <a:r>
              <a:rPr lang="en-US" sz="1600" dirty="0"/>
              <a:t>They are recurrent because the inputs of each neurons are the outputs of the others. </a:t>
            </a:r>
          </a:p>
          <a:p>
            <a:pPr algn="just"/>
            <a:r>
              <a:rPr lang="en-US" sz="1600" dirty="0">
                <a:ea typeface="Calibri" panose="020F0502020204030204" pitchFamily="34" charset="0"/>
              </a:rPr>
              <a:t>They learn using simple Hebbian Learning rules.</a:t>
            </a:r>
            <a:endParaRPr lang="en-US" sz="1600" dirty="0"/>
          </a:p>
          <a:p>
            <a:pPr algn="just"/>
            <a:endParaRPr lang="en-NG" sz="1600" dirty="0"/>
          </a:p>
        </p:txBody>
      </p:sp>
    </p:spTree>
    <p:extLst>
      <p:ext uri="{BB962C8B-B14F-4D97-AF65-F5344CB8AC3E}">
        <p14:creationId xmlns:p14="http://schemas.microsoft.com/office/powerpoint/2010/main" val="2354162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3DAC4A5-A2A7-01C6-67C8-47857CC43ABA}"/>
              </a:ext>
            </a:extLst>
          </p:cNvPr>
          <p:cNvSpPr txBox="1"/>
          <p:nvPr/>
        </p:nvSpPr>
        <p:spPr>
          <a:xfrm>
            <a:off x="3159760" y="714494"/>
            <a:ext cx="6096000" cy="523220"/>
          </a:xfrm>
          <a:prstGeom prst="rect">
            <a:avLst/>
          </a:prstGeom>
          <a:noFill/>
        </p:spPr>
        <p:txBody>
          <a:bodyPr wrap="square">
            <a:spAutoFit/>
          </a:bodyPr>
          <a:lstStyle/>
          <a:p>
            <a:pPr algn="ctr"/>
            <a:r>
              <a:rPr lang="en-NG" sz="2800" dirty="0">
                <a:latin typeface="+mj-lt"/>
              </a:rPr>
              <a:t>HOPFIELD NETWORK</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F865C3CE-3510-5C2F-D435-E021E6E064FA}"/>
                  </a:ext>
                </a:extLst>
              </p:cNvPr>
              <p:cNvSpPr txBox="1"/>
              <p:nvPr/>
            </p:nvSpPr>
            <p:spPr>
              <a:xfrm>
                <a:off x="193040" y="1282727"/>
                <a:ext cx="11694160" cy="785984"/>
              </a:xfrm>
              <a:prstGeom prst="rect">
                <a:avLst/>
              </a:prstGeom>
              <a:noFill/>
            </p:spPr>
            <p:txBody>
              <a:bodyPr wrap="square">
                <a:spAutoFit/>
              </a:bodyPr>
              <a:lstStyle/>
              <a:p>
                <a:pPr marL="0" indent="0" algn="just">
                  <a:lnSpc>
                    <a:spcPct val="150000"/>
                  </a:lnSpc>
                  <a:buNone/>
                </a:pPr>
                <a:r>
                  <a:rPr lang="en-US" sz="1600" b="1" dirty="0"/>
                  <a:t>HEBBIAN LEARNING RULE </a:t>
                </a:r>
                <a:r>
                  <a:rPr lang="en-US" sz="1600" dirty="0"/>
                  <a:t>- </a:t>
                </a:r>
                <a:r>
                  <a:rPr lang="en-US" sz="1400" dirty="0">
                    <a:effectLst/>
                    <a:ea typeface="Calibri" panose="020F0502020204030204" pitchFamily="34" charset="0"/>
                    <a:cs typeface="Times New Roman" panose="02020603050405020304" pitchFamily="18" charset="0"/>
                  </a:rPr>
                  <a:t>indicates that the value of a weight (</a:t>
                </a:r>
                <a14:m>
                  <m:oMath xmlns:m="http://schemas.openxmlformats.org/officeDocument/2006/math">
                    <m:sSub>
                      <m:sSubPr>
                        <m:ctrlPr>
                          <a:rPr lang="en-NG"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n-US" sz="1400" i="1">
                            <a:effectLst/>
                            <a:latin typeface="Cambria Math" panose="02040503050406030204" pitchFamily="18" charset="0"/>
                            <a:ea typeface="Calibri" panose="020F0502020204030204" pitchFamily="34" charset="0"/>
                            <a:cs typeface="Times New Roman" panose="02020603050405020304" pitchFamily="18" charset="0"/>
                          </a:rPr>
                          <m:t>𝑖𝑗</m:t>
                        </m:r>
                      </m:sub>
                    </m:sSub>
                  </m:oMath>
                </a14:m>
                <a:r>
                  <a:rPr lang="en-US" sz="1400" dirty="0">
                    <a:effectLst/>
                    <a:ea typeface="Calibri" panose="020F0502020204030204" pitchFamily="34" charset="0"/>
                    <a:cs typeface="Times New Roman" panose="02020603050405020304" pitchFamily="18" charset="0"/>
                  </a:rPr>
                  <a:t>) between 2 neurons (</a:t>
                </a:r>
                <a14:m>
                  <m:oMath xmlns:m="http://schemas.openxmlformats.org/officeDocument/2006/math">
                    <m:sSub>
                      <m:sSubPr>
                        <m:ctrlPr>
                          <a:rPr lang="en-NG"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1400" i="1">
                            <a:effectLst/>
                            <a:latin typeface="Cambria Math" panose="02040503050406030204" pitchFamily="18" charset="0"/>
                            <a:ea typeface="Calibri" panose="020F0502020204030204" pitchFamily="34" charset="0"/>
                            <a:cs typeface="Times New Roman" panose="02020603050405020304" pitchFamily="18" charset="0"/>
                          </a:rPr>
                          <m:t>𝑖</m:t>
                        </m:r>
                      </m:sub>
                    </m:sSub>
                  </m:oMath>
                </a14:m>
                <a:r>
                  <a:rPr lang="en-US" sz="1400" dirty="0">
                    <a:effectLst/>
                    <a:ea typeface="Calibri" panose="020F0502020204030204" pitchFamily="34" charset="0"/>
                    <a:cs typeface="Times New Roman" panose="02020603050405020304" pitchFamily="18" charset="0"/>
                  </a:rPr>
                  <a:t> &amp; </a:t>
                </a:r>
                <a14:m>
                  <m:oMath xmlns:m="http://schemas.openxmlformats.org/officeDocument/2006/math">
                    <m:sSub>
                      <m:sSubPr>
                        <m:ctrlPr>
                          <a:rPr lang="en-NG"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1400" i="1">
                            <a:effectLst/>
                            <a:latin typeface="Cambria Math" panose="02040503050406030204" pitchFamily="18" charset="0"/>
                            <a:ea typeface="Calibri" panose="020F0502020204030204" pitchFamily="34" charset="0"/>
                            <a:cs typeface="Times New Roman" panose="02020603050405020304" pitchFamily="18" charset="0"/>
                          </a:rPr>
                          <m:t>𝑗</m:t>
                        </m:r>
                      </m:sub>
                    </m:sSub>
                  </m:oMath>
                </a14:m>
                <a:r>
                  <a:rPr lang="en-US" sz="1400" dirty="0">
                    <a:effectLst/>
                    <a:ea typeface="Calibri" panose="020F0502020204030204" pitchFamily="34" charset="0"/>
                    <a:cs typeface="Times New Roman" panose="02020603050405020304" pitchFamily="18" charset="0"/>
                  </a:rPr>
                  <a:t>) are the products of the value of that neuron (</a:t>
                </a:r>
                <a14:m>
                  <m:oMath xmlns:m="http://schemas.openxmlformats.org/officeDocument/2006/math">
                    <m:sSub>
                      <m:sSubPr>
                        <m:ctrlPr>
                          <a:rPr lang="en-NG"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n-US" sz="1400" i="1">
                            <a:effectLst/>
                            <a:latin typeface="Cambria Math" panose="02040503050406030204" pitchFamily="18" charset="0"/>
                            <a:ea typeface="Calibri" panose="020F0502020204030204" pitchFamily="34" charset="0"/>
                            <a:cs typeface="Times New Roman" panose="02020603050405020304" pitchFamily="18" charset="0"/>
                          </a:rPr>
                          <m:t>𝑖𝑗</m:t>
                        </m:r>
                      </m:sub>
                    </m:sSub>
                    <m:r>
                      <a:rPr lang="en-US" sz="1400" i="1">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n-NG"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1400" i="1">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US" sz="1400" i="1">
                        <a:effectLst/>
                        <a:latin typeface="Cambria Math" panose="02040503050406030204" pitchFamily="18" charset="0"/>
                        <a:ea typeface="Calibri" panose="020F0502020204030204" pitchFamily="34" charset="0"/>
                        <a:cs typeface="Times New Roman" panose="02020603050405020304" pitchFamily="18" charset="0"/>
                      </a:rPr>
                      <m:t> ∗ </m:t>
                    </m:r>
                    <m:sSub>
                      <m:sSubPr>
                        <m:ctrlPr>
                          <a:rPr lang="en-NG"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1400" i="1">
                            <a:effectLst/>
                            <a:latin typeface="Cambria Math" panose="02040503050406030204" pitchFamily="18" charset="0"/>
                            <a:ea typeface="Calibri" panose="020F0502020204030204" pitchFamily="34" charset="0"/>
                            <a:cs typeface="Times New Roman" panose="02020603050405020304" pitchFamily="18" charset="0"/>
                          </a:rPr>
                          <m:t>𝑗</m:t>
                        </m:r>
                      </m:sub>
                    </m:sSub>
                    <m:r>
                      <a:rPr lang="en-US" sz="1400" b="0" i="0" smtClean="0">
                        <a:effectLst/>
                        <a:latin typeface="Cambria Math" panose="02040503050406030204" pitchFamily="18" charset="0"/>
                        <a:ea typeface="Calibri" panose="020F0502020204030204" pitchFamily="34" charset="0"/>
                        <a:cs typeface="Times New Roman" panose="02020603050405020304" pitchFamily="18" charset="0"/>
                      </a:rPr>
                      <m:t>)</m:t>
                    </m:r>
                  </m:oMath>
                </a14:m>
                <a:endParaRPr lang="en-US" sz="1400" b="0" i="0" dirty="0">
                  <a:effectLst/>
                  <a:ea typeface="Calibri" panose="020F0502020204030204" pitchFamily="34" charset="0"/>
                  <a:cs typeface="Times New Roman" panose="02020603050405020304" pitchFamily="18" charset="0"/>
                </a:endParaRPr>
              </a:p>
            </p:txBody>
          </p:sp>
        </mc:Choice>
        <mc:Fallback>
          <p:sp>
            <p:nvSpPr>
              <p:cNvPr id="7" name="TextBox 6">
                <a:extLst>
                  <a:ext uri="{FF2B5EF4-FFF2-40B4-BE49-F238E27FC236}">
                    <a16:creationId xmlns:a16="http://schemas.microsoft.com/office/drawing/2014/main" id="{F865C3CE-3510-5C2F-D435-E021E6E064FA}"/>
                  </a:ext>
                </a:extLst>
              </p:cNvPr>
              <p:cNvSpPr txBox="1">
                <a:spLocks noRot="1" noChangeAspect="1" noMove="1" noResize="1" noEditPoints="1" noAdjustHandles="1" noChangeArrowheads="1" noChangeShapeType="1" noTextEdit="1"/>
              </p:cNvSpPr>
              <p:nvPr/>
            </p:nvSpPr>
            <p:spPr>
              <a:xfrm>
                <a:off x="193040" y="1282727"/>
                <a:ext cx="11694160" cy="785984"/>
              </a:xfrm>
              <a:prstGeom prst="rect">
                <a:avLst/>
              </a:prstGeom>
              <a:blipFill>
                <a:blip r:embed="rId2"/>
                <a:stretch>
                  <a:fillRect l="-325" r="-108" b="-4762"/>
                </a:stretch>
              </a:blipFill>
            </p:spPr>
            <p:txBody>
              <a:bodyPr/>
              <a:lstStyle/>
              <a:p>
                <a:r>
                  <a:rPr lang="en-NG">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29A0C614-391B-B815-57B6-080EA994B267}"/>
                  </a:ext>
                </a:extLst>
              </p:cNvPr>
              <p:cNvSpPr txBox="1"/>
              <p:nvPr/>
            </p:nvSpPr>
            <p:spPr>
              <a:xfrm>
                <a:off x="0" y="2239308"/>
                <a:ext cx="3749040" cy="4717125"/>
              </a:xfrm>
              <a:prstGeom prst="rect">
                <a:avLst/>
              </a:prstGeom>
              <a:noFill/>
            </p:spPr>
            <p:txBody>
              <a:bodyPr wrap="square">
                <a:spAutoFit/>
              </a:bodyPr>
              <a:lstStyle/>
              <a:p>
                <a:pPr marL="0" indent="0" algn="ctr">
                  <a:lnSpc>
                    <a:spcPct val="150000"/>
                  </a:lnSpc>
                  <a:buNone/>
                </a:pPr>
                <a14:m>
                  <m:oMath xmlns:m="http://schemas.openxmlformats.org/officeDocument/2006/math">
                    <m:r>
                      <a:rPr lang="en-US" sz="1400" b="0" i="0"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sz="1400" dirty="0">
                    <a:effectLst/>
                    <a:ea typeface="Times New Roman" panose="02020603050405020304" pitchFamily="18" charset="0"/>
                    <a:cs typeface="Times New Roman" panose="02020603050405020304" pitchFamily="18" charset="0"/>
                  </a:rPr>
                  <a:t>In other to learn a pattern p; </a:t>
                </a:r>
                <a:endParaRPr lang="en-US" sz="1400" dirty="0">
                  <a:ea typeface="Times New Roman" panose="02020603050405020304" pitchFamily="18" charset="0"/>
                  <a:cs typeface="Times New Roman" panose="02020603050405020304" pitchFamily="18" charset="0"/>
                </a:endParaRPr>
              </a:p>
              <a:p>
                <a:pPr marL="0" indent="0" algn="ctr">
                  <a:lnSpc>
                    <a:spcPct val="150000"/>
                  </a:lnSpc>
                  <a:buNone/>
                </a:pPr>
                <a:r>
                  <a:rPr lang="en-US" sz="1400" dirty="0">
                    <a:effectLst/>
                    <a:ea typeface="Times New Roman" panose="02020603050405020304" pitchFamily="18" charset="0"/>
                    <a:cs typeface="Times New Roman" panose="02020603050405020304" pitchFamily="18" charset="0"/>
                  </a:rPr>
                  <a:t>where p = [</a:t>
                </a:r>
                <a14:m>
                  <m:oMath xmlns:m="http://schemas.openxmlformats.org/officeDocument/2006/math">
                    <m:sSub>
                      <m:sSubPr>
                        <m:ctrlPr>
                          <a:rPr lang="en-NG"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NG" sz="1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NG"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𝑛</m:t>
                            </m:r>
                          </m:sub>
                        </m:sSub>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m:t>
                        </m:r>
                      </m:e>
                      <m:sup>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𝑇</m:t>
                        </m:r>
                      </m:sup>
                    </m:sSup>
                  </m:oMath>
                </a14:m>
                <a:r>
                  <a:rPr lang="en-US" sz="1400" dirty="0">
                    <a:effectLst/>
                    <a:ea typeface="Times New Roman" panose="02020603050405020304" pitchFamily="18" charset="0"/>
                    <a:cs typeface="Times New Roman" panose="02020603050405020304" pitchFamily="18" charset="0"/>
                  </a:rPr>
                  <a:t> where </a:t>
                </a:r>
                <a14:m>
                  <m:oMath xmlns:m="http://schemas.openxmlformats.org/officeDocument/2006/math">
                    <m:sSub>
                      <m:sSubPr>
                        <m:ctrlPr>
                          <a:rPr lang="en-NG"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effectLst/>
                            <a:latin typeface="Cambria Math" panose="02040503050406030204" pitchFamily="18" charset="0"/>
                            <a:ea typeface="Calibri" panose="020F0502020204030204" pitchFamily="34" charset="0"/>
                            <a:cs typeface="Times New Roman" panose="02020603050405020304" pitchFamily="18" charset="0"/>
                          </a:rPr>
                          <m:t>𝑝</m:t>
                        </m:r>
                      </m:e>
                      <m:sub>
                        <m:r>
                          <a:rPr lang="en-US" sz="1400" i="1">
                            <a:effectLst/>
                            <a:latin typeface="Cambria Math" panose="02040503050406030204" pitchFamily="18" charset="0"/>
                            <a:ea typeface="Calibri" panose="020F0502020204030204" pitchFamily="34" charset="0"/>
                            <a:cs typeface="Times New Roman" panose="02020603050405020304" pitchFamily="18" charset="0"/>
                          </a:rPr>
                          <m:t>𝑖𝑗</m:t>
                        </m:r>
                      </m:sub>
                    </m:sSub>
                  </m:oMath>
                </a14:m>
                <a:r>
                  <a:rPr lang="en-US" sz="1400" dirty="0">
                    <a:effectLst/>
                    <a:ea typeface="Times New Roman" panose="02020603050405020304" pitchFamily="18" charset="0"/>
                    <a:cs typeface="Times New Roman" panose="02020603050405020304" pitchFamily="18" charset="0"/>
                  </a:rPr>
                  <a:t> = </a:t>
                </a:r>
                <a14:m>
                  <m:oMath xmlns:m="http://schemas.openxmlformats.org/officeDocument/2006/math">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400" i="1" smtClean="0">
                        <a:effectLst/>
                        <a:latin typeface="Cambria Math" panose="02040503050406030204" pitchFamily="18" charset="0"/>
                        <a:ea typeface="Times New Roman" panose="02020603050405020304" pitchFamily="18" charset="0"/>
                        <a:cs typeface="Times New Roman" panose="02020603050405020304" pitchFamily="18" charset="0"/>
                      </a:rPr>
                      <m:t>1</m:t>
                    </m:r>
                    <m:r>
                      <a:rPr lang="en-US" sz="1400" b="0" i="0" smtClean="0">
                        <a:effectLst/>
                        <a:latin typeface="Cambria Math" panose="02040503050406030204" pitchFamily="18" charset="0"/>
                        <a:ea typeface="Times New Roman" panose="02020603050405020304" pitchFamily="18" charset="0"/>
                        <a:cs typeface="Times New Roman" panose="02020603050405020304" pitchFamily="18" charset="0"/>
                      </a:rPr>
                      <m:t> </m:t>
                    </m:r>
                  </m:oMath>
                </a14:m>
                <a:endParaRPr lang="en-US" sz="1400" dirty="0">
                  <a:effectLst/>
                  <a:ea typeface="Times New Roman" panose="02020603050405020304" pitchFamily="18" charset="0"/>
                  <a:cs typeface="Times New Roman" panose="02020603050405020304" pitchFamily="18" charset="0"/>
                </a:endParaRPr>
              </a:p>
              <a:p>
                <a:pPr marL="0" indent="0" algn="ctr">
                  <a:lnSpc>
                    <a:spcPct val="150000"/>
                  </a:lnSpc>
                  <a:buNone/>
                </a:pPr>
                <a:r>
                  <a:rPr lang="en-US" sz="1400" dirty="0">
                    <a:effectLst/>
                    <a:ea typeface="Times New Roman" panose="02020603050405020304" pitchFamily="18" charset="0"/>
                    <a:cs typeface="Times New Roman" panose="02020603050405020304" pitchFamily="18" charset="0"/>
                  </a:rPr>
                  <a:t>A learning rate would be fixed </a:t>
                </a:r>
                <a14:m>
                  <m:oMath xmlns:m="http://schemas.openxmlformats.org/officeDocument/2006/math">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𝜀</m:t>
                    </m:r>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&gt;0</m:t>
                    </m:r>
                  </m:oMath>
                </a14:m>
                <a:r>
                  <a:rPr lang="en-NG" sz="1400" dirty="0">
                    <a:ea typeface="Times New Roman" panose="02020603050405020304" pitchFamily="18" charset="0"/>
                    <a:cs typeface="Times New Roman" panose="02020603050405020304" pitchFamily="18" charset="0"/>
                  </a:rPr>
                  <a:t> </a:t>
                </a:r>
              </a:p>
              <a:p>
                <a:pPr marL="0" indent="0" algn="ctr">
                  <a:lnSpc>
                    <a:spcPct val="150000"/>
                  </a:lnSpc>
                  <a:buNone/>
                </a:pPr>
                <a:r>
                  <a:rPr lang="en-US" sz="1400" dirty="0">
                    <a:effectLst/>
                    <a:ea typeface="Times New Roman" panose="02020603050405020304" pitchFamily="18" charset="0"/>
                    <a:cs typeface="Times New Roman" panose="02020603050405020304" pitchFamily="18" charset="0"/>
                  </a:rPr>
                  <a:t>The synaptic weights are updated by,</a:t>
                </a:r>
              </a:p>
              <a:p>
                <a:pPr marL="0" indent="0" algn="ctr">
                  <a:lnSpc>
                    <a:spcPct val="150000"/>
                  </a:lnSpc>
                  <a:buNone/>
                </a:pPr>
                <a:r>
                  <a:rPr lang="en-NG" sz="1400" dirty="0">
                    <a:ea typeface="Times New Roman" panose="02020603050405020304" pitchFamily="18" charset="0"/>
                    <a:cs typeface="Times New Roman" panose="02020603050405020304" pitchFamily="18" charset="0"/>
                  </a:rPr>
                  <a:t> </a:t>
                </a:r>
                <a14:m>
                  <m:oMath xmlns:m="http://schemas.openxmlformats.org/officeDocument/2006/math">
                    <m:sSubSup>
                      <m:sSubSupPr>
                        <m:ctrlPr>
                          <a:rPr lang="en-NG" sz="1400" i="1">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𝑊</m:t>
                        </m:r>
                      </m:e>
                      <m:sub>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𝑖𝑗</m:t>
                        </m:r>
                      </m:sub>
                      <m:sup>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𝑛𝑒𝑤</m:t>
                        </m:r>
                      </m:sup>
                    </m:sSubSup>
                  </m:oMath>
                </a14:m>
                <a:r>
                  <a:rPr lang="en-US" sz="1400" dirty="0">
                    <a:effectLst/>
                    <a:ea typeface="Times New Roman" panose="02020603050405020304" pitchFamily="18" charset="0"/>
                    <a:cs typeface="Times New Roman" panose="02020603050405020304" pitchFamily="18" charset="0"/>
                  </a:rPr>
                  <a:t> = </a:t>
                </a:r>
                <a14:m>
                  <m:oMath xmlns:m="http://schemas.openxmlformats.org/officeDocument/2006/math">
                    <m:sSubSup>
                      <m:sSubSupPr>
                        <m:ctrlPr>
                          <a:rPr lang="en-NG" sz="1400" i="1">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𝑊</m:t>
                        </m:r>
                      </m:e>
                      <m:sub>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𝑖𝑗</m:t>
                        </m:r>
                      </m:sub>
                      <m:sup>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𝑜𝑙𝑑</m:t>
                        </m:r>
                      </m:sup>
                    </m:sSubSup>
                  </m:oMath>
                </a14:m>
                <a:r>
                  <a:rPr lang="en-US" sz="1400" dirty="0">
                    <a:effectLst/>
                    <a:ea typeface="Times New Roman" panose="02020603050405020304" pitchFamily="18" charset="0"/>
                    <a:cs typeface="Times New Roman" panose="02020603050405020304" pitchFamily="18" charset="0"/>
                  </a:rPr>
                  <a:t> </a:t>
                </a:r>
                <a:r>
                  <a:rPr lang="en-US" sz="1400" baseline="-25000" dirty="0">
                    <a:effectLst/>
                    <a:ea typeface="Times New Roman" panose="02020603050405020304" pitchFamily="18" charset="0"/>
                    <a:cs typeface="Times New Roman" panose="02020603050405020304" pitchFamily="18" charset="0"/>
                  </a:rPr>
                  <a:t>+ </a:t>
                </a:r>
                <a14:m>
                  <m:oMath xmlns:m="http://schemas.openxmlformats.org/officeDocument/2006/math">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𝜀</m:t>
                    </m:r>
                    <m:sSub>
                      <m:sSubPr>
                        <m:ctrlPr>
                          <a:rPr lang="en-NG"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effectLst/>
                            <a:latin typeface="Cambria Math" panose="02040503050406030204" pitchFamily="18" charset="0"/>
                            <a:ea typeface="Calibri" panose="020F0502020204030204" pitchFamily="34" charset="0"/>
                            <a:cs typeface="Times New Roman" panose="02020603050405020304" pitchFamily="18" charset="0"/>
                          </a:rPr>
                          <m:t>𝑝</m:t>
                        </m:r>
                      </m:e>
                      <m:sub>
                        <m:r>
                          <a:rPr lang="en-US" sz="1400" i="1">
                            <a:effectLst/>
                            <a:latin typeface="Cambria Math" panose="02040503050406030204" pitchFamily="18" charset="0"/>
                            <a:ea typeface="Calibri" panose="020F0502020204030204" pitchFamily="34" charset="0"/>
                            <a:cs typeface="Times New Roman" panose="02020603050405020304" pitchFamily="18" charset="0"/>
                          </a:rPr>
                          <m:t>𝑖</m:t>
                        </m:r>
                      </m:sub>
                    </m:sSub>
                    <m:sSub>
                      <m:sSubPr>
                        <m:ctrlPr>
                          <a:rPr lang="en-NG"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effectLst/>
                            <a:latin typeface="Cambria Math" panose="02040503050406030204" pitchFamily="18" charset="0"/>
                            <a:ea typeface="Calibri" panose="020F0502020204030204" pitchFamily="34" charset="0"/>
                            <a:cs typeface="Times New Roman" panose="02020603050405020304" pitchFamily="18" charset="0"/>
                          </a:rPr>
                          <m:t>𝑝</m:t>
                        </m:r>
                      </m:e>
                      <m:sub>
                        <m:r>
                          <a:rPr lang="en-US" sz="1400" i="1">
                            <a:effectLst/>
                            <a:latin typeface="Cambria Math" panose="02040503050406030204" pitchFamily="18" charset="0"/>
                            <a:ea typeface="Calibri" panose="020F0502020204030204" pitchFamily="34" charset="0"/>
                            <a:cs typeface="Times New Roman" panose="02020603050405020304" pitchFamily="18" charset="0"/>
                          </a:rPr>
                          <m:t>𝑗</m:t>
                        </m:r>
                      </m:sub>
                    </m:sSub>
                  </m:oMath>
                </a14:m>
                <a:endParaRPr lang="en-NG" sz="1400" dirty="0"/>
              </a:p>
              <a:p>
                <a:pPr marL="0" indent="0" algn="ctr">
                  <a:lnSpc>
                    <a:spcPct val="150000"/>
                  </a:lnSpc>
                  <a:buNone/>
                </a:pPr>
                <a:r>
                  <a:rPr lang="en-US" sz="1400" dirty="0">
                    <a:effectLst/>
                    <a:ea typeface="Times New Roman" panose="02020603050405020304" pitchFamily="18" charset="0"/>
                    <a:cs typeface="Times New Roman" panose="02020603050405020304" pitchFamily="18" charset="0"/>
                  </a:rPr>
                  <a:t>After computation, </a:t>
                </a:r>
                <a14:m>
                  <m:oMath xmlns:m="http://schemas.openxmlformats.org/officeDocument/2006/math">
                    <m:sSub>
                      <m:sSubPr>
                        <m:ctrlPr>
                          <a:rPr lang="en-NG"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effectLst/>
                            <a:latin typeface="Cambria Math" panose="02040503050406030204" pitchFamily="18" charset="0"/>
                            <a:ea typeface="Calibri" panose="020F0502020204030204" pitchFamily="34" charset="0"/>
                            <a:cs typeface="Times New Roman" panose="02020603050405020304" pitchFamily="18" charset="0"/>
                          </a:rPr>
                          <m:t>𝑝</m:t>
                        </m:r>
                      </m:e>
                      <m:sub>
                        <m:r>
                          <a:rPr lang="en-US" sz="1400" i="1">
                            <a:effectLst/>
                            <a:latin typeface="Cambria Math" panose="02040503050406030204" pitchFamily="18" charset="0"/>
                            <a:ea typeface="Calibri" panose="020F0502020204030204" pitchFamily="34" charset="0"/>
                            <a:cs typeface="Times New Roman" panose="02020603050405020304" pitchFamily="18" charset="0"/>
                          </a:rPr>
                          <m:t>𝑖</m:t>
                        </m:r>
                      </m:sub>
                    </m:sSub>
                    <m:sSub>
                      <m:sSubPr>
                        <m:ctrlPr>
                          <a:rPr lang="en-NG"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effectLst/>
                            <a:latin typeface="Cambria Math" panose="02040503050406030204" pitchFamily="18" charset="0"/>
                            <a:ea typeface="Calibri" panose="020F0502020204030204" pitchFamily="34" charset="0"/>
                            <a:cs typeface="Times New Roman" panose="02020603050405020304" pitchFamily="18" charset="0"/>
                          </a:rPr>
                          <m:t>𝑝</m:t>
                        </m:r>
                      </m:e>
                      <m:sub>
                        <m:r>
                          <a:rPr lang="en-US" sz="1400" i="1">
                            <a:effectLst/>
                            <a:latin typeface="Cambria Math" panose="02040503050406030204" pitchFamily="18" charset="0"/>
                            <a:ea typeface="Calibri" panose="020F0502020204030204" pitchFamily="34" charset="0"/>
                            <a:cs typeface="Times New Roman" panose="02020603050405020304" pitchFamily="18" charset="0"/>
                          </a:rPr>
                          <m:t>𝑗</m:t>
                        </m:r>
                      </m:sub>
                    </m:sSub>
                  </m:oMath>
                </a14:m>
                <a:r>
                  <a:rPr lang="en-US" sz="1400" dirty="0">
                    <a:effectLst/>
                    <a:ea typeface="Times New Roman" panose="02020603050405020304" pitchFamily="18" charset="0"/>
                    <a:cs typeface="Times New Roman" panose="02020603050405020304" pitchFamily="18" charset="0"/>
                  </a:rPr>
                  <a:t> = 1, </a:t>
                </a:r>
              </a:p>
              <a:p>
                <a:pPr marL="0" indent="0" algn="ctr">
                  <a:lnSpc>
                    <a:spcPct val="150000"/>
                  </a:lnSpc>
                  <a:buNone/>
                </a:pPr>
                <a:r>
                  <a:rPr lang="en-US" sz="1400" dirty="0">
                    <a:ea typeface="Times New Roman" panose="02020603050405020304" pitchFamily="18" charset="0"/>
                    <a:cs typeface="Times New Roman" panose="02020603050405020304" pitchFamily="18" charset="0"/>
                  </a:rPr>
                  <a:t>The </a:t>
                </a:r>
                <a:r>
                  <a:rPr lang="en-US" sz="1400" dirty="0">
                    <a:effectLst/>
                    <a:ea typeface="Times New Roman" panose="02020603050405020304" pitchFamily="18" charset="0"/>
                    <a:cs typeface="Times New Roman" panose="02020603050405020304" pitchFamily="18" charset="0"/>
                  </a:rPr>
                  <a:t>Hebbian learning in matrix form is;</a:t>
                </a:r>
                <a:endParaRPr lang="en-NG" sz="1400" dirty="0">
                  <a:ea typeface="Times New Roman" panose="02020603050405020304" pitchFamily="18" charset="0"/>
                  <a:cs typeface="Times New Roman" panose="02020603050405020304" pitchFamily="18" charset="0"/>
                </a:endParaRPr>
              </a:p>
              <a:p>
                <a:pPr marL="0" indent="0" algn="ctr">
                  <a:lnSpc>
                    <a:spcPct val="150000"/>
                  </a:lnSpc>
                  <a:buNone/>
                </a:pPr>
                <a14:m>
                  <m:oMath xmlns:m="http://schemas.openxmlformats.org/officeDocument/2006/math">
                    <m:sSup>
                      <m:sSupPr>
                        <m:ctrlPr>
                          <a:rPr lang="en-NG" sz="1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𝑊</m:t>
                        </m:r>
                      </m:e>
                      <m:sup>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𝑛𝑒𝑤</m:t>
                        </m:r>
                      </m:sup>
                    </m:sSup>
                  </m:oMath>
                </a14:m>
                <a:r>
                  <a:rPr lang="en-US" sz="1400" dirty="0">
                    <a:effectLst/>
                    <a:ea typeface="Times New Roman" panose="02020603050405020304" pitchFamily="18" charset="0"/>
                    <a:cs typeface="Times New Roman" panose="02020603050405020304" pitchFamily="18" charset="0"/>
                  </a:rPr>
                  <a:t> = </a:t>
                </a:r>
                <a14:m>
                  <m:oMath xmlns:m="http://schemas.openxmlformats.org/officeDocument/2006/math">
                    <m:sSup>
                      <m:sSupPr>
                        <m:ctrlPr>
                          <a:rPr lang="en-NG" sz="1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𝑊</m:t>
                        </m:r>
                      </m:e>
                      <m:sup>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𝑜𝑙𝑑</m:t>
                        </m:r>
                      </m:sup>
                    </m:sSup>
                  </m:oMath>
                </a14:m>
                <a:r>
                  <a:rPr lang="en-US" sz="1400" dirty="0">
                    <a:effectLst/>
                    <a:ea typeface="Times New Roman" panose="02020603050405020304" pitchFamily="18" charset="0"/>
                    <a:cs typeface="Times New Roman" panose="02020603050405020304" pitchFamily="18" charset="0"/>
                  </a:rPr>
                  <a:t> + </a:t>
                </a:r>
                <a14:m>
                  <m:oMath xmlns:m="http://schemas.openxmlformats.org/officeDocument/2006/math">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𝜀</m:t>
                    </m:r>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𝑝</m:t>
                    </m:r>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NG" sz="1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𝑝</m:t>
                        </m:r>
                      </m:e>
                      <m:sup>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𝑇</m:t>
                        </m:r>
                      </m:sup>
                    </m:sSup>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1400" dirty="0">
                    <a:effectLst/>
                    <a:ea typeface="Times New Roman" panose="02020603050405020304" pitchFamily="18" charset="0"/>
                    <a:cs typeface="Times New Roman" panose="02020603050405020304" pitchFamily="18" charset="0"/>
                  </a:rPr>
                  <a:t>) </a:t>
                </a:r>
              </a:p>
              <a:p>
                <a:pPr marL="0" indent="0" algn="ctr">
                  <a:lnSpc>
                    <a:spcPct val="150000"/>
                  </a:lnSpc>
                  <a:buNone/>
                </a:pPr>
                <a:r>
                  <a:rPr lang="en-US" sz="1400" dirty="0">
                    <a:effectLst/>
                    <a:ea typeface="Times New Roman" panose="02020603050405020304" pitchFamily="18" charset="0"/>
                    <a:cs typeface="Times New Roman" panose="02020603050405020304" pitchFamily="18" charset="0"/>
                  </a:rPr>
                  <a:t>The during iteration of the Hopfield Networks, </a:t>
                </a:r>
              </a:p>
              <a:p>
                <a:pPr marL="0" indent="0" algn="ctr">
                  <a:lnSpc>
                    <a:spcPct val="150000"/>
                  </a:lnSpc>
                  <a:buNone/>
                </a:pPr>
                <a:r>
                  <a:rPr lang="en-US" sz="1400" dirty="0">
                    <a:effectLst/>
                    <a:ea typeface="Times New Roman" panose="02020603050405020304" pitchFamily="18" charset="0"/>
                    <a:cs typeface="Times New Roman" panose="02020603050405020304" pitchFamily="18" charset="0"/>
                  </a:rPr>
                  <a:t>the simulation would begin at an initial state;</a:t>
                </a:r>
                <a:r>
                  <a:rPr lang="en-US" sz="1400" i="1" dirty="0">
                    <a:effectLst/>
                    <a:ea typeface="Times New Roman" panose="02020603050405020304" pitchFamily="18" charset="0"/>
                    <a:cs typeface="Times New Roman" panose="02020603050405020304" pitchFamily="18" charset="0"/>
                  </a:rPr>
                  <a:t>	</a:t>
                </a:r>
              </a:p>
              <a:p>
                <a:pPr marL="0" indent="0" algn="ctr">
                  <a:lnSpc>
                    <a:spcPct val="150000"/>
                  </a:lnSpc>
                  <a:buNone/>
                </a:pPr>
                <a14:m>
                  <m:oMathPara xmlns:m="http://schemas.openxmlformats.org/officeDocument/2006/math">
                    <m:oMathParaPr>
                      <m:jc m:val="centerGroup"/>
                    </m:oMathParaPr>
                    <m:oMath xmlns:m="http://schemas.openxmlformats.org/officeDocument/2006/math">
                      <m:sSup>
                        <m:sSupPr>
                          <m:ctrlPr>
                            <a:rPr lang="en-NG" sz="1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𝑋</m:t>
                          </m:r>
                        </m:e>
                        <m:sup>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𝑖𝑛𝑖𝑡𝑖𝑎𝑙</m:t>
                          </m:r>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 </m:t>
                          </m:r>
                        </m:sup>
                      </m:sSup>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n-NG" sz="1400" i="1">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𝑋</m:t>
                          </m:r>
                        </m:e>
                        <m:sub>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𝑖𝑛𝑖𝑡</m:t>
                          </m:r>
                        </m:sup>
                      </m:sSubSup>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n-NG" sz="1400" i="1">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𝑋</m:t>
                          </m:r>
                        </m:e>
                        <m:sub>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𝑛</m:t>
                          </m:r>
                        </m:sub>
                        <m:sup>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𝑖𝑛𝑖𝑡</m:t>
                          </m:r>
                        </m:sup>
                      </m:sSubSup>
                      <m:sSup>
                        <m:sSupPr>
                          <m:ctrlPr>
                            <a:rPr lang="en-NG" sz="1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 ]</m:t>
                          </m:r>
                        </m:e>
                        <m:sup>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𝑇</m:t>
                          </m:r>
                        </m:sup>
                      </m:sSup>
                    </m:oMath>
                  </m:oMathPara>
                </a14:m>
                <a:endParaRPr lang="en-NG" sz="1400" dirty="0">
                  <a:ea typeface="Times New Roman" panose="02020603050405020304" pitchFamily="18" charset="0"/>
                  <a:cs typeface="Times New Roman" panose="02020603050405020304" pitchFamily="18" charset="0"/>
                </a:endParaRPr>
              </a:p>
              <a:p>
                <a:pPr marL="0" indent="0" algn="ctr">
                  <a:lnSpc>
                    <a:spcPct val="150000"/>
                  </a:lnSpc>
                  <a:buNone/>
                </a:pPr>
                <a:endParaRPr lang="en-NG" sz="1400" dirty="0">
                  <a:ea typeface="Times New Roman" panose="02020603050405020304" pitchFamily="18" charset="0"/>
                  <a:cs typeface="Times New Roman" panose="02020603050405020304" pitchFamily="18" charset="0"/>
                </a:endParaRPr>
              </a:p>
            </p:txBody>
          </p:sp>
        </mc:Choice>
        <mc:Fallback>
          <p:sp>
            <p:nvSpPr>
              <p:cNvPr id="9" name="TextBox 8">
                <a:extLst>
                  <a:ext uri="{FF2B5EF4-FFF2-40B4-BE49-F238E27FC236}">
                    <a16:creationId xmlns:a16="http://schemas.microsoft.com/office/drawing/2014/main" id="{29A0C614-391B-B815-57B6-080EA994B267}"/>
                  </a:ext>
                </a:extLst>
              </p:cNvPr>
              <p:cNvSpPr txBox="1">
                <a:spLocks noRot="1" noChangeAspect="1" noMove="1" noResize="1" noEditPoints="1" noAdjustHandles="1" noChangeArrowheads="1" noChangeShapeType="1" noTextEdit="1"/>
              </p:cNvSpPr>
              <p:nvPr/>
            </p:nvSpPr>
            <p:spPr>
              <a:xfrm>
                <a:off x="0" y="2239308"/>
                <a:ext cx="3749040" cy="4717125"/>
              </a:xfrm>
              <a:prstGeom prst="rect">
                <a:avLst/>
              </a:prstGeom>
              <a:blipFill>
                <a:blip r:embed="rId3"/>
                <a:stretch>
                  <a:fillRect/>
                </a:stretch>
              </a:blipFill>
            </p:spPr>
            <p:txBody>
              <a:bodyPr/>
              <a:lstStyle/>
              <a:p>
                <a:r>
                  <a:rPr lang="en-NG">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2A5F2605-97DB-987F-704B-38E6C7551D41}"/>
                  </a:ext>
                </a:extLst>
              </p:cNvPr>
              <p:cNvSpPr txBox="1"/>
              <p:nvPr/>
            </p:nvSpPr>
            <p:spPr>
              <a:xfrm>
                <a:off x="3749040" y="2418080"/>
                <a:ext cx="3667760" cy="4606069"/>
              </a:xfrm>
              <a:prstGeom prst="rect">
                <a:avLst/>
              </a:prstGeom>
              <a:noFill/>
            </p:spPr>
            <p:txBody>
              <a:bodyPr wrap="square">
                <a:spAutoFit/>
              </a:bodyPr>
              <a:lstStyle/>
              <a:p>
                <a:pPr marL="0" indent="0" algn="ctr">
                  <a:lnSpc>
                    <a:spcPct val="150000"/>
                  </a:lnSpc>
                  <a:buNone/>
                </a:pPr>
                <a:r>
                  <a:rPr lang="en-US" sz="1400" dirty="0">
                    <a:effectLst/>
                    <a:ea typeface="Times New Roman" panose="02020603050405020304" pitchFamily="18" charset="0"/>
                    <a:cs typeface="Times New Roman" panose="02020603050405020304" pitchFamily="18" charset="0"/>
                  </a:rPr>
                  <a:t>After which, selecting a neuron at random via the firing rule and updating is done. This is then repeated until a pattern is learned.</a:t>
                </a:r>
                <a:endParaRPr lang="en-NG" sz="1400" dirty="0">
                  <a:effectLst/>
                  <a:ea typeface="Calibri" panose="020F0502020204030204" pitchFamily="34" charset="0"/>
                  <a:cs typeface="Times New Roman" panose="02020603050405020304" pitchFamily="18" charset="0"/>
                </a:endParaRPr>
              </a:p>
              <a:p>
                <a:pPr marL="0" indent="0" algn="ctr">
                  <a:lnSpc>
                    <a:spcPct val="150000"/>
                  </a:lnSpc>
                  <a:buNone/>
                </a:pPr>
                <a14:m>
                  <m:oMathPara xmlns:m="http://schemas.openxmlformats.org/officeDocument/2006/math">
                    <m:oMathParaPr>
                      <m:jc m:val="centerGroup"/>
                    </m:oMathParaPr>
                    <m:oMath xmlns:m="http://schemas.openxmlformats.org/officeDocument/2006/math">
                      <m:sSubSup>
                        <m:sSubSupPr>
                          <m:ctrlPr>
                            <a:rPr lang="en-NG" sz="1400" i="1">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𝑋</m:t>
                          </m:r>
                        </m:e>
                        <m:sub>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𝑖</m:t>
                          </m:r>
                        </m:sub>
                        <m:sup>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𝑛𝑒𝑤</m:t>
                          </m:r>
                        </m:sup>
                      </m:sSubSup>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𝜎</m:t>
                      </m:r>
                      <m:d>
                        <m:dPr>
                          <m:ctrlPr>
                            <a:rPr lang="en-NG" sz="1400" i="1">
                              <a:effectLst/>
                              <a:latin typeface="Cambria Math" panose="02040503050406030204" pitchFamily="18" charset="0"/>
                              <a:ea typeface="Times New Roman" panose="02020603050405020304" pitchFamily="18" charset="0"/>
                              <a:cs typeface="Times New Roman" panose="02020603050405020304" pitchFamily="18" charset="0"/>
                            </a:rPr>
                          </m:ctrlPr>
                        </m:dPr>
                        <m:e>
                          <m:nary>
                            <m:naryPr>
                              <m:chr m:val="∑"/>
                              <m:limLoc m:val="undOvr"/>
                              <m:supHide m:val="on"/>
                              <m:ctrlPr>
                                <a:rPr lang="en-NG" sz="1400" i="1">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𝑗</m:t>
                              </m:r>
                            </m:sub>
                            <m:sup/>
                            <m:e>
                              <m:sSub>
                                <m:sSubPr>
                                  <m:ctrlPr>
                                    <a:rPr lang="en-NG"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𝑊</m:t>
                                  </m:r>
                                </m:e>
                                <m:sub>
                                  <m:r>
                                    <a:rPr lang="en-US" sz="1400" i="1">
                                      <a:effectLst/>
                                      <a:latin typeface="Cambria Math" panose="02040503050406030204" pitchFamily="18" charset="0"/>
                                      <a:ea typeface="Calibri" panose="020F0502020204030204" pitchFamily="34" charset="0"/>
                                      <a:cs typeface="Times New Roman" panose="02020603050405020304" pitchFamily="18" charset="0"/>
                                    </a:rPr>
                                    <m:t>𝑖𝑗</m:t>
                                  </m:r>
                                </m:sub>
                              </m:sSub>
                            </m:e>
                          </m:nary>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 </m:t>
                          </m:r>
                          <m:sSubSup>
                            <m:sSubSupPr>
                              <m:ctrlPr>
                                <a:rPr lang="en-NG" sz="1400" i="1">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𝑋</m:t>
                              </m:r>
                            </m:e>
                            <m:sub>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𝑗</m:t>
                              </m:r>
                            </m:sub>
                            <m:sup>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𝑜𝑙𝑑</m:t>
                              </m:r>
                            </m:sup>
                          </m:sSubSup>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NG"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𝑗</m:t>
                              </m:r>
                            </m:sub>
                          </m:sSub>
                        </m:e>
                      </m:d>
                    </m:oMath>
                  </m:oMathPara>
                </a14:m>
                <a:endParaRPr lang="en-NG" sz="1400" dirty="0"/>
              </a:p>
              <a:p>
                <a:pPr marL="0" indent="0" algn="ctr">
                  <a:lnSpc>
                    <a:spcPct val="150000"/>
                  </a:lnSpc>
                  <a:buNone/>
                </a:pPr>
                <a:r>
                  <a:rPr lang="en-US" sz="1400" dirty="0">
                    <a:effectLst/>
                    <a:ea typeface="Calibri" panose="020F0502020204030204" pitchFamily="34" charset="0"/>
                    <a:cs typeface="Times New Roman" panose="02020603050405020304" pitchFamily="18" charset="0"/>
                  </a:rPr>
                  <a:t>After assuming the values of each neuron to be +1 or -1, the weighted sum for any neuron </a:t>
                </a:r>
                <a14:m>
                  <m:oMath xmlns:m="http://schemas.openxmlformats.org/officeDocument/2006/math">
                    <m:sSub>
                      <m:sSubPr>
                        <m:ctrlPr>
                          <a:rPr lang="en-NG"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latin typeface="Cambria Math" panose="02040503050406030204" pitchFamily="18" charset="0"/>
                            <a:ea typeface="Times New Roman" panose="02020603050405020304" pitchFamily="18" charset="0"/>
                            <a:cs typeface="Times New Roman" panose="02020603050405020304" pitchFamily="18" charset="0"/>
                          </a:rPr>
                          <m:t>𝜔</m:t>
                        </m:r>
                      </m:e>
                      <m:sub>
                        <m:r>
                          <a:rPr lang="en-US" sz="1400" i="1">
                            <a:effectLst/>
                            <a:latin typeface="Cambria Math" panose="02040503050406030204" pitchFamily="18" charset="0"/>
                            <a:ea typeface="Calibri" panose="020F0502020204030204" pitchFamily="34" charset="0"/>
                            <a:cs typeface="Times New Roman" panose="02020603050405020304" pitchFamily="18" charset="0"/>
                          </a:rPr>
                          <m:t>𝑖</m:t>
                        </m:r>
                      </m:sub>
                    </m:sSub>
                  </m:oMath>
                </a14:m>
                <a:r>
                  <a:rPr lang="en-US" sz="1400" dirty="0">
                    <a:effectLst/>
                    <a:ea typeface="Times New Roman" panose="02020603050405020304" pitchFamily="18" charset="0"/>
                    <a:cs typeface="Times New Roman" panose="02020603050405020304" pitchFamily="18" charset="0"/>
                  </a:rPr>
                  <a:t>is;</a:t>
                </a:r>
                <a:endParaRPr lang="en-NG" sz="1400" dirty="0">
                  <a:ea typeface="Times New Roman" panose="02020603050405020304" pitchFamily="18" charset="0"/>
                  <a:cs typeface="Times New Roman" panose="02020603050405020304" pitchFamily="18" charset="0"/>
                </a:endParaRPr>
              </a:p>
              <a:p>
                <a:pPr marL="0" indent="0" algn="ctr">
                  <a:lnSpc>
                    <a:spcPct val="150000"/>
                  </a:lnSpc>
                  <a:buNone/>
                </a:pPr>
                <a14:m>
                  <m:oMathPara xmlns:m="http://schemas.openxmlformats.org/officeDocument/2006/math">
                    <m:oMathParaPr>
                      <m:jc m:val="centerGroup"/>
                    </m:oMathParaPr>
                    <m:oMath xmlns:m="http://schemas.openxmlformats.org/officeDocument/2006/math">
                      <m:r>
                        <m:rPr>
                          <m:sty m:val="p"/>
                        </m:rPr>
                        <a:rPr lang="en-US" sz="1400">
                          <a:effectLst/>
                          <a:latin typeface="Cambria Math" panose="02040503050406030204" pitchFamily="18" charset="0"/>
                          <a:ea typeface="Times New Roman" panose="02020603050405020304" pitchFamily="18" charset="0"/>
                          <a:cs typeface="Times New Roman" panose="02020603050405020304" pitchFamily="18" charset="0"/>
                        </a:rPr>
                        <m:t>Ζ</m:t>
                      </m:r>
                      <m:r>
                        <a:rPr lang="en-US" sz="1400">
                          <a:effectLst/>
                          <a:latin typeface="Cambria Math" panose="02040503050406030204" pitchFamily="18" charset="0"/>
                          <a:ea typeface="Times New Roman" panose="02020603050405020304" pitchFamily="18" charset="0"/>
                          <a:cs typeface="Times New Roman" panose="02020603050405020304" pitchFamily="18" charset="0"/>
                        </a:rPr>
                        <m:t>= </m:t>
                      </m:r>
                      <m:nary>
                        <m:naryPr>
                          <m:chr m:val="∑"/>
                          <m:limLoc m:val="undOvr"/>
                          <m:supHide m:val="on"/>
                          <m:ctrlPr>
                            <a:rPr lang="en-NG" sz="1400" i="1">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𝑗</m:t>
                          </m:r>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𝑖</m:t>
                          </m:r>
                        </m:sub>
                        <m:sup/>
                        <m:e>
                          <m:sSub>
                            <m:sSubPr>
                              <m:ctrlPr>
                                <a:rPr lang="en-NG"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n-US" sz="1400" i="1">
                                  <a:effectLst/>
                                  <a:latin typeface="Cambria Math" panose="02040503050406030204" pitchFamily="18" charset="0"/>
                                  <a:ea typeface="Calibri" panose="020F0502020204030204" pitchFamily="34" charset="0"/>
                                  <a:cs typeface="Times New Roman" panose="02020603050405020304" pitchFamily="18" charset="0"/>
                                </a:rPr>
                                <m:t>𝑖𝑗</m:t>
                              </m:r>
                            </m:sub>
                          </m:sSub>
                        </m:e>
                      </m:nary>
                      <m:sSub>
                        <m:sSubPr>
                          <m:ctrlPr>
                            <a:rPr lang="en-NG"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1400" i="1">
                              <a:effectLst/>
                              <a:latin typeface="Cambria Math" panose="02040503050406030204" pitchFamily="18" charset="0"/>
                              <a:ea typeface="Calibri" panose="020F0502020204030204" pitchFamily="34" charset="0"/>
                              <a:cs typeface="Times New Roman" panose="02020603050405020304" pitchFamily="18" charset="0"/>
                            </a:rPr>
                            <m:t>𝑗</m:t>
                          </m:r>
                        </m:sub>
                      </m:sSub>
                    </m:oMath>
                  </m:oMathPara>
                </a14:m>
                <a:endParaRPr lang="en-NG" sz="1400" dirty="0">
                  <a:effectLst/>
                  <a:ea typeface="Calibri" panose="020F0502020204030204" pitchFamily="34" charset="0"/>
                  <a:cs typeface="Times New Roman" panose="02020603050405020304" pitchFamily="18" charset="0"/>
                </a:endParaRPr>
              </a:p>
              <a:p>
                <a:pPr marL="0" indent="0" algn="ctr">
                  <a:lnSpc>
                    <a:spcPct val="150000"/>
                  </a:lnSpc>
                  <a:buNone/>
                </a:pPr>
                <a:endParaRPr lang="en-NG" sz="1400" dirty="0">
                  <a:effectLst/>
                  <a:ea typeface="Calibri" panose="020F0502020204030204" pitchFamily="34" charset="0"/>
                  <a:cs typeface="Times New Roman" panose="02020603050405020304" pitchFamily="18" charset="0"/>
                </a:endParaRPr>
              </a:p>
              <a:p>
                <a:pPr marL="0" indent="0" algn="ctr">
                  <a:lnSpc>
                    <a:spcPct val="150000"/>
                  </a:lnSpc>
                  <a:buNone/>
                </a:pPr>
                <a:endParaRPr lang="en-NG" sz="1400" dirty="0"/>
              </a:p>
            </p:txBody>
          </p:sp>
        </mc:Choice>
        <mc:Fallback>
          <p:sp>
            <p:nvSpPr>
              <p:cNvPr id="11" name="TextBox 10">
                <a:extLst>
                  <a:ext uri="{FF2B5EF4-FFF2-40B4-BE49-F238E27FC236}">
                    <a16:creationId xmlns:a16="http://schemas.microsoft.com/office/drawing/2014/main" id="{2A5F2605-97DB-987F-704B-38E6C7551D41}"/>
                  </a:ext>
                </a:extLst>
              </p:cNvPr>
              <p:cNvSpPr txBox="1">
                <a:spLocks noRot="1" noChangeAspect="1" noMove="1" noResize="1" noEditPoints="1" noAdjustHandles="1" noChangeArrowheads="1" noChangeShapeType="1" noTextEdit="1"/>
              </p:cNvSpPr>
              <p:nvPr/>
            </p:nvSpPr>
            <p:spPr>
              <a:xfrm>
                <a:off x="3749040" y="2418080"/>
                <a:ext cx="3667760" cy="4606069"/>
              </a:xfrm>
              <a:prstGeom prst="rect">
                <a:avLst/>
              </a:prstGeom>
              <a:blipFill>
                <a:blip r:embed="rId4"/>
                <a:stretch>
                  <a:fillRect b="-8815"/>
                </a:stretch>
              </a:blipFill>
            </p:spPr>
            <p:txBody>
              <a:bodyPr/>
              <a:lstStyle/>
              <a:p>
                <a:r>
                  <a:rPr lang="en-NG">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C0545837-7445-4E57-ADDF-6731CDA4CAA7}"/>
                  </a:ext>
                </a:extLst>
              </p:cNvPr>
              <p:cNvSpPr txBox="1"/>
              <p:nvPr/>
            </p:nvSpPr>
            <p:spPr>
              <a:xfrm>
                <a:off x="7711440" y="2224449"/>
                <a:ext cx="3667760" cy="4759380"/>
              </a:xfrm>
              <a:prstGeom prst="rect">
                <a:avLst/>
              </a:prstGeom>
              <a:noFill/>
            </p:spPr>
            <p:txBody>
              <a:bodyPr wrap="square">
                <a:spAutoFit/>
              </a:bodyPr>
              <a:lstStyle/>
              <a:p>
                <a:pPr marL="0" indent="0" algn="ctr">
                  <a:lnSpc>
                    <a:spcPct val="150000"/>
                  </a:lnSpc>
                  <a:buNone/>
                </a:pPr>
                <a:r>
                  <a:rPr lang="en-US" sz="1400" dirty="0">
                    <a:effectLst/>
                    <a:ea typeface="Calibri" panose="020F0502020204030204" pitchFamily="34" charset="0"/>
                    <a:cs typeface="Times New Roman" panose="02020603050405020304" pitchFamily="18" charset="0"/>
                  </a:rPr>
                  <a:t>The important feature is the sign on the sum.</a:t>
                </a:r>
                <a:r>
                  <a:rPr lang="en-NG" sz="1400" dirty="0">
                    <a:ea typeface="Calibri" panose="020F0502020204030204" pitchFamily="34" charset="0"/>
                    <a:cs typeface="Times New Roman" panose="02020603050405020304" pitchFamily="18" charset="0"/>
                  </a:rPr>
                  <a:t> </a:t>
                </a:r>
                <a:r>
                  <a:rPr lang="en-US" sz="1400" dirty="0">
                    <a:ea typeface="Calibri" panose="020F0502020204030204" pitchFamily="34" charset="0"/>
                    <a:cs typeface="Times New Roman" panose="02020603050405020304" pitchFamily="18" charset="0"/>
                  </a:rPr>
                  <a:t>T</a:t>
                </a:r>
                <a:r>
                  <a:rPr lang="en-US" sz="1400" dirty="0">
                    <a:effectLst/>
                    <a:ea typeface="Calibri" panose="020F0502020204030204" pitchFamily="34" charset="0"/>
                    <a:cs typeface="Times New Roman" panose="02020603050405020304" pitchFamily="18" charset="0"/>
                  </a:rPr>
                  <a:t>he value of that neuron </a:t>
                </a:r>
                <a:r>
                  <a:rPr lang="en-US" sz="1400" dirty="0">
                    <a:ea typeface="Calibri" panose="020F0502020204030204" pitchFamily="34" charset="0"/>
                    <a:cs typeface="Times New Roman" panose="02020603050405020304" pitchFamily="18" charset="0"/>
                  </a:rPr>
                  <a:t>is</a:t>
                </a:r>
                <a:r>
                  <a:rPr lang="en-US" sz="1400" dirty="0">
                    <a:effectLst/>
                    <a:ea typeface="Calibri" panose="020F0502020204030204" pitchFamily="34" charset="0"/>
                    <a:cs typeface="Times New Roman" panose="02020603050405020304" pitchFamily="18" charset="0"/>
                  </a:rPr>
                  <a:t>;</a:t>
                </a:r>
                <a:endParaRPr lang="en-NG" sz="1400" dirty="0">
                  <a:effectLst/>
                  <a:ea typeface="Calibri" panose="020F0502020204030204" pitchFamily="34" charset="0"/>
                  <a:cs typeface="Times New Roman" panose="02020603050405020304" pitchFamily="18" charset="0"/>
                </a:endParaRPr>
              </a:p>
              <a:p>
                <a:pPr marL="0" indent="0" algn="ctr">
                  <a:lnSpc>
                    <a:spcPct val="150000"/>
                  </a:lnSpc>
                  <a:buNone/>
                </a:pPr>
                <a14:m>
                  <m:oMathPara xmlns:m="http://schemas.openxmlformats.org/officeDocument/2006/math">
                    <m:oMathParaPr>
                      <m:jc m:val="centerGroup"/>
                    </m:oMathParaPr>
                    <m:oMath xmlns:m="http://schemas.openxmlformats.org/officeDocument/2006/math">
                      <m:sSub>
                        <m:sSubPr>
                          <m:ctrlPr>
                            <a:rPr lang="en-NG"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1400" i="1">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US" sz="1400" i="1">
                          <a:effectLst/>
                          <a:latin typeface="Cambria Math" panose="02040503050406030204" pitchFamily="18" charset="0"/>
                          <a:ea typeface="Calibri" panose="020F0502020204030204" pitchFamily="34" charset="0"/>
                          <a:cs typeface="Times New Roman" panose="02020603050405020304" pitchFamily="18" charset="0"/>
                        </a:rPr>
                        <m:t>=</m:t>
                      </m:r>
                      <m:r>
                        <a:rPr lang="en-US" sz="1400" i="1">
                          <a:effectLst/>
                          <a:latin typeface="Cambria Math" panose="02040503050406030204" pitchFamily="18" charset="0"/>
                          <a:ea typeface="Calibri" panose="020F0502020204030204" pitchFamily="34" charset="0"/>
                          <a:cs typeface="Times New Roman" panose="02020603050405020304" pitchFamily="18" charset="0"/>
                        </a:rPr>
                        <m:t>𝑠𝑖𝑔𝑛</m:t>
                      </m:r>
                      <m:r>
                        <a:rPr lang="en-US" sz="1400" i="1">
                          <a:effectLst/>
                          <a:latin typeface="Cambria Math" panose="02040503050406030204" pitchFamily="18" charset="0"/>
                          <a:ea typeface="Calibri" panose="020F0502020204030204" pitchFamily="34" charset="0"/>
                          <a:cs typeface="Times New Roman" panose="02020603050405020304" pitchFamily="18" charset="0"/>
                        </a:rPr>
                        <m:t>(</m:t>
                      </m:r>
                      <m:r>
                        <a:rPr lang="en-US" sz="1400" i="1">
                          <a:effectLst/>
                          <a:latin typeface="Cambria Math" panose="02040503050406030204" pitchFamily="18" charset="0"/>
                          <a:ea typeface="Calibri" panose="020F0502020204030204" pitchFamily="34" charset="0"/>
                          <a:cs typeface="Times New Roman" panose="02020603050405020304" pitchFamily="18" charset="0"/>
                        </a:rPr>
                        <m:t>𝑧</m:t>
                      </m:r>
                      <m:r>
                        <a:rPr lang="en-US" sz="1400" i="1">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400" dirty="0">
                  <a:effectLst/>
                  <a:ea typeface="Times New Roman" panose="02020603050405020304" pitchFamily="18" charset="0"/>
                  <a:cs typeface="Times New Roman" panose="02020603050405020304" pitchFamily="18" charset="0"/>
                </a:endParaRPr>
              </a:p>
              <a:p>
                <a:pPr algn="ctr">
                  <a:lnSpc>
                    <a:spcPct val="150000"/>
                  </a:lnSpc>
                </a:pPr>
                <a:r>
                  <a:rPr lang="en-US" sz="1400" dirty="0">
                    <a:effectLst/>
                    <a:ea typeface="Times New Roman" panose="02020603050405020304" pitchFamily="18" charset="0"/>
                    <a:cs typeface="Times New Roman" panose="02020603050405020304" pitchFamily="18" charset="0"/>
                  </a:rPr>
                  <a:t>The energy of a Hopfield network is the summation of each neuron multiplied by its weighted sum and divided by 2 because of its symmetry. </a:t>
                </a:r>
              </a:p>
              <a:p>
                <a:pPr algn="ctr">
                  <a:lnSpc>
                    <a:spcPct val="150000"/>
                  </a:lnSpc>
                </a:pPr>
                <a:r>
                  <a:rPr lang="en-US" sz="1400" dirty="0">
                    <a:effectLst/>
                    <a:ea typeface="Times New Roman" panose="02020603050405020304" pitchFamily="18" charset="0"/>
                    <a:cs typeface="Times New Roman" panose="02020603050405020304" pitchFamily="18" charset="0"/>
                  </a:rPr>
                  <a:t>If a network comprises N neurons, the energy function would then be n-dimensional and the energy function decreases when a neuron is fired. </a:t>
                </a:r>
                <a:endParaRPr lang="en-NG" sz="1400" dirty="0">
                  <a:effectLst/>
                  <a:ea typeface="Calibri" panose="020F0502020204030204" pitchFamily="34" charset="0"/>
                  <a:cs typeface="Times New Roman" panose="020206030504050203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a:rPr lang="en-US" sz="1400" i="1">
                          <a:effectLst/>
                          <a:ea typeface="Times New Roman" panose="02020603050405020304" pitchFamily="18" charset="0"/>
                          <a:cs typeface="Times New Roman" panose="02020603050405020304" pitchFamily="18" charset="0"/>
                        </a:rPr>
                        <m:t>𝛦</m:t>
                      </m:r>
                      <m:r>
                        <a:rPr lang="en-US" sz="1400" i="1">
                          <a:effectLst/>
                          <a:ea typeface="Times New Roman" panose="02020603050405020304" pitchFamily="18" charset="0"/>
                          <a:cs typeface="Times New Roman" panose="02020603050405020304" pitchFamily="18" charset="0"/>
                        </a:rPr>
                        <m:t>= −</m:t>
                      </m:r>
                      <m:f>
                        <m:fPr>
                          <m:ctrlPr>
                            <a:rPr lang="en-NG" sz="1400" i="1">
                              <a:effectLst/>
                              <a:ea typeface="Times New Roman" panose="02020603050405020304" pitchFamily="18" charset="0"/>
                              <a:cs typeface="Times New Roman" panose="02020603050405020304" pitchFamily="18" charset="0"/>
                            </a:rPr>
                          </m:ctrlPr>
                        </m:fPr>
                        <m:num>
                          <m:r>
                            <a:rPr lang="en-US" sz="1400" i="1">
                              <a:effectLst/>
                              <a:ea typeface="Times New Roman" panose="02020603050405020304" pitchFamily="18" charset="0"/>
                              <a:cs typeface="Times New Roman" panose="02020603050405020304" pitchFamily="18" charset="0"/>
                            </a:rPr>
                            <m:t>1</m:t>
                          </m:r>
                        </m:num>
                        <m:den>
                          <m:r>
                            <a:rPr lang="en-US" sz="1400" i="1">
                              <a:effectLst/>
                              <a:ea typeface="Times New Roman" panose="02020603050405020304" pitchFamily="18" charset="0"/>
                              <a:cs typeface="Times New Roman" panose="02020603050405020304" pitchFamily="18" charset="0"/>
                            </a:rPr>
                            <m:t>2</m:t>
                          </m:r>
                        </m:den>
                      </m:f>
                      <m:nary>
                        <m:naryPr>
                          <m:chr m:val="∑"/>
                          <m:limLoc m:val="undOvr"/>
                          <m:supHide m:val="on"/>
                          <m:ctrlPr>
                            <a:rPr lang="en-NG" sz="1400" i="1">
                              <a:effectLst/>
                              <a:ea typeface="Times New Roman" panose="02020603050405020304" pitchFamily="18" charset="0"/>
                              <a:cs typeface="Times New Roman" panose="02020603050405020304" pitchFamily="18" charset="0"/>
                            </a:rPr>
                          </m:ctrlPr>
                        </m:naryPr>
                        <m:sub>
                          <m:r>
                            <a:rPr lang="en-US" sz="1400" i="1">
                              <a:effectLst/>
                              <a:ea typeface="Times New Roman" panose="02020603050405020304" pitchFamily="18" charset="0"/>
                              <a:cs typeface="Times New Roman" panose="02020603050405020304" pitchFamily="18" charset="0"/>
                            </a:rPr>
                            <m:t>𝑖</m:t>
                          </m:r>
                        </m:sub>
                        <m:sup/>
                        <m:e>
                          <m:sSub>
                            <m:sSubPr>
                              <m:ctrlPr>
                                <a:rPr lang="en-NG" sz="1400" i="1">
                                  <a:effectLst/>
                                  <a:ea typeface="Calibri" panose="020F0502020204030204" pitchFamily="34" charset="0"/>
                                  <a:cs typeface="Times New Roman" panose="02020603050405020304" pitchFamily="18" charset="0"/>
                                </a:rPr>
                              </m:ctrlPr>
                            </m:sSubPr>
                            <m:e>
                              <m:r>
                                <a:rPr lang="en-US" sz="1400" i="1">
                                  <a:effectLst/>
                                  <a:ea typeface="Calibri" panose="020F0502020204030204" pitchFamily="34" charset="0"/>
                                  <a:cs typeface="Times New Roman" panose="02020603050405020304" pitchFamily="18" charset="0"/>
                                </a:rPr>
                                <m:t>𝑥</m:t>
                              </m:r>
                            </m:e>
                            <m:sub>
                              <m:r>
                                <a:rPr lang="en-US" sz="1400" i="1">
                                  <a:effectLst/>
                                  <a:ea typeface="Calibri" panose="020F0502020204030204" pitchFamily="34" charset="0"/>
                                  <a:cs typeface="Times New Roman" panose="02020603050405020304" pitchFamily="18" charset="0"/>
                                </a:rPr>
                                <m:t>𝑖</m:t>
                              </m:r>
                            </m:sub>
                          </m:sSub>
                        </m:e>
                      </m:nary>
                      <m:r>
                        <a:rPr lang="en-US" sz="1400" i="1">
                          <a:effectLst/>
                          <a:ea typeface="Times New Roman" panose="02020603050405020304" pitchFamily="18" charset="0"/>
                          <a:cs typeface="Times New Roman" panose="02020603050405020304" pitchFamily="18" charset="0"/>
                        </a:rPr>
                        <m:t>(</m:t>
                      </m:r>
                      <m:nary>
                        <m:naryPr>
                          <m:chr m:val="∑"/>
                          <m:limLoc m:val="undOvr"/>
                          <m:supHide m:val="on"/>
                          <m:ctrlPr>
                            <a:rPr lang="en-NG" sz="1400" i="1">
                              <a:effectLst/>
                              <a:ea typeface="Times New Roman" panose="02020603050405020304" pitchFamily="18" charset="0"/>
                              <a:cs typeface="Times New Roman" panose="02020603050405020304" pitchFamily="18" charset="0"/>
                            </a:rPr>
                          </m:ctrlPr>
                        </m:naryPr>
                        <m:sub>
                          <m:r>
                            <a:rPr lang="en-US" sz="1400" i="1">
                              <a:effectLst/>
                              <a:ea typeface="Times New Roman" panose="02020603050405020304" pitchFamily="18" charset="0"/>
                              <a:cs typeface="Times New Roman" panose="02020603050405020304" pitchFamily="18" charset="0"/>
                            </a:rPr>
                            <m:t>𝑗</m:t>
                          </m:r>
                          <m:r>
                            <a:rPr lang="en-US" sz="1400" i="1">
                              <a:effectLst/>
                              <a:ea typeface="Times New Roman" panose="02020603050405020304" pitchFamily="18" charset="0"/>
                              <a:cs typeface="Times New Roman" panose="02020603050405020304" pitchFamily="18" charset="0"/>
                            </a:rPr>
                            <m:t> ≠</m:t>
                          </m:r>
                          <m:r>
                            <a:rPr lang="en-US" sz="1400" i="1">
                              <a:effectLst/>
                              <a:ea typeface="Times New Roman" panose="02020603050405020304" pitchFamily="18" charset="0"/>
                              <a:cs typeface="Times New Roman" panose="02020603050405020304" pitchFamily="18" charset="0"/>
                            </a:rPr>
                            <m:t>𝑖</m:t>
                          </m:r>
                        </m:sub>
                        <m:sup/>
                        <m:e>
                          <m:sSub>
                            <m:sSubPr>
                              <m:ctrlPr>
                                <a:rPr lang="en-NG" sz="1400" i="1">
                                  <a:effectLst/>
                                  <a:ea typeface="Calibri" panose="020F0502020204030204" pitchFamily="34" charset="0"/>
                                  <a:cs typeface="Times New Roman" panose="02020603050405020304" pitchFamily="18" charset="0"/>
                                </a:rPr>
                              </m:ctrlPr>
                            </m:sSubPr>
                            <m:e>
                              <m:r>
                                <a:rPr lang="en-US" sz="1400" i="1">
                                  <a:effectLst/>
                                  <a:ea typeface="Times New Roman" panose="02020603050405020304" pitchFamily="18" charset="0"/>
                                  <a:cs typeface="Times New Roman" panose="02020603050405020304" pitchFamily="18" charset="0"/>
                                </a:rPr>
                                <m:t>𝜔</m:t>
                              </m:r>
                            </m:e>
                            <m:sub>
                              <m:r>
                                <a:rPr lang="en-US" sz="1400" i="1">
                                  <a:effectLst/>
                                  <a:ea typeface="Calibri" panose="020F0502020204030204" pitchFamily="34" charset="0"/>
                                  <a:cs typeface="Times New Roman" panose="02020603050405020304" pitchFamily="18" charset="0"/>
                                </a:rPr>
                                <m:t>𝑖𝑗</m:t>
                              </m:r>
                            </m:sub>
                          </m:sSub>
                          <m:sSub>
                            <m:sSubPr>
                              <m:ctrlPr>
                                <a:rPr lang="en-NG" sz="1400" i="1">
                                  <a:effectLst/>
                                  <a:ea typeface="Calibri" panose="020F0502020204030204" pitchFamily="34" charset="0"/>
                                  <a:cs typeface="Times New Roman" panose="02020603050405020304" pitchFamily="18" charset="0"/>
                                </a:rPr>
                              </m:ctrlPr>
                            </m:sSubPr>
                            <m:e>
                              <m:r>
                                <a:rPr lang="en-US" sz="1400" i="1">
                                  <a:effectLst/>
                                  <a:ea typeface="Calibri" panose="020F0502020204030204" pitchFamily="34" charset="0"/>
                                  <a:cs typeface="Times New Roman" panose="02020603050405020304" pitchFamily="18" charset="0"/>
                                </a:rPr>
                                <m:t>𝑥</m:t>
                              </m:r>
                            </m:e>
                            <m:sub>
                              <m:r>
                                <a:rPr lang="en-US" sz="1400" i="1">
                                  <a:effectLst/>
                                  <a:ea typeface="Calibri" panose="020F0502020204030204" pitchFamily="34" charset="0"/>
                                  <a:cs typeface="Times New Roman" panose="02020603050405020304" pitchFamily="18" charset="0"/>
                                </a:rPr>
                                <m:t>𝑗</m:t>
                              </m:r>
                            </m:sub>
                          </m:sSub>
                        </m:e>
                      </m:nary>
                      <m:r>
                        <a:rPr lang="en-US" sz="1400" i="1">
                          <a:effectLst/>
                          <a:ea typeface="Times New Roman" panose="02020603050405020304" pitchFamily="18" charset="0"/>
                          <a:cs typeface="Times New Roman" panose="02020603050405020304" pitchFamily="18" charset="0"/>
                        </a:rPr>
                        <m:t>)</m:t>
                      </m:r>
                    </m:oMath>
                  </m:oMathPara>
                </a14:m>
                <a:endParaRPr lang="en-NG" sz="1400" dirty="0">
                  <a:effectLst/>
                  <a:ea typeface="Calibri" panose="020F0502020204030204" pitchFamily="34" charset="0"/>
                  <a:cs typeface="Times New Roman" panose="02020603050405020304" pitchFamily="18" charset="0"/>
                </a:endParaRPr>
              </a:p>
              <a:p>
                <a:pPr marL="0" indent="0" algn="ctr">
                  <a:lnSpc>
                    <a:spcPct val="150000"/>
                  </a:lnSpc>
                  <a:buNone/>
                </a:pPr>
                <a:endParaRPr lang="en-NG" sz="1400" dirty="0">
                  <a:effectLst/>
                  <a:ea typeface="Calibri" panose="020F0502020204030204" pitchFamily="34" charset="0"/>
                  <a:cs typeface="Times New Roman" panose="02020603050405020304" pitchFamily="18" charset="0"/>
                </a:endParaRPr>
              </a:p>
            </p:txBody>
          </p:sp>
        </mc:Choice>
        <mc:Fallback>
          <p:sp>
            <p:nvSpPr>
              <p:cNvPr id="13" name="TextBox 12">
                <a:extLst>
                  <a:ext uri="{FF2B5EF4-FFF2-40B4-BE49-F238E27FC236}">
                    <a16:creationId xmlns:a16="http://schemas.microsoft.com/office/drawing/2014/main" id="{C0545837-7445-4E57-ADDF-6731CDA4CAA7}"/>
                  </a:ext>
                </a:extLst>
              </p:cNvPr>
              <p:cNvSpPr txBox="1">
                <a:spLocks noRot="1" noChangeAspect="1" noMove="1" noResize="1" noEditPoints="1" noAdjustHandles="1" noChangeArrowheads="1" noChangeShapeType="1" noTextEdit="1"/>
              </p:cNvSpPr>
              <p:nvPr/>
            </p:nvSpPr>
            <p:spPr>
              <a:xfrm>
                <a:off x="7711440" y="2224449"/>
                <a:ext cx="3667760" cy="4759380"/>
              </a:xfrm>
              <a:prstGeom prst="rect">
                <a:avLst/>
              </a:prstGeom>
              <a:blipFill>
                <a:blip r:embed="rId5"/>
                <a:stretch>
                  <a:fillRect b="-14362"/>
                </a:stretch>
              </a:blipFill>
            </p:spPr>
            <p:txBody>
              <a:bodyPr/>
              <a:lstStyle/>
              <a:p>
                <a:r>
                  <a:rPr lang="en-NG">
                    <a:noFill/>
                  </a:rPr>
                  <a:t> </a:t>
                </a:r>
              </a:p>
            </p:txBody>
          </p:sp>
        </mc:Fallback>
      </mc:AlternateContent>
    </p:spTree>
    <p:extLst>
      <p:ext uri="{BB962C8B-B14F-4D97-AF65-F5344CB8AC3E}">
        <p14:creationId xmlns:p14="http://schemas.microsoft.com/office/powerpoint/2010/main" val="1847182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CB4C984-39A1-0DC9-ABAA-8399C878AA10}"/>
                  </a:ext>
                </a:extLst>
              </p:cNvPr>
              <p:cNvSpPr txBox="1"/>
              <p:nvPr/>
            </p:nvSpPr>
            <p:spPr>
              <a:xfrm>
                <a:off x="193040" y="1237714"/>
                <a:ext cx="11805920" cy="702308"/>
              </a:xfrm>
              <a:prstGeom prst="rect">
                <a:avLst/>
              </a:prstGeom>
              <a:noFill/>
            </p:spPr>
            <p:txBody>
              <a:bodyPr wrap="square">
                <a:spAutoFit/>
              </a:bodyPr>
              <a:lstStyle/>
              <a:p>
                <a:pPr algn="just">
                  <a:lnSpc>
                    <a:spcPct val="150000"/>
                  </a:lnSpc>
                </a:pPr>
                <a:r>
                  <a:rPr lang="en-US" sz="1400" dirty="0">
                    <a:effectLst/>
                    <a:ea typeface="Times New Roman" panose="02020603050405020304" pitchFamily="18" charset="0"/>
                    <a:cs typeface="Times New Roman" panose="02020603050405020304" pitchFamily="18" charset="0"/>
                  </a:rPr>
                  <a:t>Let’s take an example to adequately highlight the Hebbian learning as well as the Hopfield network. In Hopfield Network, (+1) depicts a fired neuron and (-1) an unfired neuron. We assume N = 3 neurons with values of </a:t>
                </a:r>
                <a14:m>
                  <m:oMath xmlns:m="http://schemas.openxmlformats.org/officeDocument/2006/math">
                    <m:sSub>
                      <m:sSubPr>
                        <m:ctrlPr>
                          <a:rPr lang="en-NG" sz="1400" i="1">
                            <a:effectLst/>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lang="en-US" sz="1400">
                            <a:effectLst/>
                            <a:latin typeface="Cambria Math" panose="02040503050406030204" pitchFamily="18" charset="0"/>
                            <a:ea typeface="Calibri" panose="020F0502020204030204" pitchFamily="34" charset="0"/>
                            <a:cs typeface="Times New Roman" panose="02020603050405020304" pitchFamily="18" charset="0"/>
                          </a:rPr>
                          <m:t>x</m:t>
                        </m:r>
                      </m:e>
                      <m:sub>
                        <m:r>
                          <a:rPr lang="en-US" sz="1400">
                            <a:effectLst/>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sz="1400" dirty="0">
                    <a:effectLst/>
                    <a:ea typeface="Times New Roman" panose="02020603050405020304" pitchFamily="18" charset="0"/>
                    <a:cs typeface="Times New Roman" panose="02020603050405020304" pitchFamily="18" charset="0"/>
                  </a:rPr>
                  <a:t>, </a:t>
                </a:r>
                <a14:m>
                  <m:oMath xmlns:m="http://schemas.openxmlformats.org/officeDocument/2006/math">
                    <m:sSub>
                      <m:sSubPr>
                        <m:ctrlPr>
                          <a:rPr lang="en-NG" sz="1400" i="1">
                            <a:effectLst/>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lang="en-US" sz="1400">
                            <a:effectLst/>
                            <a:latin typeface="Cambria Math" panose="02040503050406030204" pitchFamily="18" charset="0"/>
                            <a:ea typeface="Calibri" panose="020F0502020204030204" pitchFamily="34" charset="0"/>
                            <a:cs typeface="Times New Roman" panose="02020603050405020304" pitchFamily="18" charset="0"/>
                          </a:rPr>
                          <m:t>x</m:t>
                        </m:r>
                      </m:e>
                      <m:sub>
                        <m:r>
                          <a:rPr lang="en-US" sz="1400">
                            <a:effectLst/>
                            <a:latin typeface="Cambria Math" panose="02040503050406030204" pitchFamily="18" charset="0"/>
                            <a:ea typeface="Calibri" panose="020F0502020204030204" pitchFamily="34" charset="0"/>
                            <a:cs typeface="Times New Roman" panose="02020603050405020304" pitchFamily="18" charset="0"/>
                          </a:rPr>
                          <m:t>2</m:t>
                        </m:r>
                      </m:sub>
                    </m:sSub>
                  </m:oMath>
                </a14:m>
                <a:r>
                  <a:rPr lang="en-US" sz="1400" dirty="0">
                    <a:effectLst/>
                    <a:ea typeface="Times New Roman" panose="02020603050405020304" pitchFamily="18" charset="0"/>
                    <a:cs typeface="Times New Roman" panose="02020603050405020304" pitchFamily="18" charset="0"/>
                  </a:rPr>
                  <a:t>, </a:t>
                </a:r>
                <a14:m>
                  <m:oMath xmlns:m="http://schemas.openxmlformats.org/officeDocument/2006/math">
                    <m:sSub>
                      <m:sSubPr>
                        <m:ctrlPr>
                          <a:rPr lang="en-NG" sz="1400" i="1">
                            <a:effectLst/>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lang="en-US" sz="1400">
                            <a:effectLst/>
                            <a:latin typeface="Cambria Math" panose="02040503050406030204" pitchFamily="18" charset="0"/>
                            <a:ea typeface="Calibri" panose="020F0502020204030204" pitchFamily="34" charset="0"/>
                            <a:cs typeface="Times New Roman" panose="02020603050405020304" pitchFamily="18" charset="0"/>
                          </a:rPr>
                          <m:t>x</m:t>
                        </m:r>
                      </m:e>
                      <m:sub>
                        <m:r>
                          <a:rPr lang="en-US" sz="1400">
                            <a:effectLst/>
                            <a:latin typeface="Cambria Math" panose="02040503050406030204" pitchFamily="18" charset="0"/>
                            <a:ea typeface="Calibri" panose="020F0502020204030204" pitchFamily="34" charset="0"/>
                            <a:cs typeface="Times New Roman" panose="02020603050405020304" pitchFamily="18" charset="0"/>
                          </a:rPr>
                          <m:t>3</m:t>
                        </m:r>
                      </m:sub>
                    </m:sSub>
                  </m:oMath>
                </a14:m>
                <a:r>
                  <a:rPr lang="en-US" sz="1400" dirty="0">
                    <a:effectLst/>
                    <a:ea typeface="Times New Roman" panose="02020603050405020304" pitchFamily="18" charset="0"/>
                    <a:cs typeface="Times New Roman" panose="02020603050405020304" pitchFamily="18" charset="0"/>
                  </a:rPr>
                  <a:t>, to be [1,-1,1] respectively, then;</a:t>
                </a:r>
                <a:endParaRPr lang="en-NG" sz="1400" dirty="0">
                  <a:effectLst/>
                  <a:ea typeface="Calibri" panose="020F0502020204030204" pitchFamily="34" charset="0"/>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6CB4C984-39A1-0DC9-ABAA-8399C878AA10}"/>
                  </a:ext>
                </a:extLst>
              </p:cNvPr>
              <p:cNvSpPr txBox="1">
                <a:spLocks noRot="1" noChangeAspect="1" noMove="1" noResize="1" noEditPoints="1" noAdjustHandles="1" noChangeArrowheads="1" noChangeShapeType="1" noTextEdit="1"/>
              </p:cNvSpPr>
              <p:nvPr/>
            </p:nvSpPr>
            <p:spPr>
              <a:xfrm>
                <a:off x="193040" y="1237714"/>
                <a:ext cx="11805920" cy="702308"/>
              </a:xfrm>
              <a:prstGeom prst="rect">
                <a:avLst/>
              </a:prstGeom>
              <a:blipFill>
                <a:blip r:embed="rId2"/>
                <a:stretch>
                  <a:fillRect l="-215" r="-215" b="-7143"/>
                </a:stretch>
              </a:blipFill>
            </p:spPr>
            <p:txBody>
              <a:bodyPr/>
              <a:lstStyle/>
              <a:p>
                <a:r>
                  <a:rPr lang="en-NG">
                    <a:noFill/>
                  </a:rPr>
                  <a:t> </a:t>
                </a:r>
              </a:p>
            </p:txBody>
          </p:sp>
        </mc:Fallback>
      </mc:AlternateContent>
      <p:sp>
        <p:nvSpPr>
          <p:cNvPr id="5" name="TextBox 4">
            <a:extLst>
              <a:ext uri="{FF2B5EF4-FFF2-40B4-BE49-F238E27FC236}">
                <a16:creationId xmlns:a16="http://schemas.microsoft.com/office/drawing/2014/main" id="{73DAC4A5-A2A7-01C6-67C8-47857CC43ABA}"/>
              </a:ext>
            </a:extLst>
          </p:cNvPr>
          <p:cNvSpPr txBox="1"/>
          <p:nvPr/>
        </p:nvSpPr>
        <p:spPr>
          <a:xfrm>
            <a:off x="3159760" y="714494"/>
            <a:ext cx="6096000" cy="523220"/>
          </a:xfrm>
          <a:prstGeom prst="rect">
            <a:avLst/>
          </a:prstGeom>
          <a:noFill/>
        </p:spPr>
        <p:txBody>
          <a:bodyPr wrap="square">
            <a:spAutoFit/>
          </a:bodyPr>
          <a:lstStyle/>
          <a:p>
            <a:pPr algn="ctr"/>
            <a:r>
              <a:rPr lang="en-NG" sz="2800" dirty="0">
                <a:latin typeface="+mj-lt"/>
              </a:rPr>
              <a:t>HOPFIELD NETWORK CONT’D</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29A0C614-391B-B815-57B6-080EA994B267}"/>
                  </a:ext>
                </a:extLst>
              </p:cNvPr>
              <p:cNvSpPr txBox="1"/>
              <p:nvPr/>
            </p:nvSpPr>
            <p:spPr>
              <a:xfrm>
                <a:off x="91440" y="2100139"/>
                <a:ext cx="2946400" cy="2103140"/>
              </a:xfrm>
              <a:prstGeom prst="rect">
                <a:avLst/>
              </a:prstGeom>
              <a:noFill/>
            </p:spPr>
            <p:txBody>
              <a:bodyPr wrap="square">
                <a:spAutoFit/>
              </a:bodyPr>
              <a:lstStyle/>
              <a:p>
                <a:pPr algn="ctr">
                  <a:lnSpc>
                    <a:spcPct val="150000"/>
                  </a:lnSpc>
                </a:pPr>
                <a:r>
                  <a:rPr lang="en-US" sz="1400" dirty="0">
                    <a:ea typeface="Calibri" panose="020F0502020204030204" pitchFamily="34" charset="0"/>
                    <a:cs typeface="Times New Roman" panose="02020603050405020304" pitchFamily="18" charset="0"/>
                  </a:rPr>
                  <a:t>Learning the pattern </a:t>
                </a:r>
              </a:p>
              <a:p>
                <a:pPr algn="ctr">
                  <a:lnSpc>
                    <a:spcPct val="150000"/>
                  </a:lnSpc>
                </a:pPr>
                <a:r>
                  <a:rPr lang="en-US" sz="1400" dirty="0">
                    <a:ea typeface="Times New Roman" panose="02020603050405020304" pitchFamily="18" charset="0"/>
                    <a:cs typeface="Times New Roman" panose="02020603050405020304" pitchFamily="18" charset="0"/>
                  </a:rPr>
                  <a:t>p = [</a:t>
                </a:r>
                <a14:m>
                  <m:oMath xmlns:m="http://schemas.openxmlformats.org/officeDocument/2006/math">
                    <m:sSub>
                      <m:sSub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sz="1400">
                            <a:latin typeface="Cambria Math" panose="02040503050406030204" pitchFamily="18" charset="0"/>
                            <a:ea typeface="Times New Roman" panose="02020603050405020304" pitchFamily="18" charset="0"/>
                            <a:cs typeface="Times New Roman" panose="02020603050405020304" pitchFamily="18" charset="0"/>
                          </a:rPr>
                          <m:t>p</m:t>
                        </m:r>
                      </m:e>
                      <m:sub>
                        <m:r>
                          <a:rPr lang="en-US" sz="1400">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400">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1400">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sz="1400">
                                <a:latin typeface="Cambria Math" panose="02040503050406030204" pitchFamily="18" charset="0"/>
                                <a:ea typeface="Times New Roman" panose="02020603050405020304" pitchFamily="18" charset="0"/>
                                <a:cs typeface="Times New Roman" panose="02020603050405020304" pitchFamily="18" charset="0"/>
                              </a:rPr>
                              <m:t>p</m:t>
                            </m:r>
                          </m:e>
                          <m:sub>
                            <m:r>
                              <m:rPr>
                                <m:sty m:val="p"/>
                              </m:rPr>
                              <a:rPr lang="en-US" sz="1400">
                                <a:latin typeface="Cambria Math" panose="02040503050406030204" pitchFamily="18" charset="0"/>
                                <a:ea typeface="Times New Roman" panose="02020603050405020304" pitchFamily="18" charset="0"/>
                                <a:cs typeface="Times New Roman" panose="02020603050405020304" pitchFamily="18" charset="0"/>
                              </a:rPr>
                              <m:t>n</m:t>
                            </m:r>
                          </m:sub>
                        </m:sSub>
                        <m:r>
                          <a:rPr lang="en-US" sz="1400">
                            <a:latin typeface="Cambria Math" panose="02040503050406030204" pitchFamily="18" charset="0"/>
                            <a:ea typeface="Times New Roman" panose="02020603050405020304" pitchFamily="18" charset="0"/>
                            <a:cs typeface="Times New Roman" panose="02020603050405020304" pitchFamily="18" charset="0"/>
                          </a:rPr>
                          <m:t>]</m:t>
                        </m:r>
                      </m:e>
                      <m:sup>
                        <m:r>
                          <m:rPr>
                            <m:sty m:val="p"/>
                          </m:rPr>
                          <a:rPr lang="en-US" sz="1400">
                            <a:latin typeface="Cambria Math" panose="02040503050406030204" pitchFamily="18" charset="0"/>
                            <a:ea typeface="Times New Roman" panose="02020603050405020304" pitchFamily="18" charset="0"/>
                            <a:cs typeface="Times New Roman" panose="02020603050405020304" pitchFamily="18" charset="0"/>
                          </a:rPr>
                          <m:t>T</m:t>
                        </m:r>
                      </m:sup>
                    </m:sSup>
                  </m:oMath>
                </a14:m>
                <a:r>
                  <a:rPr lang="en-US" sz="1400" dirty="0">
                    <a:ea typeface="Times New Roman" panose="02020603050405020304" pitchFamily="18" charset="0"/>
                    <a:cs typeface="Times New Roman" panose="02020603050405020304" pitchFamily="18" charset="0"/>
                  </a:rPr>
                  <a:t> where </a:t>
                </a:r>
                <a14:m>
                  <m:oMath xmlns:m="http://schemas.openxmlformats.org/officeDocument/2006/math">
                    <m:sSub>
                      <m:sSubPr>
                        <m:ctrlPr>
                          <a:rPr lang="en-NG" sz="1400" i="1">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lang="en-US" sz="1400">
                            <a:latin typeface="Cambria Math" panose="02040503050406030204" pitchFamily="18" charset="0"/>
                            <a:ea typeface="Calibri" panose="020F0502020204030204" pitchFamily="34" charset="0"/>
                            <a:cs typeface="Times New Roman" panose="02020603050405020304" pitchFamily="18" charset="0"/>
                          </a:rPr>
                          <m:t>p</m:t>
                        </m:r>
                      </m:e>
                      <m:sub>
                        <m:r>
                          <m:rPr>
                            <m:sty m:val="p"/>
                          </m:rPr>
                          <a:rPr lang="en-US" sz="1400">
                            <a:latin typeface="Cambria Math" panose="02040503050406030204" pitchFamily="18" charset="0"/>
                            <a:ea typeface="Calibri" panose="020F0502020204030204" pitchFamily="34" charset="0"/>
                            <a:cs typeface="Times New Roman" panose="02020603050405020304" pitchFamily="18" charset="0"/>
                          </a:rPr>
                          <m:t>ij</m:t>
                        </m:r>
                      </m:sub>
                    </m:sSub>
                  </m:oMath>
                </a14:m>
                <a:r>
                  <a:rPr lang="en-US" sz="1400" dirty="0">
                    <a:ea typeface="Times New Roman" panose="02020603050405020304" pitchFamily="18" charset="0"/>
                    <a:cs typeface="Times New Roman" panose="02020603050405020304" pitchFamily="18" charset="0"/>
                  </a:rPr>
                  <a:t> = </a:t>
                </a:r>
                <a14:m>
                  <m:oMath xmlns:m="http://schemas.openxmlformats.org/officeDocument/2006/math">
                    <m:r>
                      <a:rPr lang="en-US" sz="1400">
                        <a:latin typeface="Cambria Math" panose="02040503050406030204" pitchFamily="18" charset="0"/>
                        <a:ea typeface="Times New Roman" panose="02020603050405020304" pitchFamily="18" charset="0"/>
                        <a:cs typeface="Times New Roman" panose="02020603050405020304" pitchFamily="18" charset="0"/>
                      </a:rPr>
                      <m:t>± 1</m:t>
                    </m:r>
                  </m:oMath>
                </a14:m>
                <a:endParaRPr lang="en-NG" sz="1400" dirty="0">
                  <a:ea typeface="Calibri" panose="020F0502020204030204" pitchFamily="34" charset="0"/>
                  <a:cs typeface="Times New Roman" panose="02020603050405020304" pitchFamily="18" charset="0"/>
                </a:endParaRPr>
              </a:p>
              <a:p>
                <a:pPr algn="ctr">
                  <a:lnSpc>
                    <a:spcPct val="150000"/>
                  </a:lnSpc>
                </a:pPr>
                <a:r>
                  <a:rPr lang="en-US" sz="1400" dirty="0">
                    <a:ea typeface="Times New Roman" panose="02020603050405020304" pitchFamily="18" charset="0"/>
                    <a:cs typeface="Times New Roman" panose="02020603050405020304" pitchFamily="18" charset="0"/>
                  </a:rPr>
                  <a:t>A learning rate fixed at,</a:t>
                </a:r>
              </a:p>
              <a:p>
                <a:pPr algn="ctr">
                  <a:lnSpc>
                    <a:spcPct val="150000"/>
                  </a:lnSpc>
                </a:pPr>
                <a14:m>
                  <m:oMathPara xmlns:m="http://schemas.openxmlformats.org/officeDocument/2006/math">
                    <m:oMathParaPr>
                      <m:jc m:val="centerGroup"/>
                    </m:oMathParaPr>
                    <m:oMath xmlns:m="http://schemas.openxmlformats.org/officeDocument/2006/math">
                      <m:r>
                        <m:rPr>
                          <m:sty m:val="p"/>
                        </m:rPr>
                        <a:rPr lang="en-US" sz="1400">
                          <a:latin typeface="Cambria Math" panose="02040503050406030204" pitchFamily="18" charset="0"/>
                          <a:ea typeface="Times New Roman" panose="02020603050405020304" pitchFamily="18" charset="0"/>
                          <a:cs typeface="Times New Roman" panose="02020603050405020304" pitchFamily="18" charset="0"/>
                        </a:rPr>
                        <m:t>ε</m:t>
                      </m:r>
                      <m:r>
                        <a:rPr lang="en-US" sz="1400">
                          <a:latin typeface="Cambria Math" panose="02040503050406030204" pitchFamily="18" charset="0"/>
                          <a:ea typeface="Times New Roman" panose="02020603050405020304" pitchFamily="18" charset="0"/>
                          <a:cs typeface="Times New Roman" panose="02020603050405020304" pitchFamily="18" charset="0"/>
                        </a:rPr>
                        <m:t>&gt;0</m:t>
                      </m:r>
                    </m:oMath>
                  </m:oMathPara>
                </a14:m>
                <a:endParaRPr lang="en-NG" sz="1400" dirty="0">
                  <a:ea typeface="Calibri" panose="020F0502020204030204" pitchFamily="34" charset="0"/>
                  <a:cs typeface="Times New Roman" panose="02020603050405020304" pitchFamily="18" charset="0"/>
                </a:endParaRPr>
              </a:p>
              <a:p>
                <a:pPr algn="ctr">
                  <a:lnSpc>
                    <a:spcPct val="150000"/>
                  </a:lnSpc>
                </a:pPr>
                <a:r>
                  <a:rPr lang="en-US" sz="1400" dirty="0">
                    <a:ea typeface="Times New Roman" panose="02020603050405020304" pitchFamily="18" charset="0"/>
                    <a:cs typeface="Times New Roman" panose="02020603050405020304" pitchFamily="18" charset="0"/>
                  </a:rPr>
                  <a:t>the synaptic weights updated </a:t>
                </a:r>
                <a14:m>
                  <m:oMath xmlns:m="http://schemas.openxmlformats.org/officeDocument/2006/math">
                    <m:sSubSup>
                      <m:sSubSup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SupPr>
                      <m:e>
                        <m:r>
                          <m:rPr>
                            <m:sty m:val="p"/>
                          </m:rPr>
                          <a:rPr lang="en-US" sz="1400">
                            <a:latin typeface="Cambria Math" panose="02040503050406030204" pitchFamily="18" charset="0"/>
                            <a:ea typeface="Times New Roman" panose="02020603050405020304" pitchFamily="18" charset="0"/>
                            <a:cs typeface="Times New Roman" panose="02020603050405020304" pitchFamily="18" charset="0"/>
                          </a:rPr>
                          <m:t>W</m:t>
                        </m:r>
                      </m:e>
                      <m:sub>
                        <m:r>
                          <m:rPr>
                            <m:sty m:val="p"/>
                          </m:rPr>
                          <a:rPr lang="en-US" sz="1400">
                            <a:latin typeface="Cambria Math" panose="02040503050406030204" pitchFamily="18" charset="0"/>
                            <a:ea typeface="Times New Roman" panose="02020603050405020304" pitchFamily="18" charset="0"/>
                            <a:cs typeface="Times New Roman" panose="02020603050405020304" pitchFamily="18" charset="0"/>
                          </a:rPr>
                          <m:t>ij</m:t>
                        </m:r>
                      </m:sub>
                      <m:sup>
                        <m:r>
                          <m:rPr>
                            <m:sty m:val="p"/>
                          </m:rPr>
                          <a:rPr lang="en-US" sz="1400">
                            <a:latin typeface="Cambria Math" panose="02040503050406030204" pitchFamily="18" charset="0"/>
                            <a:ea typeface="Times New Roman" panose="02020603050405020304" pitchFamily="18" charset="0"/>
                            <a:cs typeface="Times New Roman" panose="02020603050405020304" pitchFamily="18" charset="0"/>
                          </a:rPr>
                          <m:t>new</m:t>
                        </m:r>
                      </m:sup>
                    </m:sSubSup>
                  </m:oMath>
                </a14:m>
                <a:r>
                  <a:rPr lang="en-US" sz="1400" dirty="0">
                    <a:ea typeface="Times New Roman" panose="02020603050405020304" pitchFamily="18" charset="0"/>
                    <a:cs typeface="Times New Roman" panose="02020603050405020304" pitchFamily="18" charset="0"/>
                  </a:rPr>
                  <a:t> = </a:t>
                </a:r>
                <a14:m>
                  <m:oMath xmlns:m="http://schemas.openxmlformats.org/officeDocument/2006/math">
                    <m:sSubSup>
                      <m:sSubSup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SupPr>
                      <m:e>
                        <m:r>
                          <m:rPr>
                            <m:sty m:val="p"/>
                          </m:rPr>
                          <a:rPr lang="en-US" sz="1400">
                            <a:latin typeface="Cambria Math" panose="02040503050406030204" pitchFamily="18" charset="0"/>
                            <a:ea typeface="Times New Roman" panose="02020603050405020304" pitchFamily="18" charset="0"/>
                            <a:cs typeface="Times New Roman" panose="02020603050405020304" pitchFamily="18" charset="0"/>
                          </a:rPr>
                          <m:t>W</m:t>
                        </m:r>
                      </m:e>
                      <m:sub>
                        <m:r>
                          <m:rPr>
                            <m:sty m:val="p"/>
                          </m:rPr>
                          <a:rPr lang="en-US" sz="1400">
                            <a:latin typeface="Cambria Math" panose="02040503050406030204" pitchFamily="18" charset="0"/>
                            <a:ea typeface="Times New Roman" panose="02020603050405020304" pitchFamily="18" charset="0"/>
                            <a:cs typeface="Times New Roman" panose="02020603050405020304" pitchFamily="18" charset="0"/>
                          </a:rPr>
                          <m:t>ij</m:t>
                        </m:r>
                      </m:sub>
                      <m:sup>
                        <m:r>
                          <m:rPr>
                            <m:sty m:val="p"/>
                          </m:rPr>
                          <a:rPr lang="en-US" sz="1400">
                            <a:latin typeface="Cambria Math" panose="02040503050406030204" pitchFamily="18" charset="0"/>
                            <a:ea typeface="Times New Roman" panose="02020603050405020304" pitchFamily="18" charset="0"/>
                            <a:cs typeface="Times New Roman" panose="02020603050405020304" pitchFamily="18" charset="0"/>
                          </a:rPr>
                          <m:t>old</m:t>
                        </m:r>
                      </m:sup>
                    </m:sSubSup>
                  </m:oMath>
                </a14:m>
                <a:r>
                  <a:rPr lang="en-US" sz="1400" dirty="0">
                    <a:ea typeface="Times New Roman" panose="02020603050405020304" pitchFamily="18" charset="0"/>
                    <a:cs typeface="Times New Roman" panose="02020603050405020304" pitchFamily="18" charset="0"/>
                  </a:rPr>
                  <a:t> </a:t>
                </a:r>
                <a:r>
                  <a:rPr lang="en-US" sz="1400" baseline="-25000" dirty="0">
                    <a:ea typeface="Times New Roman" panose="02020603050405020304" pitchFamily="18" charset="0"/>
                    <a:cs typeface="Times New Roman" panose="02020603050405020304" pitchFamily="18" charset="0"/>
                  </a:rPr>
                  <a:t>+ </a:t>
                </a:r>
                <a14:m>
                  <m:oMath xmlns:m="http://schemas.openxmlformats.org/officeDocument/2006/math">
                    <m:r>
                      <m:rPr>
                        <m:sty m:val="p"/>
                      </m:rPr>
                      <a:rPr lang="en-US" sz="1400">
                        <a:latin typeface="Cambria Math" panose="02040503050406030204" pitchFamily="18" charset="0"/>
                        <a:ea typeface="Times New Roman" panose="02020603050405020304" pitchFamily="18" charset="0"/>
                        <a:cs typeface="Times New Roman" panose="02020603050405020304" pitchFamily="18" charset="0"/>
                      </a:rPr>
                      <m:t>ε</m:t>
                    </m:r>
                    <m:sSub>
                      <m:sSubPr>
                        <m:ctrlPr>
                          <a:rPr lang="en-NG" sz="1400" i="1">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lang="en-US" sz="1400">
                            <a:latin typeface="Cambria Math" panose="02040503050406030204" pitchFamily="18" charset="0"/>
                            <a:ea typeface="Calibri" panose="020F0502020204030204" pitchFamily="34" charset="0"/>
                            <a:cs typeface="Times New Roman" panose="02020603050405020304" pitchFamily="18" charset="0"/>
                          </a:rPr>
                          <m:t>p</m:t>
                        </m:r>
                      </m:e>
                      <m:sub>
                        <m:r>
                          <m:rPr>
                            <m:sty m:val="p"/>
                          </m:rPr>
                          <a:rPr lang="en-US" sz="1400">
                            <a:latin typeface="Cambria Math" panose="02040503050406030204" pitchFamily="18" charset="0"/>
                            <a:ea typeface="Calibri" panose="020F0502020204030204" pitchFamily="34" charset="0"/>
                            <a:cs typeface="Times New Roman" panose="02020603050405020304" pitchFamily="18" charset="0"/>
                          </a:rPr>
                          <m:t>i</m:t>
                        </m:r>
                      </m:sub>
                    </m:sSub>
                    <m:sSub>
                      <m:sSubPr>
                        <m:ctrlPr>
                          <a:rPr lang="en-NG" sz="1400" i="1">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lang="en-US" sz="1400">
                            <a:latin typeface="Cambria Math" panose="02040503050406030204" pitchFamily="18" charset="0"/>
                            <a:ea typeface="Calibri" panose="020F0502020204030204" pitchFamily="34" charset="0"/>
                            <a:cs typeface="Times New Roman" panose="02020603050405020304" pitchFamily="18" charset="0"/>
                          </a:rPr>
                          <m:t>p</m:t>
                        </m:r>
                      </m:e>
                      <m:sub>
                        <m:r>
                          <m:rPr>
                            <m:sty m:val="p"/>
                          </m:rPr>
                          <a:rPr lang="en-US" sz="1400">
                            <a:latin typeface="Cambria Math" panose="02040503050406030204" pitchFamily="18" charset="0"/>
                            <a:ea typeface="Calibri" panose="020F0502020204030204" pitchFamily="34" charset="0"/>
                            <a:cs typeface="Times New Roman" panose="02020603050405020304" pitchFamily="18" charset="0"/>
                          </a:rPr>
                          <m:t>j</m:t>
                        </m:r>
                      </m:sub>
                    </m:sSub>
                  </m:oMath>
                </a14:m>
                <a:endParaRPr lang="en-NG" sz="1400" dirty="0"/>
              </a:p>
            </p:txBody>
          </p:sp>
        </mc:Choice>
        <mc:Fallback>
          <p:sp>
            <p:nvSpPr>
              <p:cNvPr id="9" name="TextBox 8">
                <a:extLst>
                  <a:ext uri="{FF2B5EF4-FFF2-40B4-BE49-F238E27FC236}">
                    <a16:creationId xmlns:a16="http://schemas.microsoft.com/office/drawing/2014/main" id="{29A0C614-391B-B815-57B6-080EA994B267}"/>
                  </a:ext>
                </a:extLst>
              </p:cNvPr>
              <p:cNvSpPr txBox="1">
                <a:spLocks noRot="1" noChangeAspect="1" noMove="1" noResize="1" noEditPoints="1" noAdjustHandles="1" noChangeArrowheads="1" noChangeShapeType="1" noTextEdit="1"/>
              </p:cNvSpPr>
              <p:nvPr/>
            </p:nvSpPr>
            <p:spPr>
              <a:xfrm>
                <a:off x="91440" y="2100139"/>
                <a:ext cx="2946400" cy="2103140"/>
              </a:xfrm>
              <a:prstGeom prst="rect">
                <a:avLst/>
              </a:prstGeom>
              <a:blipFill>
                <a:blip r:embed="rId3"/>
                <a:stretch>
                  <a:fillRect/>
                </a:stretch>
              </a:blipFill>
            </p:spPr>
            <p:txBody>
              <a:bodyPr/>
              <a:lstStyle/>
              <a:p>
                <a:r>
                  <a:rPr lang="en-NG">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A5F2605-97DB-987F-704B-38E6C7551D41}"/>
                  </a:ext>
                </a:extLst>
              </p:cNvPr>
              <p:cNvSpPr txBox="1"/>
              <p:nvPr/>
            </p:nvSpPr>
            <p:spPr>
              <a:xfrm>
                <a:off x="3037840" y="1969964"/>
                <a:ext cx="3881120" cy="3392532"/>
              </a:xfrm>
              <a:prstGeom prst="rect">
                <a:avLst/>
              </a:prstGeom>
              <a:noFill/>
            </p:spPr>
            <p:txBody>
              <a:bodyPr wrap="square">
                <a:spAutoFit/>
              </a:bodyPr>
              <a:lstStyle/>
              <a:p>
                <a:pPr algn="just">
                  <a:lnSpc>
                    <a:spcPct val="150000"/>
                  </a:lnSpc>
                </a:pPr>
                <a14:m>
                  <m:oMath xmlns:m="http://schemas.openxmlformats.org/officeDocument/2006/math">
                    <m:r>
                      <m:rPr>
                        <m:sty m:val="p"/>
                      </m:rPr>
                      <a:rPr lang="en-US" sz="1400">
                        <a:latin typeface="Cambria Math" panose="02040503050406030204" pitchFamily="18" charset="0"/>
                        <a:ea typeface="Times New Roman" panose="02020603050405020304" pitchFamily="18" charset="0"/>
                        <a:cs typeface="Times New Roman" panose="02020603050405020304" pitchFamily="18" charset="0"/>
                      </a:rPr>
                      <m:t>p</m:t>
                    </m:r>
                    <m:r>
                      <a:rPr lang="en-US" sz="1400">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pPr>
                      <m:e>
                        <m:r>
                          <m:rPr>
                            <m:sty m:val="p"/>
                          </m:rPr>
                          <a:rPr lang="en-US" sz="1400">
                            <a:latin typeface="Cambria Math" panose="02040503050406030204" pitchFamily="18" charset="0"/>
                            <a:ea typeface="Times New Roman" panose="02020603050405020304" pitchFamily="18" charset="0"/>
                            <a:cs typeface="Times New Roman" panose="02020603050405020304" pitchFamily="18" charset="0"/>
                          </a:rPr>
                          <m:t>p</m:t>
                        </m:r>
                      </m:e>
                      <m:sup>
                        <m:r>
                          <m:rPr>
                            <m:sty m:val="p"/>
                          </m:rPr>
                          <a:rPr lang="en-US" sz="1400">
                            <a:latin typeface="Cambria Math" panose="02040503050406030204" pitchFamily="18" charset="0"/>
                            <a:ea typeface="Times New Roman" panose="02020603050405020304" pitchFamily="18" charset="0"/>
                            <a:cs typeface="Times New Roman" panose="02020603050405020304" pitchFamily="18" charset="0"/>
                          </a:rPr>
                          <m:t>T</m:t>
                        </m:r>
                      </m:sup>
                    </m:sSup>
                  </m:oMath>
                </a14:m>
                <a:r>
                  <a:rPr lang="en-US" sz="1400" dirty="0">
                    <a:ea typeface="Times New Roman" panose="02020603050405020304" pitchFamily="18" charset="0"/>
                    <a:cs typeface="Times New Roman" panose="02020603050405020304" pitchFamily="18" charset="0"/>
                  </a:rPr>
                  <a:t> = [</a:t>
                </a:r>
                <a14:m>
                  <m:oMath xmlns:m="http://schemas.openxmlformats.org/officeDocument/2006/math">
                    <m:m>
                      <m:mPr>
                        <m:mcs>
                          <m:mc>
                            <m:mcPr>
                              <m:count m:val="1"/>
                              <m:mcJc m:val="center"/>
                            </m:mcPr>
                          </m:mc>
                        </m:mcs>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NG" sz="1400">
                                  <a:latin typeface="Cambria Math" panose="02040503050406030204" pitchFamily="18" charset="0"/>
                                  <a:ea typeface="Times New Roman" panose="02020603050405020304" pitchFamily="18" charset="0"/>
                                  <a:cs typeface="Times New Roman" panose="02020603050405020304" pitchFamily="18" charset="0"/>
                                </a:rPr>
                                <m:t>p</m:t>
                              </m:r>
                            </m:e>
                            <m:sub>
                              <m:r>
                                <a:rPr lang="en-NG" sz="1400">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NG" sz="1400">
                                  <a:latin typeface="Cambria Math" panose="02040503050406030204" pitchFamily="18" charset="0"/>
                                  <a:ea typeface="Times New Roman" panose="02020603050405020304" pitchFamily="18" charset="0"/>
                                  <a:cs typeface="Times New Roman" panose="02020603050405020304" pitchFamily="18" charset="0"/>
                                </a:rPr>
                                <m:t>p</m:t>
                              </m:r>
                            </m:e>
                            <m:sub>
                              <m:r>
                                <a:rPr lang="en-NG" sz="1400">
                                  <a:latin typeface="Cambria Math" panose="02040503050406030204" pitchFamily="18" charset="0"/>
                                  <a:ea typeface="Times New Roman" panose="02020603050405020304" pitchFamily="18" charset="0"/>
                                  <a:cs typeface="Times New Roman" panose="02020603050405020304" pitchFamily="18" charset="0"/>
                                </a:rPr>
                                <m:t>2</m:t>
                              </m:r>
                            </m:sub>
                          </m:sSub>
                        </m:e>
                      </m:mr>
                      <m:mr>
                        <m:e>
                          <m:sSub>
                            <m:sSub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NG" sz="1400">
                                  <a:latin typeface="Cambria Math" panose="02040503050406030204" pitchFamily="18" charset="0"/>
                                  <a:ea typeface="Times New Roman" panose="02020603050405020304" pitchFamily="18" charset="0"/>
                                  <a:cs typeface="Times New Roman" panose="02020603050405020304" pitchFamily="18" charset="0"/>
                                </a:rPr>
                                <m:t>p</m:t>
                              </m:r>
                            </m:e>
                            <m:sub>
                              <m:r>
                                <a:rPr lang="en-NG" sz="1400">
                                  <a:latin typeface="Cambria Math" panose="02040503050406030204" pitchFamily="18" charset="0"/>
                                  <a:ea typeface="Times New Roman" panose="02020603050405020304" pitchFamily="18" charset="0"/>
                                  <a:cs typeface="Times New Roman" panose="02020603050405020304" pitchFamily="18" charset="0"/>
                                </a:rPr>
                                <m:t>3</m:t>
                              </m:r>
                            </m:sub>
                          </m:sSub>
                        </m:e>
                      </m:mr>
                    </m:m>
                    <m:r>
                      <a:rPr lang="en-US" sz="1400">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400" dirty="0">
                    <a:ea typeface="Times New Roman" panose="02020603050405020304" pitchFamily="18" charset="0"/>
                    <a:cs typeface="Times New Roman" panose="02020603050405020304" pitchFamily="18" charset="0"/>
                  </a:rPr>
                  <a:t>= [</a:t>
                </a:r>
                <a14:m>
                  <m:oMath xmlns:m="http://schemas.openxmlformats.org/officeDocument/2006/math">
                    <m:m>
                      <m:mPr>
                        <m:mcs>
                          <m:mc>
                            <m:mcPr>
                              <m:count m:val="1"/>
                              <m:mcJc m:val="center"/>
                            </m:mcPr>
                          </m:mc>
                        </m:mcs>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mPr>
                      <m:mr>
                        <m:e>
                          <m:r>
                            <a:rPr lang="en-US" sz="1400">
                              <a:latin typeface="Cambria Math" panose="02040503050406030204" pitchFamily="18" charset="0"/>
                              <a:ea typeface="Times New Roman" panose="02020603050405020304" pitchFamily="18" charset="0"/>
                              <a:cs typeface="Times New Roman" panose="02020603050405020304" pitchFamily="18" charset="0"/>
                            </a:rPr>
                            <m:t>1</m:t>
                          </m:r>
                        </m:e>
                      </m:mr>
                      <m:mr>
                        <m:e>
                          <m:r>
                            <a:rPr lang="en-US" sz="1400" i="1">
                              <a:latin typeface="Cambria Math" panose="02040503050406030204" pitchFamily="18" charset="0"/>
                              <a:ea typeface="Times New Roman" panose="02020603050405020304" pitchFamily="18" charset="0"/>
                              <a:cs typeface="Times New Roman" panose="02020603050405020304" pitchFamily="18" charset="0"/>
                            </a:rPr>
                            <m:t>−</m:t>
                          </m:r>
                          <m:r>
                            <a:rPr lang="en-US" sz="1400">
                              <a:latin typeface="Cambria Math" panose="02040503050406030204" pitchFamily="18" charset="0"/>
                              <a:ea typeface="Times New Roman" panose="02020603050405020304" pitchFamily="18" charset="0"/>
                              <a:cs typeface="Times New Roman" panose="02020603050405020304" pitchFamily="18" charset="0"/>
                            </a:rPr>
                            <m:t>1</m:t>
                          </m:r>
                        </m:e>
                      </m:mr>
                      <m:mr>
                        <m:e>
                          <m:r>
                            <a:rPr lang="en-US" sz="1400">
                              <a:latin typeface="Cambria Math" panose="02040503050406030204" pitchFamily="18" charset="0"/>
                              <a:ea typeface="Times New Roman" panose="02020603050405020304" pitchFamily="18" charset="0"/>
                              <a:cs typeface="Times New Roman" panose="02020603050405020304" pitchFamily="18" charset="0"/>
                            </a:rPr>
                            <m:t>1</m:t>
                          </m:r>
                        </m:e>
                      </m:mr>
                    </m:m>
                    <m:r>
                      <a:rPr lang="en-US" sz="1400">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400" dirty="0">
                    <a:ea typeface="Times New Roman" panose="02020603050405020304" pitchFamily="18" charset="0"/>
                    <a:cs typeface="Times New Roman" panose="02020603050405020304" pitchFamily="18" charset="0"/>
                  </a:rPr>
                  <a:t> = [</a:t>
                </a:r>
                <a14:m>
                  <m:oMath xmlns:m="http://schemas.openxmlformats.org/officeDocument/2006/math">
                    <m:m>
                      <m:mPr>
                        <m:mcs>
                          <m:mc>
                            <m:mcPr>
                              <m:count m:val="3"/>
                              <m:mcJc m:val="center"/>
                            </m:mcPr>
                          </m:mc>
                        </m:mcs>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NG" sz="1400">
                                  <a:latin typeface="Cambria Math" panose="02040503050406030204" pitchFamily="18" charset="0"/>
                                  <a:ea typeface="Times New Roman" panose="02020603050405020304" pitchFamily="18" charset="0"/>
                                  <a:cs typeface="Times New Roman" panose="02020603050405020304" pitchFamily="18" charset="0"/>
                                </a:rPr>
                                <m:t>p</m:t>
                              </m:r>
                            </m:e>
                            <m:sub>
                              <m:r>
                                <a:rPr lang="en-NG" sz="1400">
                                  <a:latin typeface="Cambria Math" panose="02040503050406030204" pitchFamily="18" charset="0"/>
                                  <a:ea typeface="Times New Roman" panose="02020603050405020304" pitchFamily="18" charset="0"/>
                                  <a:cs typeface="Times New Roman" panose="02020603050405020304" pitchFamily="18" charset="0"/>
                                </a:rPr>
                                <m:t>1</m:t>
                              </m:r>
                            </m:sub>
                          </m:sSub>
                          <m:sSub>
                            <m:sSub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NG" sz="1400">
                                  <a:latin typeface="Cambria Math" panose="02040503050406030204" pitchFamily="18" charset="0"/>
                                  <a:ea typeface="Times New Roman" panose="02020603050405020304" pitchFamily="18" charset="0"/>
                                  <a:cs typeface="Times New Roman" panose="02020603050405020304" pitchFamily="18" charset="0"/>
                                </a:rPr>
                                <m:t>p</m:t>
                              </m:r>
                            </m:e>
                            <m:sub>
                              <m:r>
                                <a:rPr lang="en-NG" sz="1400">
                                  <a:latin typeface="Cambria Math" panose="02040503050406030204" pitchFamily="18" charset="0"/>
                                  <a:ea typeface="Times New Roman" panose="02020603050405020304" pitchFamily="18" charset="0"/>
                                  <a:cs typeface="Times New Roman" panose="02020603050405020304" pitchFamily="18" charset="0"/>
                                </a:rPr>
                                <m:t>1</m:t>
                              </m:r>
                            </m:sub>
                          </m:sSub>
                        </m:e>
                        <m:e>
                          <m:sSub>
                            <m:sSub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NG" sz="1400">
                                  <a:latin typeface="Cambria Math" panose="02040503050406030204" pitchFamily="18" charset="0"/>
                                  <a:ea typeface="Times New Roman" panose="02020603050405020304" pitchFamily="18" charset="0"/>
                                  <a:cs typeface="Times New Roman" panose="02020603050405020304" pitchFamily="18" charset="0"/>
                                </a:rPr>
                                <m:t>p</m:t>
                              </m:r>
                            </m:e>
                            <m:sub>
                              <m:r>
                                <a:rPr lang="en-NG" sz="1400">
                                  <a:latin typeface="Cambria Math" panose="02040503050406030204" pitchFamily="18" charset="0"/>
                                  <a:ea typeface="Times New Roman" panose="02020603050405020304" pitchFamily="18" charset="0"/>
                                  <a:cs typeface="Times New Roman" panose="02020603050405020304" pitchFamily="18" charset="0"/>
                                </a:rPr>
                                <m:t>1</m:t>
                              </m:r>
                            </m:sub>
                          </m:sSub>
                          <m:sSub>
                            <m:sSub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NG" sz="1400">
                                  <a:latin typeface="Cambria Math" panose="02040503050406030204" pitchFamily="18" charset="0"/>
                                  <a:ea typeface="Times New Roman" panose="02020603050405020304" pitchFamily="18" charset="0"/>
                                  <a:cs typeface="Times New Roman" panose="02020603050405020304" pitchFamily="18" charset="0"/>
                                </a:rPr>
                                <m:t>p</m:t>
                              </m:r>
                            </m:e>
                            <m:sub>
                              <m:r>
                                <a:rPr lang="en-NG" sz="1400">
                                  <a:latin typeface="Cambria Math" panose="02040503050406030204" pitchFamily="18" charset="0"/>
                                  <a:ea typeface="Times New Roman" panose="02020603050405020304" pitchFamily="18" charset="0"/>
                                  <a:cs typeface="Times New Roman" panose="02020603050405020304" pitchFamily="18" charset="0"/>
                                </a:rPr>
                                <m:t>2</m:t>
                              </m:r>
                            </m:sub>
                          </m:sSub>
                        </m:e>
                        <m:e>
                          <m:sSub>
                            <m:sSub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NG" sz="1400">
                                  <a:latin typeface="Cambria Math" panose="02040503050406030204" pitchFamily="18" charset="0"/>
                                  <a:ea typeface="Times New Roman" panose="02020603050405020304" pitchFamily="18" charset="0"/>
                                  <a:cs typeface="Times New Roman" panose="02020603050405020304" pitchFamily="18" charset="0"/>
                                </a:rPr>
                                <m:t>p</m:t>
                              </m:r>
                            </m:e>
                            <m:sub>
                              <m:r>
                                <a:rPr lang="en-NG" sz="1400">
                                  <a:latin typeface="Cambria Math" panose="02040503050406030204" pitchFamily="18" charset="0"/>
                                  <a:ea typeface="Times New Roman" panose="02020603050405020304" pitchFamily="18" charset="0"/>
                                  <a:cs typeface="Times New Roman" panose="02020603050405020304" pitchFamily="18" charset="0"/>
                                </a:rPr>
                                <m:t>1</m:t>
                              </m:r>
                            </m:sub>
                          </m:sSub>
                          <m:sSub>
                            <m:sSub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NG" sz="1400">
                                  <a:latin typeface="Cambria Math" panose="02040503050406030204" pitchFamily="18" charset="0"/>
                                  <a:ea typeface="Times New Roman" panose="02020603050405020304" pitchFamily="18" charset="0"/>
                                  <a:cs typeface="Times New Roman" panose="02020603050405020304" pitchFamily="18" charset="0"/>
                                </a:rPr>
                                <m:t>p</m:t>
                              </m:r>
                            </m:e>
                            <m:sub>
                              <m:r>
                                <a:rPr lang="en-NG" sz="1400">
                                  <a:latin typeface="Cambria Math" panose="02040503050406030204" pitchFamily="18" charset="0"/>
                                  <a:ea typeface="Times New Roman" panose="02020603050405020304" pitchFamily="18" charset="0"/>
                                  <a:cs typeface="Times New Roman" panose="02020603050405020304" pitchFamily="18" charset="0"/>
                                </a:rPr>
                                <m:t>3</m:t>
                              </m:r>
                            </m:sub>
                          </m:sSub>
                        </m:e>
                      </m:mr>
                      <m:mr>
                        <m:e>
                          <m:sSub>
                            <m:sSub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NG" sz="1400">
                                  <a:latin typeface="Cambria Math" panose="02040503050406030204" pitchFamily="18" charset="0"/>
                                  <a:ea typeface="Times New Roman" panose="02020603050405020304" pitchFamily="18" charset="0"/>
                                  <a:cs typeface="Times New Roman" panose="02020603050405020304" pitchFamily="18" charset="0"/>
                                </a:rPr>
                                <m:t>p</m:t>
                              </m:r>
                            </m:e>
                            <m:sub>
                              <m:r>
                                <a:rPr lang="en-NG" sz="1400">
                                  <a:latin typeface="Cambria Math" panose="02040503050406030204" pitchFamily="18" charset="0"/>
                                  <a:ea typeface="Times New Roman" panose="02020603050405020304" pitchFamily="18" charset="0"/>
                                  <a:cs typeface="Times New Roman" panose="02020603050405020304" pitchFamily="18" charset="0"/>
                                </a:rPr>
                                <m:t>2</m:t>
                              </m:r>
                            </m:sub>
                          </m:sSub>
                          <m:sSub>
                            <m:sSub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NG" sz="1400">
                                  <a:latin typeface="Cambria Math" panose="02040503050406030204" pitchFamily="18" charset="0"/>
                                  <a:ea typeface="Times New Roman" panose="02020603050405020304" pitchFamily="18" charset="0"/>
                                  <a:cs typeface="Times New Roman" panose="02020603050405020304" pitchFamily="18" charset="0"/>
                                </a:rPr>
                                <m:t>p</m:t>
                              </m:r>
                            </m:e>
                            <m:sub>
                              <m:r>
                                <a:rPr lang="en-NG" sz="1400">
                                  <a:latin typeface="Cambria Math" panose="02040503050406030204" pitchFamily="18" charset="0"/>
                                  <a:ea typeface="Times New Roman" panose="02020603050405020304" pitchFamily="18" charset="0"/>
                                  <a:cs typeface="Times New Roman" panose="02020603050405020304" pitchFamily="18" charset="0"/>
                                </a:rPr>
                                <m:t>1</m:t>
                              </m:r>
                            </m:sub>
                          </m:sSub>
                        </m:e>
                        <m:e>
                          <m:sSub>
                            <m:sSub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NG" sz="1400">
                                  <a:latin typeface="Cambria Math" panose="02040503050406030204" pitchFamily="18" charset="0"/>
                                  <a:ea typeface="Times New Roman" panose="02020603050405020304" pitchFamily="18" charset="0"/>
                                  <a:cs typeface="Times New Roman" panose="02020603050405020304" pitchFamily="18" charset="0"/>
                                </a:rPr>
                                <m:t>p</m:t>
                              </m:r>
                            </m:e>
                            <m:sub>
                              <m:r>
                                <a:rPr lang="en-NG" sz="1400">
                                  <a:latin typeface="Cambria Math" panose="02040503050406030204" pitchFamily="18" charset="0"/>
                                  <a:ea typeface="Times New Roman" panose="02020603050405020304" pitchFamily="18" charset="0"/>
                                  <a:cs typeface="Times New Roman" panose="02020603050405020304" pitchFamily="18" charset="0"/>
                                </a:rPr>
                                <m:t>2</m:t>
                              </m:r>
                            </m:sub>
                          </m:sSub>
                          <m:sSub>
                            <m:sSub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NG" sz="1400">
                                  <a:latin typeface="Cambria Math" panose="02040503050406030204" pitchFamily="18" charset="0"/>
                                  <a:ea typeface="Times New Roman" panose="02020603050405020304" pitchFamily="18" charset="0"/>
                                  <a:cs typeface="Times New Roman" panose="02020603050405020304" pitchFamily="18" charset="0"/>
                                </a:rPr>
                                <m:t>p</m:t>
                              </m:r>
                            </m:e>
                            <m:sub>
                              <m:r>
                                <a:rPr lang="en-NG" sz="1400">
                                  <a:latin typeface="Cambria Math" panose="02040503050406030204" pitchFamily="18" charset="0"/>
                                  <a:ea typeface="Times New Roman" panose="02020603050405020304" pitchFamily="18" charset="0"/>
                                  <a:cs typeface="Times New Roman" panose="02020603050405020304" pitchFamily="18" charset="0"/>
                                </a:rPr>
                                <m:t>2</m:t>
                              </m:r>
                            </m:sub>
                          </m:sSub>
                        </m:e>
                        <m:e>
                          <m:sSub>
                            <m:sSub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NG" sz="1400">
                                  <a:latin typeface="Cambria Math" panose="02040503050406030204" pitchFamily="18" charset="0"/>
                                  <a:ea typeface="Times New Roman" panose="02020603050405020304" pitchFamily="18" charset="0"/>
                                  <a:cs typeface="Times New Roman" panose="02020603050405020304" pitchFamily="18" charset="0"/>
                                </a:rPr>
                                <m:t>p</m:t>
                              </m:r>
                            </m:e>
                            <m:sub>
                              <m:r>
                                <a:rPr lang="en-NG" sz="1400">
                                  <a:latin typeface="Cambria Math" panose="02040503050406030204" pitchFamily="18" charset="0"/>
                                  <a:ea typeface="Times New Roman" panose="02020603050405020304" pitchFamily="18" charset="0"/>
                                  <a:cs typeface="Times New Roman" panose="02020603050405020304" pitchFamily="18" charset="0"/>
                                </a:rPr>
                                <m:t>2</m:t>
                              </m:r>
                            </m:sub>
                          </m:sSub>
                          <m:sSub>
                            <m:sSub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NG" sz="1400">
                                  <a:latin typeface="Cambria Math" panose="02040503050406030204" pitchFamily="18" charset="0"/>
                                  <a:ea typeface="Times New Roman" panose="02020603050405020304" pitchFamily="18" charset="0"/>
                                  <a:cs typeface="Times New Roman" panose="02020603050405020304" pitchFamily="18" charset="0"/>
                                </a:rPr>
                                <m:t>p</m:t>
                              </m:r>
                            </m:e>
                            <m:sub>
                              <m:r>
                                <a:rPr lang="en-NG" sz="1400">
                                  <a:latin typeface="Cambria Math" panose="02040503050406030204" pitchFamily="18" charset="0"/>
                                  <a:ea typeface="Times New Roman" panose="02020603050405020304" pitchFamily="18" charset="0"/>
                                  <a:cs typeface="Times New Roman" panose="02020603050405020304" pitchFamily="18" charset="0"/>
                                </a:rPr>
                                <m:t>3</m:t>
                              </m:r>
                            </m:sub>
                          </m:sSub>
                        </m:e>
                      </m:mr>
                      <m:mr>
                        <m:e>
                          <m:sSub>
                            <m:sSub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NG" sz="1400">
                                  <a:latin typeface="Cambria Math" panose="02040503050406030204" pitchFamily="18" charset="0"/>
                                  <a:ea typeface="Times New Roman" panose="02020603050405020304" pitchFamily="18" charset="0"/>
                                  <a:cs typeface="Times New Roman" panose="02020603050405020304" pitchFamily="18" charset="0"/>
                                </a:rPr>
                                <m:t>p</m:t>
                              </m:r>
                            </m:e>
                            <m:sub>
                              <m:r>
                                <a:rPr lang="en-NG" sz="1400">
                                  <a:latin typeface="Cambria Math" panose="02040503050406030204" pitchFamily="18" charset="0"/>
                                  <a:ea typeface="Times New Roman" panose="02020603050405020304" pitchFamily="18" charset="0"/>
                                  <a:cs typeface="Times New Roman" panose="02020603050405020304" pitchFamily="18" charset="0"/>
                                </a:rPr>
                                <m:t>3</m:t>
                              </m:r>
                            </m:sub>
                          </m:sSub>
                          <m:sSub>
                            <m:sSub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NG" sz="1400">
                                  <a:latin typeface="Cambria Math" panose="02040503050406030204" pitchFamily="18" charset="0"/>
                                  <a:ea typeface="Times New Roman" panose="02020603050405020304" pitchFamily="18" charset="0"/>
                                  <a:cs typeface="Times New Roman" panose="02020603050405020304" pitchFamily="18" charset="0"/>
                                </a:rPr>
                                <m:t>p</m:t>
                              </m:r>
                            </m:e>
                            <m:sub>
                              <m:r>
                                <a:rPr lang="en-NG" sz="1400">
                                  <a:latin typeface="Cambria Math" panose="02040503050406030204" pitchFamily="18" charset="0"/>
                                  <a:ea typeface="Times New Roman" panose="02020603050405020304" pitchFamily="18" charset="0"/>
                                  <a:cs typeface="Times New Roman" panose="02020603050405020304" pitchFamily="18" charset="0"/>
                                </a:rPr>
                                <m:t>1</m:t>
                              </m:r>
                            </m:sub>
                          </m:sSub>
                        </m:e>
                        <m:e>
                          <m:sSub>
                            <m:sSub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NG" sz="1400">
                                  <a:latin typeface="Cambria Math" panose="02040503050406030204" pitchFamily="18" charset="0"/>
                                  <a:ea typeface="Times New Roman" panose="02020603050405020304" pitchFamily="18" charset="0"/>
                                  <a:cs typeface="Times New Roman" panose="02020603050405020304" pitchFamily="18" charset="0"/>
                                </a:rPr>
                                <m:t>p</m:t>
                              </m:r>
                            </m:e>
                            <m:sub>
                              <m:r>
                                <a:rPr lang="en-NG" sz="1400">
                                  <a:latin typeface="Cambria Math" panose="02040503050406030204" pitchFamily="18" charset="0"/>
                                  <a:ea typeface="Times New Roman" panose="02020603050405020304" pitchFamily="18" charset="0"/>
                                  <a:cs typeface="Times New Roman" panose="02020603050405020304" pitchFamily="18" charset="0"/>
                                </a:rPr>
                                <m:t>3</m:t>
                              </m:r>
                            </m:sub>
                          </m:sSub>
                          <m:sSub>
                            <m:sSub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NG" sz="1400">
                                  <a:latin typeface="Cambria Math" panose="02040503050406030204" pitchFamily="18" charset="0"/>
                                  <a:ea typeface="Times New Roman" panose="02020603050405020304" pitchFamily="18" charset="0"/>
                                  <a:cs typeface="Times New Roman" panose="02020603050405020304" pitchFamily="18" charset="0"/>
                                </a:rPr>
                                <m:t>p</m:t>
                              </m:r>
                            </m:e>
                            <m:sub>
                              <m:r>
                                <a:rPr lang="en-NG" sz="1400">
                                  <a:latin typeface="Cambria Math" panose="02040503050406030204" pitchFamily="18" charset="0"/>
                                  <a:ea typeface="Times New Roman" panose="02020603050405020304" pitchFamily="18" charset="0"/>
                                  <a:cs typeface="Times New Roman" panose="02020603050405020304" pitchFamily="18" charset="0"/>
                                </a:rPr>
                                <m:t>2</m:t>
                              </m:r>
                            </m:sub>
                          </m:sSub>
                        </m:e>
                        <m:e>
                          <m:sSub>
                            <m:sSub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NG" sz="1400">
                                  <a:latin typeface="Cambria Math" panose="02040503050406030204" pitchFamily="18" charset="0"/>
                                  <a:ea typeface="Times New Roman" panose="02020603050405020304" pitchFamily="18" charset="0"/>
                                  <a:cs typeface="Times New Roman" panose="02020603050405020304" pitchFamily="18" charset="0"/>
                                </a:rPr>
                                <m:t>p</m:t>
                              </m:r>
                            </m:e>
                            <m:sub>
                              <m:r>
                                <a:rPr lang="en-NG" sz="1400">
                                  <a:latin typeface="Cambria Math" panose="02040503050406030204" pitchFamily="18" charset="0"/>
                                  <a:ea typeface="Times New Roman" panose="02020603050405020304" pitchFamily="18" charset="0"/>
                                  <a:cs typeface="Times New Roman" panose="02020603050405020304" pitchFamily="18" charset="0"/>
                                </a:rPr>
                                <m:t>3</m:t>
                              </m:r>
                            </m:sub>
                          </m:sSub>
                          <m:sSub>
                            <m:sSub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NG" sz="1400">
                                  <a:latin typeface="Cambria Math" panose="02040503050406030204" pitchFamily="18" charset="0"/>
                                  <a:ea typeface="Times New Roman" panose="02020603050405020304" pitchFamily="18" charset="0"/>
                                  <a:cs typeface="Times New Roman" panose="02020603050405020304" pitchFamily="18" charset="0"/>
                                </a:rPr>
                                <m:t>p</m:t>
                              </m:r>
                            </m:e>
                            <m:sub>
                              <m:r>
                                <a:rPr lang="en-NG" sz="1400">
                                  <a:latin typeface="Cambria Math" panose="02040503050406030204" pitchFamily="18" charset="0"/>
                                  <a:ea typeface="Times New Roman" panose="02020603050405020304" pitchFamily="18" charset="0"/>
                                  <a:cs typeface="Times New Roman" panose="02020603050405020304" pitchFamily="18" charset="0"/>
                                </a:rPr>
                                <m:t>3</m:t>
                              </m:r>
                            </m:sub>
                          </m:sSub>
                        </m:e>
                      </m:mr>
                    </m:m>
                    <m:r>
                      <a:rPr lang="en-US" sz="1400">
                        <a:latin typeface="Cambria Math" panose="02040503050406030204" pitchFamily="18" charset="0"/>
                        <a:ea typeface="Times New Roman" panose="02020603050405020304" pitchFamily="18" charset="0"/>
                        <a:cs typeface="Times New Roman" panose="02020603050405020304" pitchFamily="18" charset="0"/>
                      </a:rPr>
                      <m:t>]</m:t>
                    </m:r>
                  </m:oMath>
                </a14:m>
                <a:endParaRPr lang="en-NG" sz="1400" dirty="0">
                  <a:ea typeface="Calibri" panose="020F0502020204030204" pitchFamily="34" charset="0"/>
                  <a:cs typeface="Times New Roman" panose="02020603050405020304" pitchFamily="18" charset="0"/>
                </a:endParaRPr>
              </a:p>
              <a:p>
                <a:pPr algn="just">
                  <a:lnSpc>
                    <a:spcPct val="150000"/>
                  </a:lnSpc>
                </a:pPr>
                <a:r>
                  <a:rPr lang="en-US" sz="1400" dirty="0">
                    <a:ea typeface="Times New Roman" panose="02020603050405020304" pitchFamily="18" charset="0"/>
                    <a:cs typeface="Times New Roman" panose="02020603050405020304" pitchFamily="18" charset="0"/>
                  </a:rPr>
                  <a:t>After computation, </a:t>
                </a:r>
                <a14:m>
                  <m:oMath xmlns:m="http://schemas.openxmlformats.org/officeDocument/2006/math">
                    <m:sSub>
                      <m:sSubPr>
                        <m:ctrlPr>
                          <a:rPr lang="en-NG" sz="1400" i="1">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lang="en-US" sz="1400">
                            <a:latin typeface="Cambria Math" panose="02040503050406030204" pitchFamily="18" charset="0"/>
                            <a:ea typeface="Calibri" panose="020F0502020204030204" pitchFamily="34" charset="0"/>
                            <a:cs typeface="Times New Roman" panose="02020603050405020304" pitchFamily="18" charset="0"/>
                          </a:rPr>
                          <m:t>p</m:t>
                        </m:r>
                      </m:e>
                      <m:sub>
                        <m:r>
                          <m:rPr>
                            <m:sty m:val="p"/>
                          </m:rPr>
                          <a:rPr lang="en-US" sz="1400">
                            <a:latin typeface="Cambria Math" panose="02040503050406030204" pitchFamily="18" charset="0"/>
                            <a:ea typeface="Calibri" panose="020F0502020204030204" pitchFamily="34" charset="0"/>
                            <a:cs typeface="Times New Roman" panose="02020603050405020304" pitchFamily="18" charset="0"/>
                          </a:rPr>
                          <m:t>i</m:t>
                        </m:r>
                      </m:sub>
                    </m:sSub>
                    <m:sSub>
                      <m:sSubPr>
                        <m:ctrlPr>
                          <a:rPr lang="en-NG" sz="1400" i="1">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lang="en-US" sz="1400">
                            <a:latin typeface="Cambria Math" panose="02040503050406030204" pitchFamily="18" charset="0"/>
                            <a:ea typeface="Calibri" panose="020F0502020204030204" pitchFamily="34" charset="0"/>
                            <a:cs typeface="Times New Roman" panose="02020603050405020304" pitchFamily="18" charset="0"/>
                          </a:rPr>
                          <m:t>p</m:t>
                        </m:r>
                      </m:e>
                      <m:sub>
                        <m:r>
                          <m:rPr>
                            <m:sty m:val="p"/>
                          </m:rPr>
                          <a:rPr lang="en-US" sz="1400">
                            <a:latin typeface="Cambria Math" panose="02040503050406030204" pitchFamily="18" charset="0"/>
                            <a:ea typeface="Calibri" panose="020F0502020204030204" pitchFamily="34" charset="0"/>
                            <a:cs typeface="Times New Roman" panose="02020603050405020304" pitchFamily="18" charset="0"/>
                          </a:rPr>
                          <m:t>j</m:t>
                        </m:r>
                      </m:sub>
                    </m:sSub>
                  </m:oMath>
                </a14:m>
                <a:r>
                  <a:rPr lang="en-US" sz="1400" dirty="0">
                    <a:ea typeface="Times New Roman" panose="02020603050405020304" pitchFamily="18" charset="0"/>
                    <a:cs typeface="Times New Roman" panose="02020603050405020304" pitchFamily="18" charset="0"/>
                  </a:rPr>
                  <a:t> = 1, as such Hebbian learning in matrix form is;[11]</a:t>
                </a:r>
                <a:endParaRPr lang="en-NG" sz="1400" dirty="0">
                  <a:ea typeface="Calibri" panose="020F0502020204030204" pitchFamily="34" charset="0"/>
                  <a:cs typeface="Times New Roman" panose="02020603050405020304" pitchFamily="18" charset="0"/>
                </a:endParaRPr>
              </a:p>
              <a:p>
                <a:pPr algn="just">
                  <a:lnSpc>
                    <a:spcPct val="150000"/>
                  </a:lnSpc>
                </a:pPr>
                <a14:m>
                  <m:oMath xmlns:m="http://schemas.openxmlformats.org/officeDocument/2006/math">
                    <m:sSup>
                      <m:sSup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pPr>
                      <m:e>
                        <m:r>
                          <m:rPr>
                            <m:sty m:val="p"/>
                          </m:rPr>
                          <a:rPr lang="en-US" sz="1400">
                            <a:latin typeface="Cambria Math" panose="02040503050406030204" pitchFamily="18" charset="0"/>
                            <a:ea typeface="Times New Roman" panose="02020603050405020304" pitchFamily="18" charset="0"/>
                            <a:cs typeface="Times New Roman" panose="02020603050405020304" pitchFamily="18" charset="0"/>
                          </a:rPr>
                          <m:t>W</m:t>
                        </m:r>
                      </m:e>
                      <m:sup>
                        <m:r>
                          <m:rPr>
                            <m:sty m:val="p"/>
                          </m:rPr>
                          <a:rPr lang="en-US" sz="1400">
                            <a:latin typeface="Cambria Math" panose="02040503050406030204" pitchFamily="18" charset="0"/>
                            <a:ea typeface="Times New Roman" panose="02020603050405020304" pitchFamily="18" charset="0"/>
                            <a:cs typeface="Times New Roman" panose="02020603050405020304" pitchFamily="18" charset="0"/>
                          </a:rPr>
                          <m:t>new</m:t>
                        </m:r>
                      </m:sup>
                    </m:sSup>
                  </m:oMath>
                </a14:m>
                <a:r>
                  <a:rPr lang="en-US" sz="1400" dirty="0">
                    <a:ea typeface="Times New Roman" panose="02020603050405020304" pitchFamily="18" charset="0"/>
                    <a:cs typeface="Times New Roman" panose="02020603050405020304" pitchFamily="18" charset="0"/>
                  </a:rPr>
                  <a:t> = </a:t>
                </a:r>
                <a14:m>
                  <m:oMath xmlns:m="http://schemas.openxmlformats.org/officeDocument/2006/math">
                    <m:sSup>
                      <m:sSup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pPr>
                      <m:e>
                        <m:r>
                          <m:rPr>
                            <m:sty m:val="p"/>
                          </m:rPr>
                          <a:rPr lang="en-US" sz="1400">
                            <a:latin typeface="Cambria Math" panose="02040503050406030204" pitchFamily="18" charset="0"/>
                            <a:ea typeface="Times New Roman" panose="02020603050405020304" pitchFamily="18" charset="0"/>
                            <a:cs typeface="Times New Roman" panose="02020603050405020304" pitchFamily="18" charset="0"/>
                          </a:rPr>
                          <m:t>W</m:t>
                        </m:r>
                      </m:e>
                      <m:sup>
                        <m:r>
                          <m:rPr>
                            <m:sty m:val="p"/>
                          </m:rPr>
                          <a:rPr lang="en-US" sz="1400">
                            <a:latin typeface="Cambria Math" panose="02040503050406030204" pitchFamily="18" charset="0"/>
                            <a:ea typeface="Times New Roman" panose="02020603050405020304" pitchFamily="18" charset="0"/>
                            <a:cs typeface="Times New Roman" panose="02020603050405020304" pitchFamily="18" charset="0"/>
                          </a:rPr>
                          <m:t>old</m:t>
                        </m:r>
                      </m:sup>
                    </m:sSup>
                  </m:oMath>
                </a14:m>
                <a:r>
                  <a:rPr lang="en-US" sz="1400" dirty="0">
                    <a:ea typeface="Times New Roman" panose="02020603050405020304" pitchFamily="18" charset="0"/>
                    <a:cs typeface="Times New Roman" panose="02020603050405020304" pitchFamily="18" charset="0"/>
                  </a:rPr>
                  <a:t> + </a:t>
                </a:r>
                <a14:m>
                  <m:oMath xmlns:m="http://schemas.openxmlformats.org/officeDocument/2006/math">
                    <m:r>
                      <m:rPr>
                        <m:sty m:val="p"/>
                      </m:rPr>
                      <a:rPr lang="en-US" sz="1400">
                        <a:latin typeface="Cambria Math" panose="02040503050406030204" pitchFamily="18" charset="0"/>
                        <a:ea typeface="Times New Roman" panose="02020603050405020304" pitchFamily="18" charset="0"/>
                        <a:cs typeface="Times New Roman" panose="02020603050405020304" pitchFamily="18" charset="0"/>
                      </a:rPr>
                      <m:t>ε</m:t>
                    </m:r>
                    <m:r>
                      <a:rPr lang="en-US" sz="14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1400">
                        <a:latin typeface="Cambria Math" panose="02040503050406030204" pitchFamily="18" charset="0"/>
                        <a:ea typeface="Times New Roman" panose="02020603050405020304" pitchFamily="18" charset="0"/>
                        <a:cs typeface="Times New Roman" panose="02020603050405020304" pitchFamily="18" charset="0"/>
                      </a:rPr>
                      <m:t>p</m:t>
                    </m:r>
                    <m:r>
                      <a:rPr lang="en-US" sz="1400">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pPr>
                      <m:e>
                        <m:r>
                          <m:rPr>
                            <m:sty m:val="p"/>
                          </m:rPr>
                          <a:rPr lang="en-US" sz="1400">
                            <a:latin typeface="Cambria Math" panose="02040503050406030204" pitchFamily="18" charset="0"/>
                            <a:ea typeface="Times New Roman" panose="02020603050405020304" pitchFamily="18" charset="0"/>
                            <a:cs typeface="Times New Roman" panose="02020603050405020304" pitchFamily="18" charset="0"/>
                          </a:rPr>
                          <m:t>p</m:t>
                        </m:r>
                      </m:e>
                      <m:sup>
                        <m:r>
                          <m:rPr>
                            <m:sty m:val="p"/>
                          </m:rPr>
                          <a:rPr lang="en-US" sz="1400">
                            <a:latin typeface="Cambria Math" panose="02040503050406030204" pitchFamily="18" charset="0"/>
                            <a:ea typeface="Times New Roman" panose="02020603050405020304" pitchFamily="18" charset="0"/>
                            <a:cs typeface="Times New Roman" panose="02020603050405020304" pitchFamily="18" charset="0"/>
                          </a:rPr>
                          <m:t>T</m:t>
                        </m:r>
                      </m:sup>
                    </m:sSup>
                    <m:r>
                      <a:rPr lang="en-US" sz="1400" i="1">
                        <a:latin typeface="Cambria Math" panose="02040503050406030204" pitchFamily="18" charset="0"/>
                        <a:ea typeface="Times New Roman" panose="02020603050405020304" pitchFamily="18" charset="0"/>
                        <a:cs typeface="Times New Roman" panose="02020603050405020304" pitchFamily="18" charset="0"/>
                      </a:rPr>
                      <m:t>−</m:t>
                    </m:r>
                    <m:r>
                      <a:rPr lang="en-US" sz="140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1400" dirty="0">
                    <a:ea typeface="Times New Roman" panose="02020603050405020304" pitchFamily="18" charset="0"/>
                    <a:cs typeface="Times New Roman" panose="02020603050405020304" pitchFamily="18" charset="0"/>
                  </a:rPr>
                  <a:t>) = [</a:t>
                </a:r>
                <a14:m>
                  <m:oMath xmlns:m="http://schemas.openxmlformats.org/officeDocument/2006/math">
                    <m:m>
                      <m:mPr>
                        <m:mcs>
                          <m:mc>
                            <m:mcPr>
                              <m:count m:val="3"/>
                              <m:mcJc m:val="center"/>
                            </m:mcPr>
                          </m:mc>
                        </m:mcs>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mPr>
                      <m:mr>
                        <m:e>
                          <m:r>
                            <a:rPr lang="en-US" sz="1400">
                              <a:latin typeface="Cambria Math" panose="02040503050406030204" pitchFamily="18" charset="0"/>
                              <a:ea typeface="Times New Roman" panose="02020603050405020304" pitchFamily="18" charset="0"/>
                              <a:cs typeface="Times New Roman" panose="02020603050405020304" pitchFamily="18" charset="0"/>
                            </a:rPr>
                            <m:t>1</m:t>
                          </m:r>
                        </m:e>
                        <m:e>
                          <m:r>
                            <a:rPr lang="en-US" sz="1400" i="1">
                              <a:latin typeface="Cambria Math" panose="02040503050406030204" pitchFamily="18" charset="0"/>
                              <a:ea typeface="Times New Roman" panose="02020603050405020304" pitchFamily="18" charset="0"/>
                              <a:cs typeface="Times New Roman" panose="02020603050405020304" pitchFamily="18" charset="0"/>
                            </a:rPr>
                            <m:t>−</m:t>
                          </m:r>
                          <m:r>
                            <a:rPr lang="en-US" sz="1400">
                              <a:latin typeface="Cambria Math" panose="02040503050406030204" pitchFamily="18" charset="0"/>
                              <a:ea typeface="Times New Roman" panose="02020603050405020304" pitchFamily="18" charset="0"/>
                              <a:cs typeface="Times New Roman" panose="02020603050405020304" pitchFamily="18" charset="0"/>
                            </a:rPr>
                            <m:t>1</m:t>
                          </m:r>
                        </m:e>
                        <m:e>
                          <m:r>
                            <a:rPr lang="en-US" sz="1400">
                              <a:latin typeface="Cambria Math" panose="02040503050406030204" pitchFamily="18" charset="0"/>
                              <a:ea typeface="Times New Roman" panose="02020603050405020304" pitchFamily="18" charset="0"/>
                              <a:cs typeface="Times New Roman" panose="02020603050405020304" pitchFamily="18" charset="0"/>
                            </a:rPr>
                            <m:t>1</m:t>
                          </m:r>
                        </m:e>
                      </m:mr>
                      <m:mr>
                        <m:e>
                          <m:r>
                            <a:rPr lang="en-US" sz="1400" i="1">
                              <a:latin typeface="Cambria Math" panose="02040503050406030204" pitchFamily="18" charset="0"/>
                              <a:ea typeface="Times New Roman" panose="02020603050405020304" pitchFamily="18" charset="0"/>
                              <a:cs typeface="Times New Roman" panose="02020603050405020304" pitchFamily="18" charset="0"/>
                            </a:rPr>
                            <m:t>−</m:t>
                          </m:r>
                          <m:r>
                            <a:rPr lang="en-US" sz="1400">
                              <a:latin typeface="Cambria Math" panose="02040503050406030204" pitchFamily="18" charset="0"/>
                              <a:ea typeface="Times New Roman" panose="02020603050405020304" pitchFamily="18" charset="0"/>
                              <a:cs typeface="Times New Roman" panose="02020603050405020304" pitchFamily="18" charset="0"/>
                            </a:rPr>
                            <m:t>1</m:t>
                          </m:r>
                        </m:e>
                        <m:e>
                          <m:r>
                            <a:rPr lang="en-US" sz="1400">
                              <a:latin typeface="Cambria Math" panose="02040503050406030204" pitchFamily="18" charset="0"/>
                              <a:ea typeface="Times New Roman" panose="02020603050405020304" pitchFamily="18" charset="0"/>
                              <a:cs typeface="Times New Roman" panose="02020603050405020304" pitchFamily="18" charset="0"/>
                            </a:rPr>
                            <m:t>1</m:t>
                          </m:r>
                        </m:e>
                        <m:e>
                          <m:r>
                            <a:rPr lang="en-US" sz="1400" i="1">
                              <a:latin typeface="Cambria Math" panose="02040503050406030204" pitchFamily="18" charset="0"/>
                              <a:ea typeface="Times New Roman" panose="02020603050405020304" pitchFamily="18" charset="0"/>
                              <a:cs typeface="Times New Roman" panose="02020603050405020304" pitchFamily="18" charset="0"/>
                            </a:rPr>
                            <m:t>−</m:t>
                          </m:r>
                          <m:r>
                            <a:rPr lang="en-US" sz="1400">
                              <a:latin typeface="Cambria Math" panose="02040503050406030204" pitchFamily="18" charset="0"/>
                              <a:ea typeface="Times New Roman" panose="02020603050405020304" pitchFamily="18" charset="0"/>
                              <a:cs typeface="Times New Roman" panose="02020603050405020304" pitchFamily="18" charset="0"/>
                            </a:rPr>
                            <m:t>1</m:t>
                          </m:r>
                        </m:e>
                      </m:mr>
                      <m:mr>
                        <m:e>
                          <m:r>
                            <a:rPr lang="en-US" sz="1400">
                              <a:latin typeface="Cambria Math" panose="02040503050406030204" pitchFamily="18" charset="0"/>
                              <a:ea typeface="Times New Roman" panose="02020603050405020304" pitchFamily="18" charset="0"/>
                              <a:cs typeface="Times New Roman" panose="02020603050405020304" pitchFamily="18" charset="0"/>
                            </a:rPr>
                            <m:t>1</m:t>
                          </m:r>
                        </m:e>
                        <m:e>
                          <m:r>
                            <a:rPr lang="en-US" sz="1400" i="1">
                              <a:latin typeface="Cambria Math" panose="02040503050406030204" pitchFamily="18" charset="0"/>
                              <a:ea typeface="Times New Roman" panose="02020603050405020304" pitchFamily="18" charset="0"/>
                              <a:cs typeface="Times New Roman" panose="02020603050405020304" pitchFamily="18" charset="0"/>
                            </a:rPr>
                            <m:t>−</m:t>
                          </m:r>
                          <m:r>
                            <a:rPr lang="en-US" sz="1400">
                              <a:latin typeface="Cambria Math" panose="02040503050406030204" pitchFamily="18" charset="0"/>
                              <a:ea typeface="Times New Roman" panose="02020603050405020304" pitchFamily="18" charset="0"/>
                              <a:cs typeface="Times New Roman" panose="02020603050405020304" pitchFamily="18" charset="0"/>
                            </a:rPr>
                            <m:t>1</m:t>
                          </m:r>
                        </m:e>
                        <m:e>
                          <m:r>
                            <a:rPr lang="en-US" sz="1400">
                              <a:latin typeface="Cambria Math" panose="02040503050406030204" pitchFamily="18" charset="0"/>
                              <a:ea typeface="Times New Roman" panose="02020603050405020304" pitchFamily="18" charset="0"/>
                              <a:cs typeface="Times New Roman" panose="02020603050405020304" pitchFamily="18" charset="0"/>
                            </a:rPr>
                            <m:t>1</m:t>
                          </m:r>
                        </m:e>
                      </m:mr>
                    </m:m>
                    <m:r>
                      <a:rPr lang="en-US" sz="1400">
                        <a:latin typeface="Cambria Math" panose="02040503050406030204" pitchFamily="18" charset="0"/>
                        <a:ea typeface="Times New Roman" panose="02020603050405020304" pitchFamily="18" charset="0"/>
                        <a:cs typeface="Times New Roman" panose="02020603050405020304" pitchFamily="18" charset="0"/>
                      </a:rPr>
                      <m:t>]</m:t>
                    </m:r>
                  </m:oMath>
                </a14:m>
                <a:endParaRPr lang="en-NG" sz="1400" dirty="0">
                  <a:ea typeface="Calibri" panose="020F0502020204030204" pitchFamily="34" charset="0"/>
                  <a:cs typeface="Times New Roman" panose="02020603050405020304" pitchFamily="18" charset="0"/>
                </a:endParaRPr>
              </a:p>
              <a:p>
                <a:pPr algn="just">
                  <a:lnSpc>
                    <a:spcPct val="150000"/>
                  </a:lnSpc>
                </a:pPr>
                <a:r>
                  <a:rPr lang="en-US" sz="1400" dirty="0">
                    <a:ea typeface="Times New Roman" panose="02020603050405020304" pitchFamily="18" charset="0"/>
                    <a:cs typeface="Times New Roman" panose="02020603050405020304" pitchFamily="18" charset="0"/>
                  </a:rPr>
                  <a:t>Z = [</a:t>
                </a:r>
                <a14:m>
                  <m:oMath xmlns:m="http://schemas.openxmlformats.org/officeDocument/2006/math">
                    <m:m>
                      <m:mPr>
                        <m:mcs>
                          <m:mc>
                            <m:mcPr>
                              <m:count m:val="1"/>
                              <m:mcJc m:val="center"/>
                            </m:mcPr>
                          </m:mc>
                        </m:mcs>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NG" sz="1400">
                                  <a:latin typeface="Cambria Math" panose="02040503050406030204" pitchFamily="18" charset="0"/>
                                  <a:ea typeface="Times New Roman" panose="02020603050405020304" pitchFamily="18" charset="0"/>
                                  <a:cs typeface="Times New Roman" panose="02020603050405020304" pitchFamily="18" charset="0"/>
                                </a:rPr>
                                <m:t>Z</m:t>
                              </m:r>
                            </m:e>
                            <m:sub>
                              <m:r>
                                <a:rPr lang="en-NG" sz="1400">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NG" sz="1400">
                                  <a:latin typeface="Cambria Math" panose="02040503050406030204" pitchFamily="18" charset="0"/>
                                  <a:ea typeface="Times New Roman" panose="02020603050405020304" pitchFamily="18" charset="0"/>
                                  <a:cs typeface="Times New Roman" panose="02020603050405020304" pitchFamily="18" charset="0"/>
                                </a:rPr>
                                <m:t>Z</m:t>
                              </m:r>
                            </m:e>
                            <m:sub>
                              <m:r>
                                <a:rPr lang="en-NG" sz="1400">
                                  <a:latin typeface="Cambria Math" panose="02040503050406030204" pitchFamily="18" charset="0"/>
                                  <a:ea typeface="Times New Roman" panose="02020603050405020304" pitchFamily="18" charset="0"/>
                                  <a:cs typeface="Times New Roman" panose="02020603050405020304" pitchFamily="18" charset="0"/>
                                </a:rPr>
                                <m:t>2</m:t>
                              </m:r>
                            </m:sub>
                          </m:sSub>
                        </m:e>
                      </m:mr>
                      <m:mr>
                        <m:e>
                          <m:sSub>
                            <m:sSub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NG" sz="1400">
                                  <a:latin typeface="Cambria Math" panose="02040503050406030204" pitchFamily="18" charset="0"/>
                                  <a:ea typeface="Times New Roman" panose="02020603050405020304" pitchFamily="18" charset="0"/>
                                  <a:cs typeface="Times New Roman" panose="02020603050405020304" pitchFamily="18" charset="0"/>
                                </a:rPr>
                                <m:t>Z</m:t>
                              </m:r>
                            </m:e>
                            <m:sub>
                              <m:r>
                                <a:rPr lang="en-NG" sz="1400">
                                  <a:latin typeface="Cambria Math" panose="02040503050406030204" pitchFamily="18" charset="0"/>
                                  <a:ea typeface="Times New Roman" panose="02020603050405020304" pitchFamily="18" charset="0"/>
                                  <a:cs typeface="Times New Roman" panose="02020603050405020304" pitchFamily="18" charset="0"/>
                                </a:rPr>
                                <m:t>3</m:t>
                              </m:r>
                            </m:sub>
                          </m:sSub>
                        </m:e>
                      </m:mr>
                    </m:m>
                    <m:r>
                      <a:rPr lang="en-US" sz="1400">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400" dirty="0">
                    <a:ea typeface="Times New Roman" panose="02020603050405020304" pitchFamily="18" charset="0"/>
                    <a:cs typeface="Times New Roman" panose="02020603050405020304" pitchFamily="18" charset="0"/>
                  </a:rPr>
                  <a:t> Therefore,  </a:t>
                </a:r>
                <a14:m>
                  <m:oMath xmlns:m="http://schemas.openxmlformats.org/officeDocument/2006/math">
                    <m:r>
                      <m:rPr>
                        <m:sty m:val="p"/>
                      </m:rPr>
                      <a:rPr lang="en-US" sz="1400">
                        <a:latin typeface="Cambria Math" panose="02040503050406030204" pitchFamily="18" charset="0"/>
                        <a:ea typeface="Times New Roman" panose="02020603050405020304" pitchFamily="18" charset="0"/>
                        <a:cs typeface="Times New Roman" panose="02020603050405020304" pitchFamily="18" charset="0"/>
                      </a:rPr>
                      <m:t>Ζ</m:t>
                    </m:r>
                    <m:r>
                      <a:rPr lang="en-US" sz="1400">
                        <a:latin typeface="Cambria Math" panose="02040503050406030204" pitchFamily="18" charset="0"/>
                        <a:ea typeface="Times New Roman" panose="02020603050405020304" pitchFamily="18" charset="0"/>
                        <a:cs typeface="Times New Roman" panose="02020603050405020304" pitchFamily="18" charset="0"/>
                      </a:rPr>
                      <m:t>= </m:t>
                    </m:r>
                    <m:nary>
                      <m:naryPr>
                        <m:chr m:val="∑"/>
                        <m:limLoc m:val="undOvr"/>
                        <m:supHide m:val="on"/>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naryPr>
                      <m:sub>
                        <m:r>
                          <a:rPr lang="en-US" sz="1400" i="1">
                            <a:latin typeface="Cambria Math" panose="02040503050406030204" pitchFamily="18" charset="0"/>
                            <a:ea typeface="Times New Roman" panose="02020603050405020304" pitchFamily="18" charset="0"/>
                            <a:cs typeface="Times New Roman" panose="02020603050405020304" pitchFamily="18" charset="0"/>
                          </a:rPr>
                          <m:t>∀</m:t>
                        </m:r>
                        <m:r>
                          <a:rPr lang="en-US" sz="1400" i="1">
                            <a:latin typeface="Cambria Math" panose="02040503050406030204" pitchFamily="18" charset="0"/>
                            <a:ea typeface="Times New Roman" panose="02020603050405020304" pitchFamily="18" charset="0"/>
                            <a:cs typeface="Times New Roman" panose="02020603050405020304" pitchFamily="18" charset="0"/>
                          </a:rPr>
                          <m:t>𝑗</m:t>
                        </m:r>
                        <m:r>
                          <a:rPr lang="en-US" sz="1400" i="1">
                            <a:latin typeface="Cambria Math" panose="02040503050406030204" pitchFamily="18" charset="0"/>
                            <a:ea typeface="Times New Roman" panose="02020603050405020304" pitchFamily="18" charset="0"/>
                            <a:cs typeface="Times New Roman" panose="02020603050405020304" pitchFamily="18" charset="0"/>
                          </a:rPr>
                          <m:t>≠</m:t>
                        </m:r>
                        <m:r>
                          <a:rPr lang="en-US" sz="1400" i="1">
                            <a:latin typeface="Cambria Math" panose="02040503050406030204" pitchFamily="18" charset="0"/>
                            <a:ea typeface="Times New Roman" panose="02020603050405020304" pitchFamily="18" charset="0"/>
                            <a:cs typeface="Times New Roman" panose="02020603050405020304" pitchFamily="18" charset="0"/>
                          </a:rPr>
                          <m:t>𝑖</m:t>
                        </m:r>
                      </m:sub>
                      <m:sup/>
                      <m:e>
                        <m:sSub>
                          <m:sSubPr>
                            <m:ctrlPr>
                              <a:rPr lang="en-NG" sz="1400" i="1">
                                <a:latin typeface="Cambria Math" panose="02040503050406030204" pitchFamily="18" charset="0"/>
                                <a:ea typeface="Calibri" panose="020F0502020204030204" pitchFamily="34" charset="0"/>
                                <a:cs typeface="Times New Roman" panose="02020603050405020304" pitchFamily="18" charset="0"/>
                              </a:rPr>
                            </m:ctrlPr>
                          </m:sSubPr>
                          <m:e>
                            <m:r>
                              <a:rPr lang="en-US" sz="1400" i="1">
                                <a:latin typeface="Cambria Math" panose="02040503050406030204" pitchFamily="18" charset="0"/>
                                <a:ea typeface="Times New Roman" panose="02020603050405020304" pitchFamily="18" charset="0"/>
                                <a:cs typeface="Times New Roman" panose="02020603050405020304" pitchFamily="18" charset="0"/>
                              </a:rPr>
                              <m:t>𝜔</m:t>
                            </m:r>
                          </m:e>
                          <m:sub>
                            <m:r>
                              <a:rPr lang="en-US" sz="1400" i="1">
                                <a:latin typeface="Cambria Math" panose="02040503050406030204" pitchFamily="18" charset="0"/>
                                <a:ea typeface="Calibri" panose="020F0502020204030204" pitchFamily="34" charset="0"/>
                                <a:cs typeface="Times New Roman" panose="02020603050405020304" pitchFamily="18" charset="0"/>
                              </a:rPr>
                              <m:t>𝑖𝑗</m:t>
                            </m:r>
                          </m:sub>
                        </m:sSub>
                      </m:e>
                    </m:nary>
                    <m:sSub>
                      <m:sSubPr>
                        <m:ctrlPr>
                          <a:rPr lang="en-NG" sz="1400" i="1">
                            <a:latin typeface="Cambria Math" panose="02040503050406030204" pitchFamily="18" charset="0"/>
                            <a:ea typeface="Calibri" panose="020F0502020204030204" pitchFamily="34" charset="0"/>
                            <a:cs typeface="Times New Roman" panose="02020603050405020304" pitchFamily="18" charset="0"/>
                          </a:rPr>
                        </m:ctrlPr>
                      </m:sSubPr>
                      <m:e>
                        <m:r>
                          <a:rPr lang="en-US" sz="1400" i="1">
                            <a:latin typeface="Cambria Math" panose="02040503050406030204" pitchFamily="18" charset="0"/>
                            <a:ea typeface="Calibri" panose="020F0502020204030204" pitchFamily="34" charset="0"/>
                            <a:cs typeface="Times New Roman" panose="02020603050405020304" pitchFamily="18" charset="0"/>
                          </a:rPr>
                          <m:t>𝑥</m:t>
                        </m:r>
                      </m:e>
                      <m:sub>
                        <m:r>
                          <a:rPr lang="en-US" sz="1400" i="1">
                            <a:latin typeface="Cambria Math" panose="02040503050406030204" pitchFamily="18" charset="0"/>
                            <a:ea typeface="Calibri" panose="020F0502020204030204" pitchFamily="34" charset="0"/>
                            <a:cs typeface="Times New Roman" panose="02020603050405020304" pitchFamily="18" charset="0"/>
                          </a:rPr>
                          <m:t>𝑗</m:t>
                        </m:r>
                      </m:sub>
                    </m:sSub>
                  </m:oMath>
                </a14:m>
                <a:endParaRPr lang="en-NG" sz="1400" dirty="0"/>
              </a:p>
            </p:txBody>
          </p:sp>
        </mc:Choice>
        <mc:Fallback xmlns="">
          <p:sp>
            <p:nvSpPr>
              <p:cNvPr id="11" name="TextBox 10">
                <a:extLst>
                  <a:ext uri="{FF2B5EF4-FFF2-40B4-BE49-F238E27FC236}">
                    <a16:creationId xmlns:a16="http://schemas.microsoft.com/office/drawing/2014/main" id="{2A5F2605-97DB-987F-704B-38E6C7551D41}"/>
                  </a:ext>
                </a:extLst>
              </p:cNvPr>
              <p:cNvSpPr txBox="1">
                <a:spLocks noRot="1" noChangeAspect="1" noMove="1" noResize="1" noEditPoints="1" noAdjustHandles="1" noChangeArrowheads="1" noChangeShapeType="1" noTextEdit="1"/>
              </p:cNvSpPr>
              <p:nvPr/>
            </p:nvSpPr>
            <p:spPr>
              <a:xfrm>
                <a:off x="3037840" y="1969964"/>
                <a:ext cx="3881120" cy="3392532"/>
              </a:xfrm>
              <a:prstGeom prst="rect">
                <a:avLst/>
              </a:prstGeom>
              <a:blipFill>
                <a:blip r:embed="rId4"/>
                <a:stretch>
                  <a:fillRect l="-654" r="-654" b="-8955"/>
                </a:stretch>
              </a:blipFill>
            </p:spPr>
            <p:txBody>
              <a:bodyPr/>
              <a:lstStyle/>
              <a:p>
                <a:r>
                  <a:rPr lang="en-NG">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545837-7445-4E57-ADDF-6731CDA4CAA7}"/>
                  </a:ext>
                </a:extLst>
              </p:cNvPr>
              <p:cNvSpPr txBox="1"/>
              <p:nvPr/>
            </p:nvSpPr>
            <p:spPr>
              <a:xfrm>
                <a:off x="7040880" y="1940022"/>
                <a:ext cx="5059680" cy="3287631"/>
              </a:xfrm>
              <a:prstGeom prst="rect">
                <a:avLst/>
              </a:prstGeom>
              <a:noFill/>
            </p:spPr>
            <p:txBody>
              <a:bodyPr wrap="square">
                <a:spAutoFit/>
              </a:bodyPr>
              <a:lstStyle/>
              <a:p>
                <a:pPr algn="just">
                  <a:lnSpc>
                    <a:spcPct val="150000"/>
                  </a:lnSpc>
                </a:pPr>
                <a:r>
                  <a:rPr lang="en-US" sz="1400" dirty="0">
                    <a:ea typeface="Times New Roman" panose="02020603050405020304" pitchFamily="18" charset="0"/>
                    <a:cs typeface="Times New Roman" panose="02020603050405020304" pitchFamily="18" charset="0"/>
                  </a:rPr>
                  <a:t>Continuing with the example, the weighted sum (</a:t>
                </a:r>
                <a14:m>
                  <m:oMath xmlns:m="http://schemas.openxmlformats.org/officeDocument/2006/math">
                    <m:r>
                      <m:rPr>
                        <m:sty m:val="p"/>
                      </m:rPr>
                      <a:rPr lang="en-US" sz="1400">
                        <a:latin typeface="Cambria Math" panose="02040503050406030204" pitchFamily="18" charset="0"/>
                        <a:ea typeface="Times New Roman" panose="02020603050405020304" pitchFamily="18" charset="0"/>
                        <a:cs typeface="Times New Roman" panose="02020603050405020304" pitchFamily="18" charset="0"/>
                      </a:rPr>
                      <m:t>Ζ</m:t>
                    </m:r>
                    <m:r>
                      <a:rPr lang="en-US" sz="1400">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400" dirty="0">
                    <a:ea typeface="Times New Roman" panose="02020603050405020304" pitchFamily="18" charset="0"/>
                    <a:cs typeface="Times New Roman" panose="02020603050405020304" pitchFamily="18" charset="0"/>
                  </a:rPr>
                  <a:t> for the three neurons is computed as;</a:t>
                </a:r>
                <a:endParaRPr lang="en-NG" sz="1400" dirty="0">
                  <a:ea typeface="Calibri" panose="020F0502020204030204" pitchFamily="34" charset="0"/>
                  <a:cs typeface="Times New Roman" panose="02020603050405020304" pitchFamily="18" charset="0"/>
                </a:endParaRPr>
              </a:p>
              <a:p>
                <a:pPr algn="just">
                  <a:lnSpc>
                    <a:spcPct val="150000"/>
                  </a:lnSpc>
                </a:pPr>
                <a14:m>
                  <m:oMath xmlns:m="http://schemas.openxmlformats.org/officeDocument/2006/math">
                    <m:sSub>
                      <m:sSub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a:latin typeface="Cambria Math" panose="02040503050406030204" pitchFamily="18" charset="0"/>
                            <a:ea typeface="Times New Roman" panose="02020603050405020304" pitchFamily="18" charset="0"/>
                            <a:cs typeface="Times New Roman" panose="02020603050405020304" pitchFamily="18" charset="0"/>
                          </a:rPr>
                          <m:t>𝑍</m:t>
                        </m:r>
                      </m:e>
                      <m:sub>
                        <m:r>
                          <a:rPr lang="en-US" sz="1400" i="1">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400" i="1">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NG" sz="1400" i="1">
                            <a:latin typeface="Cambria Math" panose="02040503050406030204" pitchFamily="18" charset="0"/>
                            <a:ea typeface="Calibri" panose="020F0502020204030204" pitchFamily="34" charset="0"/>
                            <a:cs typeface="Times New Roman" panose="02020603050405020304" pitchFamily="18" charset="0"/>
                          </a:rPr>
                        </m:ctrlPr>
                      </m:sSubPr>
                      <m:e>
                        <m:r>
                          <a:rPr lang="en-US" sz="1400" i="1">
                            <a:latin typeface="Cambria Math" panose="02040503050406030204" pitchFamily="18" charset="0"/>
                            <a:ea typeface="Times New Roman" panose="02020603050405020304" pitchFamily="18" charset="0"/>
                            <a:cs typeface="Times New Roman" panose="02020603050405020304" pitchFamily="18" charset="0"/>
                          </a:rPr>
                          <m:t>𝜔</m:t>
                        </m:r>
                      </m:e>
                      <m:sub>
                        <m:r>
                          <a:rPr lang="en-US" sz="1400" i="1">
                            <a:latin typeface="Cambria Math" panose="02040503050406030204" pitchFamily="18" charset="0"/>
                            <a:ea typeface="Calibri" panose="020F0502020204030204" pitchFamily="34" charset="0"/>
                            <a:cs typeface="Times New Roman" panose="02020603050405020304" pitchFamily="18" charset="0"/>
                          </a:rPr>
                          <m:t>1 2</m:t>
                        </m:r>
                      </m:sub>
                    </m:sSub>
                    <m:sSub>
                      <m:sSubPr>
                        <m:ctrlPr>
                          <a:rPr lang="en-NG" sz="1400" i="1">
                            <a:latin typeface="Cambria Math" panose="02040503050406030204" pitchFamily="18" charset="0"/>
                            <a:ea typeface="Calibri" panose="020F0502020204030204" pitchFamily="34" charset="0"/>
                            <a:cs typeface="Times New Roman" panose="02020603050405020304" pitchFamily="18" charset="0"/>
                          </a:rPr>
                        </m:ctrlPr>
                      </m:sSubPr>
                      <m:e>
                        <m:r>
                          <a:rPr lang="en-US" sz="1400" i="1">
                            <a:latin typeface="Cambria Math" panose="02040503050406030204" pitchFamily="18" charset="0"/>
                            <a:ea typeface="Times New Roman" panose="02020603050405020304" pitchFamily="18" charset="0"/>
                            <a:cs typeface="Times New Roman" panose="02020603050405020304" pitchFamily="18" charset="0"/>
                          </a:rPr>
                          <m:t>𝑥</m:t>
                        </m:r>
                      </m:e>
                      <m:sub>
                        <m:r>
                          <a:rPr lang="en-US" sz="1400" i="1">
                            <a:latin typeface="Cambria Math" panose="02040503050406030204" pitchFamily="18" charset="0"/>
                            <a:ea typeface="Calibri" panose="020F0502020204030204" pitchFamily="34" charset="0"/>
                            <a:cs typeface="Times New Roman" panose="02020603050405020304" pitchFamily="18" charset="0"/>
                          </a:rPr>
                          <m:t>2</m:t>
                        </m:r>
                      </m:sub>
                    </m:sSub>
                    <m:r>
                      <a:rPr lang="en-US" sz="1400" i="1">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NG" sz="1400" i="1">
                            <a:latin typeface="Cambria Math" panose="02040503050406030204" pitchFamily="18" charset="0"/>
                            <a:ea typeface="Calibri" panose="020F0502020204030204" pitchFamily="34" charset="0"/>
                            <a:cs typeface="Times New Roman" panose="02020603050405020304" pitchFamily="18" charset="0"/>
                          </a:rPr>
                        </m:ctrlPr>
                      </m:sSubPr>
                      <m:e>
                        <m:r>
                          <a:rPr lang="en-US" sz="1400" i="1">
                            <a:latin typeface="Cambria Math" panose="02040503050406030204" pitchFamily="18" charset="0"/>
                            <a:ea typeface="Times New Roman" panose="02020603050405020304" pitchFamily="18" charset="0"/>
                            <a:cs typeface="Times New Roman" panose="02020603050405020304" pitchFamily="18" charset="0"/>
                          </a:rPr>
                          <m:t>𝜔</m:t>
                        </m:r>
                      </m:e>
                      <m:sub>
                        <m:r>
                          <a:rPr lang="en-US" sz="1400" i="1">
                            <a:latin typeface="Cambria Math" panose="02040503050406030204" pitchFamily="18" charset="0"/>
                            <a:ea typeface="Calibri" panose="020F0502020204030204" pitchFamily="34" charset="0"/>
                            <a:cs typeface="Times New Roman" panose="02020603050405020304" pitchFamily="18" charset="0"/>
                          </a:rPr>
                          <m:t>1 3</m:t>
                        </m:r>
                      </m:sub>
                    </m:sSub>
                    <m:sSub>
                      <m:sSubPr>
                        <m:ctrlPr>
                          <a:rPr lang="en-NG" sz="1400" i="1">
                            <a:latin typeface="Cambria Math" panose="02040503050406030204" pitchFamily="18" charset="0"/>
                            <a:ea typeface="Calibri" panose="020F0502020204030204" pitchFamily="34" charset="0"/>
                            <a:cs typeface="Times New Roman" panose="02020603050405020304" pitchFamily="18" charset="0"/>
                          </a:rPr>
                        </m:ctrlPr>
                      </m:sSubPr>
                      <m:e>
                        <m:r>
                          <a:rPr lang="en-US" sz="1400" i="1">
                            <a:latin typeface="Cambria Math" panose="02040503050406030204" pitchFamily="18" charset="0"/>
                            <a:ea typeface="Times New Roman" panose="02020603050405020304" pitchFamily="18" charset="0"/>
                            <a:cs typeface="Times New Roman" panose="02020603050405020304" pitchFamily="18" charset="0"/>
                          </a:rPr>
                          <m:t>𝑥</m:t>
                        </m:r>
                      </m:e>
                      <m:sub>
                        <m:r>
                          <a:rPr lang="en-US" sz="1400" i="1">
                            <a:latin typeface="Cambria Math" panose="02040503050406030204" pitchFamily="18" charset="0"/>
                            <a:ea typeface="Calibri" panose="020F0502020204030204" pitchFamily="34" charset="0"/>
                            <a:cs typeface="Times New Roman" panose="02020603050405020304" pitchFamily="18" charset="0"/>
                          </a:rPr>
                          <m:t>3</m:t>
                        </m:r>
                      </m:sub>
                    </m:sSub>
                  </m:oMath>
                </a14:m>
                <a:r>
                  <a:rPr lang="en-US" sz="1400" dirty="0">
                    <a:ea typeface="Times New Roman" panose="02020603050405020304" pitchFamily="18" charset="0"/>
                    <a:cs typeface="Times New Roman" panose="02020603050405020304" pitchFamily="18" charset="0"/>
                  </a:rPr>
                  <a:t> = (-1) (-1) + (1) (1) = 1 + 1 = +2</a:t>
                </a:r>
                <a:endParaRPr lang="en-NG" sz="1400" dirty="0">
                  <a:ea typeface="Calibri" panose="020F0502020204030204" pitchFamily="34" charset="0"/>
                  <a:cs typeface="Times New Roman" panose="02020603050405020304" pitchFamily="18" charset="0"/>
                </a:endParaRPr>
              </a:p>
              <a:p>
                <a:pPr algn="just">
                  <a:lnSpc>
                    <a:spcPct val="150000"/>
                  </a:lnSpc>
                </a:pPr>
                <a14:m>
                  <m:oMath xmlns:m="http://schemas.openxmlformats.org/officeDocument/2006/math">
                    <m:sSub>
                      <m:sSub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a:latin typeface="Cambria Math" panose="02040503050406030204" pitchFamily="18" charset="0"/>
                            <a:ea typeface="Times New Roman" panose="02020603050405020304" pitchFamily="18" charset="0"/>
                            <a:cs typeface="Times New Roman" panose="02020603050405020304" pitchFamily="18" charset="0"/>
                          </a:rPr>
                          <m:t>𝑍</m:t>
                        </m:r>
                      </m:e>
                      <m:sub>
                        <m:r>
                          <a:rPr lang="en-US" sz="1400" i="1">
                            <a:latin typeface="Cambria Math" panose="02040503050406030204" pitchFamily="18" charset="0"/>
                            <a:ea typeface="Times New Roman" panose="02020603050405020304" pitchFamily="18" charset="0"/>
                            <a:cs typeface="Times New Roman" panose="02020603050405020304" pitchFamily="18" charset="0"/>
                          </a:rPr>
                          <m:t>2</m:t>
                        </m:r>
                      </m:sub>
                    </m:sSub>
                    <m:r>
                      <a:rPr lang="en-US" sz="1400" i="1">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NG" sz="1400" i="1">
                            <a:latin typeface="Cambria Math" panose="02040503050406030204" pitchFamily="18" charset="0"/>
                            <a:ea typeface="Calibri" panose="020F0502020204030204" pitchFamily="34" charset="0"/>
                            <a:cs typeface="Times New Roman" panose="02020603050405020304" pitchFamily="18" charset="0"/>
                          </a:rPr>
                        </m:ctrlPr>
                      </m:sSubPr>
                      <m:e>
                        <m:r>
                          <a:rPr lang="en-US" sz="1400" i="1">
                            <a:latin typeface="Cambria Math" panose="02040503050406030204" pitchFamily="18" charset="0"/>
                            <a:ea typeface="Times New Roman" panose="02020603050405020304" pitchFamily="18" charset="0"/>
                            <a:cs typeface="Times New Roman" panose="02020603050405020304" pitchFamily="18" charset="0"/>
                          </a:rPr>
                          <m:t>𝜔</m:t>
                        </m:r>
                      </m:e>
                      <m:sub>
                        <m:r>
                          <a:rPr lang="en-US" sz="1400" i="1">
                            <a:latin typeface="Cambria Math" panose="02040503050406030204" pitchFamily="18" charset="0"/>
                            <a:ea typeface="Calibri" panose="020F0502020204030204" pitchFamily="34" charset="0"/>
                            <a:cs typeface="Times New Roman" panose="02020603050405020304" pitchFamily="18" charset="0"/>
                          </a:rPr>
                          <m:t>2 1</m:t>
                        </m:r>
                      </m:sub>
                    </m:sSub>
                    <m:sSub>
                      <m:sSubPr>
                        <m:ctrlPr>
                          <a:rPr lang="en-NG" sz="1400" i="1">
                            <a:latin typeface="Cambria Math" panose="02040503050406030204" pitchFamily="18" charset="0"/>
                            <a:ea typeface="Calibri" panose="020F0502020204030204" pitchFamily="34" charset="0"/>
                            <a:cs typeface="Times New Roman" panose="02020603050405020304" pitchFamily="18" charset="0"/>
                          </a:rPr>
                        </m:ctrlPr>
                      </m:sSubPr>
                      <m:e>
                        <m:r>
                          <a:rPr lang="en-US" sz="1400" i="1">
                            <a:latin typeface="Cambria Math" panose="02040503050406030204" pitchFamily="18" charset="0"/>
                            <a:ea typeface="Times New Roman" panose="02020603050405020304" pitchFamily="18" charset="0"/>
                            <a:cs typeface="Times New Roman" panose="02020603050405020304" pitchFamily="18" charset="0"/>
                          </a:rPr>
                          <m:t>𝑥</m:t>
                        </m:r>
                      </m:e>
                      <m:sub>
                        <m:r>
                          <a:rPr lang="en-US" sz="1400" i="1">
                            <a:latin typeface="Cambria Math" panose="02040503050406030204" pitchFamily="18" charset="0"/>
                            <a:ea typeface="Calibri" panose="020F0502020204030204" pitchFamily="34" charset="0"/>
                            <a:cs typeface="Times New Roman" panose="02020603050405020304" pitchFamily="18" charset="0"/>
                          </a:rPr>
                          <m:t>1</m:t>
                        </m:r>
                      </m:sub>
                    </m:sSub>
                    <m:r>
                      <a:rPr lang="en-US" sz="1400" i="1">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NG" sz="1400" i="1">
                            <a:latin typeface="Cambria Math" panose="02040503050406030204" pitchFamily="18" charset="0"/>
                            <a:ea typeface="Calibri" panose="020F0502020204030204" pitchFamily="34" charset="0"/>
                            <a:cs typeface="Times New Roman" panose="02020603050405020304" pitchFamily="18" charset="0"/>
                          </a:rPr>
                        </m:ctrlPr>
                      </m:sSubPr>
                      <m:e>
                        <m:r>
                          <a:rPr lang="en-US" sz="1400" i="1">
                            <a:latin typeface="Cambria Math" panose="02040503050406030204" pitchFamily="18" charset="0"/>
                            <a:ea typeface="Times New Roman" panose="02020603050405020304" pitchFamily="18" charset="0"/>
                            <a:cs typeface="Times New Roman" panose="02020603050405020304" pitchFamily="18" charset="0"/>
                          </a:rPr>
                          <m:t>𝜔</m:t>
                        </m:r>
                      </m:e>
                      <m:sub>
                        <m:r>
                          <a:rPr lang="en-US" sz="1400" i="1">
                            <a:latin typeface="Cambria Math" panose="02040503050406030204" pitchFamily="18" charset="0"/>
                            <a:ea typeface="Calibri" panose="020F0502020204030204" pitchFamily="34" charset="0"/>
                            <a:cs typeface="Times New Roman" panose="02020603050405020304" pitchFamily="18" charset="0"/>
                          </a:rPr>
                          <m:t>2 3</m:t>
                        </m:r>
                      </m:sub>
                    </m:sSub>
                    <m:sSub>
                      <m:sSubPr>
                        <m:ctrlPr>
                          <a:rPr lang="en-NG" sz="1400" i="1">
                            <a:latin typeface="Cambria Math" panose="02040503050406030204" pitchFamily="18" charset="0"/>
                            <a:ea typeface="Calibri" panose="020F0502020204030204" pitchFamily="34" charset="0"/>
                            <a:cs typeface="Times New Roman" panose="02020603050405020304" pitchFamily="18" charset="0"/>
                          </a:rPr>
                        </m:ctrlPr>
                      </m:sSubPr>
                      <m:e>
                        <m:r>
                          <a:rPr lang="en-US" sz="1400" i="1">
                            <a:latin typeface="Cambria Math" panose="02040503050406030204" pitchFamily="18" charset="0"/>
                            <a:ea typeface="Times New Roman" panose="02020603050405020304" pitchFamily="18" charset="0"/>
                            <a:cs typeface="Times New Roman" panose="02020603050405020304" pitchFamily="18" charset="0"/>
                          </a:rPr>
                          <m:t>𝑥</m:t>
                        </m:r>
                      </m:e>
                      <m:sub>
                        <m:r>
                          <a:rPr lang="en-US" sz="1400" i="1">
                            <a:latin typeface="Cambria Math" panose="02040503050406030204" pitchFamily="18" charset="0"/>
                            <a:ea typeface="Calibri" panose="020F0502020204030204" pitchFamily="34" charset="0"/>
                            <a:cs typeface="Times New Roman" panose="02020603050405020304" pitchFamily="18" charset="0"/>
                          </a:rPr>
                          <m:t>3</m:t>
                        </m:r>
                      </m:sub>
                    </m:sSub>
                    <m:r>
                      <a:rPr lang="en-US" sz="1400" i="1">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400" dirty="0">
                    <a:ea typeface="Times New Roman" panose="02020603050405020304" pitchFamily="18" charset="0"/>
                    <a:cs typeface="Times New Roman" panose="02020603050405020304" pitchFamily="18" charset="0"/>
                  </a:rPr>
                  <a:t>= (-1) (1) + (-1) (1) = -1(+)-1, -1-1 = -2 </a:t>
                </a:r>
                <a:endParaRPr lang="en-NG" sz="1400" dirty="0">
                  <a:ea typeface="Calibri" panose="020F0502020204030204" pitchFamily="34" charset="0"/>
                  <a:cs typeface="Times New Roman" panose="02020603050405020304" pitchFamily="18" charset="0"/>
                </a:endParaRPr>
              </a:p>
              <a:p>
                <a:pPr algn="just">
                  <a:lnSpc>
                    <a:spcPct val="150000"/>
                  </a:lnSpc>
                </a:pPr>
                <a14:m>
                  <m:oMath xmlns:m="http://schemas.openxmlformats.org/officeDocument/2006/math">
                    <m:sSub>
                      <m:sSubPr>
                        <m:ctrlPr>
                          <a:rPr lang="en-NG" sz="1400"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a:latin typeface="Cambria Math" panose="02040503050406030204" pitchFamily="18" charset="0"/>
                            <a:ea typeface="Times New Roman" panose="02020603050405020304" pitchFamily="18" charset="0"/>
                            <a:cs typeface="Times New Roman" panose="02020603050405020304" pitchFamily="18" charset="0"/>
                          </a:rPr>
                          <m:t>𝑍</m:t>
                        </m:r>
                      </m:e>
                      <m:sub>
                        <m:r>
                          <a:rPr lang="en-US" sz="1400" i="1">
                            <a:latin typeface="Cambria Math" panose="02040503050406030204" pitchFamily="18" charset="0"/>
                            <a:ea typeface="Times New Roman" panose="02020603050405020304" pitchFamily="18" charset="0"/>
                            <a:cs typeface="Times New Roman" panose="02020603050405020304" pitchFamily="18" charset="0"/>
                          </a:rPr>
                          <m:t>3</m:t>
                        </m:r>
                      </m:sub>
                    </m:sSub>
                    <m:r>
                      <a:rPr lang="en-US" sz="1400" i="1">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NG" sz="1400" i="1">
                            <a:latin typeface="Cambria Math" panose="02040503050406030204" pitchFamily="18" charset="0"/>
                            <a:ea typeface="Calibri" panose="020F0502020204030204" pitchFamily="34" charset="0"/>
                            <a:cs typeface="Times New Roman" panose="02020603050405020304" pitchFamily="18" charset="0"/>
                          </a:rPr>
                        </m:ctrlPr>
                      </m:sSubPr>
                      <m:e>
                        <m:r>
                          <a:rPr lang="en-US" sz="1400" i="1">
                            <a:latin typeface="Cambria Math" panose="02040503050406030204" pitchFamily="18" charset="0"/>
                            <a:ea typeface="Times New Roman" panose="02020603050405020304" pitchFamily="18" charset="0"/>
                            <a:cs typeface="Times New Roman" panose="02020603050405020304" pitchFamily="18" charset="0"/>
                          </a:rPr>
                          <m:t>𝜔</m:t>
                        </m:r>
                      </m:e>
                      <m:sub>
                        <m:r>
                          <a:rPr lang="en-US" sz="1400" i="1">
                            <a:latin typeface="Cambria Math" panose="02040503050406030204" pitchFamily="18" charset="0"/>
                            <a:ea typeface="Calibri" panose="020F0502020204030204" pitchFamily="34" charset="0"/>
                            <a:cs typeface="Times New Roman" panose="02020603050405020304" pitchFamily="18" charset="0"/>
                          </a:rPr>
                          <m:t>3 1</m:t>
                        </m:r>
                      </m:sub>
                    </m:sSub>
                    <m:sSub>
                      <m:sSubPr>
                        <m:ctrlPr>
                          <a:rPr lang="en-NG" sz="1400" i="1">
                            <a:latin typeface="Cambria Math" panose="02040503050406030204" pitchFamily="18" charset="0"/>
                            <a:ea typeface="Calibri" panose="020F0502020204030204" pitchFamily="34" charset="0"/>
                            <a:cs typeface="Times New Roman" panose="02020603050405020304" pitchFamily="18" charset="0"/>
                          </a:rPr>
                        </m:ctrlPr>
                      </m:sSubPr>
                      <m:e>
                        <m:r>
                          <a:rPr lang="en-US" sz="1400" i="1">
                            <a:latin typeface="Cambria Math" panose="02040503050406030204" pitchFamily="18" charset="0"/>
                            <a:ea typeface="Times New Roman" panose="02020603050405020304" pitchFamily="18" charset="0"/>
                            <a:cs typeface="Times New Roman" panose="02020603050405020304" pitchFamily="18" charset="0"/>
                          </a:rPr>
                          <m:t>𝑥</m:t>
                        </m:r>
                      </m:e>
                      <m:sub>
                        <m:r>
                          <a:rPr lang="en-US" sz="1400" i="1">
                            <a:latin typeface="Cambria Math" panose="02040503050406030204" pitchFamily="18" charset="0"/>
                            <a:ea typeface="Calibri" panose="020F0502020204030204" pitchFamily="34" charset="0"/>
                            <a:cs typeface="Times New Roman" panose="02020603050405020304" pitchFamily="18" charset="0"/>
                          </a:rPr>
                          <m:t>1</m:t>
                        </m:r>
                      </m:sub>
                    </m:sSub>
                    <m:r>
                      <a:rPr lang="en-US" sz="1400" i="1">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NG" sz="1400" i="1">
                            <a:latin typeface="Cambria Math" panose="02040503050406030204" pitchFamily="18" charset="0"/>
                            <a:ea typeface="Calibri" panose="020F0502020204030204" pitchFamily="34" charset="0"/>
                            <a:cs typeface="Times New Roman" panose="02020603050405020304" pitchFamily="18" charset="0"/>
                          </a:rPr>
                        </m:ctrlPr>
                      </m:sSubPr>
                      <m:e>
                        <m:r>
                          <a:rPr lang="en-US" sz="1400" i="1">
                            <a:latin typeface="Cambria Math" panose="02040503050406030204" pitchFamily="18" charset="0"/>
                            <a:ea typeface="Times New Roman" panose="02020603050405020304" pitchFamily="18" charset="0"/>
                            <a:cs typeface="Times New Roman" panose="02020603050405020304" pitchFamily="18" charset="0"/>
                          </a:rPr>
                          <m:t>𝜔</m:t>
                        </m:r>
                      </m:e>
                      <m:sub>
                        <m:r>
                          <a:rPr lang="en-US" sz="1400" i="1">
                            <a:latin typeface="Cambria Math" panose="02040503050406030204" pitchFamily="18" charset="0"/>
                            <a:ea typeface="Calibri" panose="020F0502020204030204" pitchFamily="34" charset="0"/>
                            <a:cs typeface="Times New Roman" panose="02020603050405020304" pitchFamily="18" charset="0"/>
                          </a:rPr>
                          <m:t>3 2</m:t>
                        </m:r>
                      </m:sub>
                    </m:sSub>
                    <m:sSub>
                      <m:sSubPr>
                        <m:ctrlPr>
                          <a:rPr lang="en-NG" sz="1400" i="1">
                            <a:latin typeface="Cambria Math" panose="02040503050406030204" pitchFamily="18" charset="0"/>
                            <a:ea typeface="Calibri" panose="020F0502020204030204" pitchFamily="34" charset="0"/>
                            <a:cs typeface="Times New Roman" panose="02020603050405020304" pitchFamily="18" charset="0"/>
                          </a:rPr>
                        </m:ctrlPr>
                      </m:sSubPr>
                      <m:e>
                        <m:r>
                          <a:rPr lang="en-US" sz="1400" i="1">
                            <a:latin typeface="Cambria Math" panose="02040503050406030204" pitchFamily="18" charset="0"/>
                            <a:ea typeface="Times New Roman" panose="02020603050405020304" pitchFamily="18" charset="0"/>
                            <a:cs typeface="Times New Roman" panose="02020603050405020304" pitchFamily="18" charset="0"/>
                          </a:rPr>
                          <m:t>𝑥</m:t>
                        </m:r>
                      </m:e>
                      <m:sub>
                        <m:r>
                          <a:rPr lang="en-US" sz="1400" i="1">
                            <a:latin typeface="Cambria Math" panose="02040503050406030204" pitchFamily="18" charset="0"/>
                            <a:ea typeface="Calibri" panose="020F0502020204030204" pitchFamily="34" charset="0"/>
                            <a:cs typeface="Times New Roman" panose="02020603050405020304" pitchFamily="18" charset="0"/>
                          </a:rPr>
                          <m:t>2</m:t>
                        </m:r>
                      </m:sub>
                    </m:sSub>
                    <m:r>
                      <a:rPr lang="en-US" sz="1400" i="1">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400" dirty="0">
                    <a:ea typeface="Times New Roman" panose="02020603050405020304" pitchFamily="18" charset="0"/>
                    <a:cs typeface="Times New Roman" panose="02020603050405020304" pitchFamily="18" charset="0"/>
                  </a:rPr>
                  <a:t>= (1) (1) + (-1) (-1) = 1 + 1 = +2</a:t>
                </a:r>
              </a:p>
              <a:p>
                <a:pPr algn="just">
                  <a:lnSpc>
                    <a:spcPct val="150000"/>
                  </a:lnSpc>
                </a:pPr>
                <a:endParaRPr lang="en-NG" sz="1400" dirty="0">
                  <a:ea typeface="Calibri" panose="020F0502020204030204" pitchFamily="34" charset="0"/>
                  <a:cs typeface="Times New Roman" panose="02020603050405020304" pitchFamily="18" charset="0"/>
                </a:endParaRPr>
              </a:p>
              <a:p>
                <a:pPr algn="just">
                  <a:lnSpc>
                    <a:spcPct val="150000"/>
                  </a:lnSpc>
                </a:pPr>
                <a14:m>
                  <m:oMath xmlns:m="http://schemas.openxmlformats.org/officeDocument/2006/math">
                    <m:sSub>
                      <m:sSubPr>
                        <m:ctrlPr>
                          <a:rPr lang="en-NG" sz="1400" i="1">
                            <a:latin typeface="Cambria Math" panose="02040503050406030204" pitchFamily="18" charset="0"/>
                            <a:ea typeface="Calibri" panose="020F0502020204030204" pitchFamily="34" charset="0"/>
                            <a:cs typeface="Times New Roman" panose="02020603050405020304" pitchFamily="18" charset="0"/>
                          </a:rPr>
                        </m:ctrlPr>
                      </m:sSubPr>
                      <m:e>
                        <m:r>
                          <a:rPr lang="en-US" sz="1400" i="1">
                            <a:latin typeface="Cambria Math" panose="02040503050406030204" pitchFamily="18" charset="0"/>
                            <a:ea typeface="Calibri" panose="020F0502020204030204" pitchFamily="34" charset="0"/>
                            <a:cs typeface="Times New Roman" panose="02020603050405020304" pitchFamily="18" charset="0"/>
                          </a:rPr>
                          <m:t>𝑥</m:t>
                        </m:r>
                      </m:e>
                      <m:sub>
                        <m:r>
                          <a:rPr lang="en-US" sz="1400" i="1">
                            <a:latin typeface="Cambria Math" panose="02040503050406030204" pitchFamily="18" charset="0"/>
                            <a:ea typeface="Calibri" panose="020F0502020204030204" pitchFamily="34" charset="0"/>
                            <a:cs typeface="Times New Roman" panose="02020603050405020304" pitchFamily="18" charset="0"/>
                          </a:rPr>
                          <m:t>1</m:t>
                        </m:r>
                      </m:sub>
                    </m:sSub>
                    <m:r>
                      <a:rPr lang="en-US" sz="1400" i="1">
                        <a:latin typeface="Cambria Math" panose="02040503050406030204" pitchFamily="18" charset="0"/>
                        <a:ea typeface="Calibri" panose="020F0502020204030204" pitchFamily="34" charset="0"/>
                        <a:cs typeface="Times New Roman" panose="02020603050405020304" pitchFamily="18" charset="0"/>
                      </a:rPr>
                      <m:t>=</m:t>
                    </m:r>
                    <m:r>
                      <a:rPr lang="en-US" sz="1400" i="1">
                        <a:latin typeface="Cambria Math" panose="02040503050406030204" pitchFamily="18" charset="0"/>
                        <a:ea typeface="Calibri" panose="020F0502020204030204" pitchFamily="34" charset="0"/>
                        <a:cs typeface="Times New Roman" panose="02020603050405020304" pitchFamily="18" charset="0"/>
                      </a:rPr>
                      <m:t>𝑠𝑖𝑔𝑛</m:t>
                    </m:r>
                    <m:r>
                      <a:rPr lang="en-US" sz="1400" i="1">
                        <a:latin typeface="Cambria Math" panose="02040503050406030204" pitchFamily="18" charset="0"/>
                        <a:ea typeface="Calibri" panose="020F0502020204030204" pitchFamily="34" charset="0"/>
                        <a:cs typeface="Times New Roman" panose="02020603050405020304" pitchFamily="18" charset="0"/>
                      </a:rPr>
                      <m:t>(</m:t>
                    </m:r>
                    <m:sSub>
                      <m:sSubPr>
                        <m:ctrlPr>
                          <a:rPr lang="en-NG" sz="1400" i="1">
                            <a:latin typeface="Cambria Math" panose="02040503050406030204" pitchFamily="18" charset="0"/>
                            <a:ea typeface="Calibri" panose="020F0502020204030204" pitchFamily="34" charset="0"/>
                            <a:cs typeface="Times New Roman" panose="02020603050405020304" pitchFamily="18" charset="0"/>
                          </a:rPr>
                        </m:ctrlPr>
                      </m:sSubPr>
                      <m:e>
                        <m:r>
                          <a:rPr lang="en-US" sz="1400" i="1">
                            <a:latin typeface="Cambria Math" panose="02040503050406030204" pitchFamily="18" charset="0"/>
                            <a:ea typeface="Calibri" panose="020F0502020204030204" pitchFamily="34" charset="0"/>
                            <a:cs typeface="Times New Roman" panose="02020603050405020304" pitchFamily="18" charset="0"/>
                          </a:rPr>
                          <m:t>𝑧</m:t>
                        </m:r>
                      </m:e>
                      <m:sub>
                        <m:r>
                          <a:rPr lang="en-US" sz="1400" i="1">
                            <a:latin typeface="Cambria Math" panose="02040503050406030204" pitchFamily="18" charset="0"/>
                            <a:ea typeface="Calibri" panose="020F0502020204030204" pitchFamily="34" charset="0"/>
                            <a:cs typeface="Times New Roman" panose="02020603050405020304" pitchFamily="18" charset="0"/>
                          </a:rPr>
                          <m:t>1</m:t>
                        </m:r>
                      </m:sub>
                    </m:sSub>
                    <m:r>
                      <a:rPr lang="en-US" sz="1400" i="1">
                        <a:latin typeface="Cambria Math" panose="02040503050406030204" pitchFamily="18" charset="0"/>
                        <a:ea typeface="Calibri" panose="020F0502020204030204" pitchFamily="34" charset="0"/>
                        <a:cs typeface="Times New Roman" panose="02020603050405020304" pitchFamily="18" charset="0"/>
                      </a:rPr>
                      <m:t>)</m:t>
                    </m:r>
                  </m:oMath>
                </a14:m>
                <a:r>
                  <a:rPr lang="en-US" sz="1400" dirty="0">
                    <a:ea typeface="Times New Roman" panose="02020603050405020304" pitchFamily="18" charset="0"/>
                    <a:cs typeface="Times New Roman" panose="02020603050405020304" pitchFamily="18" charset="0"/>
                  </a:rPr>
                  <a:t> which is, (+)</a:t>
                </a:r>
                <a:endParaRPr lang="en-NG" sz="1400" dirty="0">
                  <a:ea typeface="Calibri" panose="020F0502020204030204" pitchFamily="34" charset="0"/>
                  <a:cs typeface="Times New Roman" panose="02020603050405020304" pitchFamily="18" charset="0"/>
                </a:endParaRPr>
              </a:p>
              <a:p>
                <a:pPr algn="just">
                  <a:lnSpc>
                    <a:spcPct val="150000"/>
                  </a:lnSpc>
                </a:pPr>
                <a14:m>
                  <m:oMath xmlns:m="http://schemas.openxmlformats.org/officeDocument/2006/math">
                    <m:sSub>
                      <m:sSubPr>
                        <m:ctrlPr>
                          <a:rPr lang="en-NG" sz="1400" i="1">
                            <a:latin typeface="Cambria Math" panose="02040503050406030204" pitchFamily="18" charset="0"/>
                            <a:ea typeface="Calibri" panose="020F0502020204030204" pitchFamily="34" charset="0"/>
                            <a:cs typeface="Times New Roman" panose="02020603050405020304" pitchFamily="18" charset="0"/>
                          </a:rPr>
                        </m:ctrlPr>
                      </m:sSubPr>
                      <m:e>
                        <m:r>
                          <a:rPr lang="en-US" sz="1400" i="1">
                            <a:latin typeface="Cambria Math" panose="02040503050406030204" pitchFamily="18" charset="0"/>
                            <a:ea typeface="Calibri" panose="020F0502020204030204" pitchFamily="34" charset="0"/>
                            <a:cs typeface="Times New Roman" panose="02020603050405020304" pitchFamily="18" charset="0"/>
                          </a:rPr>
                          <m:t>𝑥</m:t>
                        </m:r>
                      </m:e>
                      <m:sub>
                        <m:r>
                          <a:rPr lang="en-US" sz="1400" i="1">
                            <a:latin typeface="Cambria Math" panose="02040503050406030204" pitchFamily="18" charset="0"/>
                            <a:ea typeface="Calibri" panose="020F0502020204030204" pitchFamily="34" charset="0"/>
                            <a:cs typeface="Times New Roman" panose="02020603050405020304" pitchFamily="18" charset="0"/>
                          </a:rPr>
                          <m:t>2</m:t>
                        </m:r>
                      </m:sub>
                    </m:sSub>
                    <m:r>
                      <a:rPr lang="en-US" sz="1400" i="1">
                        <a:latin typeface="Cambria Math" panose="02040503050406030204" pitchFamily="18" charset="0"/>
                        <a:ea typeface="Calibri" panose="020F0502020204030204" pitchFamily="34" charset="0"/>
                        <a:cs typeface="Times New Roman" panose="02020603050405020304" pitchFamily="18" charset="0"/>
                      </a:rPr>
                      <m:t>=</m:t>
                    </m:r>
                    <m:r>
                      <a:rPr lang="en-US" sz="1400" i="1">
                        <a:latin typeface="Cambria Math" panose="02040503050406030204" pitchFamily="18" charset="0"/>
                        <a:ea typeface="Calibri" panose="020F0502020204030204" pitchFamily="34" charset="0"/>
                        <a:cs typeface="Times New Roman" panose="02020603050405020304" pitchFamily="18" charset="0"/>
                      </a:rPr>
                      <m:t>𝑠𝑖𝑔𝑛</m:t>
                    </m:r>
                    <m:r>
                      <a:rPr lang="en-US" sz="1400" i="1">
                        <a:latin typeface="Cambria Math" panose="02040503050406030204" pitchFamily="18" charset="0"/>
                        <a:ea typeface="Calibri" panose="020F0502020204030204" pitchFamily="34" charset="0"/>
                        <a:cs typeface="Times New Roman" panose="02020603050405020304" pitchFamily="18" charset="0"/>
                      </a:rPr>
                      <m:t>(</m:t>
                    </m:r>
                    <m:sSub>
                      <m:sSubPr>
                        <m:ctrlPr>
                          <a:rPr lang="en-NG" sz="1400" i="1">
                            <a:latin typeface="Cambria Math" panose="02040503050406030204" pitchFamily="18" charset="0"/>
                            <a:ea typeface="Calibri" panose="020F0502020204030204" pitchFamily="34" charset="0"/>
                            <a:cs typeface="Times New Roman" panose="02020603050405020304" pitchFamily="18" charset="0"/>
                          </a:rPr>
                        </m:ctrlPr>
                      </m:sSubPr>
                      <m:e>
                        <m:r>
                          <a:rPr lang="en-US" sz="1400" i="1">
                            <a:latin typeface="Cambria Math" panose="02040503050406030204" pitchFamily="18" charset="0"/>
                            <a:ea typeface="Calibri" panose="020F0502020204030204" pitchFamily="34" charset="0"/>
                            <a:cs typeface="Times New Roman" panose="02020603050405020304" pitchFamily="18" charset="0"/>
                          </a:rPr>
                          <m:t>𝑧</m:t>
                        </m:r>
                      </m:e>
                      <m:sub>
                        <m:r>
                          <a:rPr lang="en-US" sz="1400" i="1">
                            <a:latin typeface="Cambria Math" panose="02040503050406030204" pitchFamily="18" charset="0"/>
                            <a:ea typeface="Calibri" panose="020F0502020204030204" pitchFamily="34" charset="0"/>
                            <a:cs typeface="Times New Roman" panose="02020603050405020304" pitchFamily="18" charset="0"/>
                          </a:rPr>
                          <m:t>2</m:t>
                        </m:r>
                      </m:sub>
                    </m:sSub>
                    <m:r>
                      <a:rPr lang="en-US" sz="1400" i="1">
                        <a:latin typeface="Cambria Math" panose="02040503050406030204" pitchFamily="18" charset="0"/>
                        <a:ea typeface="Calibri" panose="020F0502020204030204" pitchFamily="34" charset="0"/>
                        <a:cs typeface="Times New Roman" panose="02020603050405020304" pitchFamily="18" charset="0"/>
                      </a:rPr>
                      <m:t>)</m:t>
                    </m:r>
                  </m:oMath>
                </a14:m>
                <a:r>
                  <a:rPr lang="en-US" sz="1400" dirty="0">
                    <a:ea typeface="Times New Roman" panose="02020603050405020304" pitchFamily="18" charset="0"/>
                    <a:cs typeface="Times New Roman" panose="02020603050405020304" pitchFamily="18" charset="0"/>
                  </a:rPr>
                  <a:t> which is, (-)</a:t>
                </a:r>
                <a:endParaRPr lang="en-NG" sz="1400" dirty="0">
                  <a:ea typeface="Calibri" panose="020F0502020204030204" pitchFamily="34" charset="0"/>
                  <a:cs typeface="Times New Roman" panose="02020603050405020304" pitchFamily="18" charset="0"/>
                </a:endParaRPr>
              </a:p>
              <a:p>
                <a:pPr algn="just">
                  <a:lnSpc>
                    <a:spcPct val="150000"/>
                  </a:lnSpc>
                </a:pPr>
                <a14:m>
                  <m:oMath xmlns:m="http://schemas.openxmlformats.org/officeDocument/2006/math">
                    <m:sSub>
                      <m:sSubPr>
                        <m:ctrlPr>
                          <a:rPr lang="en-NG" sz="1400" i="1">
                            <a:latin typeface="Cambria Math" panose="02040503050406030204" pitchFamily="18" charset="0"/>
                            <a:ea typeface="Calibri" panose="020F0502020204030204" pitchFamily="34" charset="0"/>
                            <a:cs typeface="Times New Roman" panose="02020603050405020304" pitchFamily="18" charset="0"/>
                          </a:rPr>
                        </m:ctrlPr>
                      </m:sSubPr>
                      <m:e>
                        <m:r>
                          <a:rPr lang="en-US" sz="1400" i="1">
                            <a:latin typeface="Cambria Math" panose="02040503050406030204" pitchFamily="18" charset="0"/>
                            <a:ea typeface="Calibri" panose="020F0502020204030204" pitchFamily="34" charset="0"/>
                            <a:cs typeface="Times New Roman" panose="02020603050405020304" pitchFamily="18" charset="0"/>
                          </a:rPr>
                          <m:t>𝑥</m:t>
                        </m:r>
                      </m:e>
                      <m:sub>
                        <m:r>
                          <a:rPr lang="en-US" sz="1400" i="1">
                            <a:latin typeface="Cambria Math" panose="02040503050406030204" pitchFamily="18" charset="0"/>
                            <a:ea typeface="Calibri" panose="020F0502020204030204" pitchFamily="34" charset="0"/>
                            <a:cs typeface="Times New Roman" panose="02020603050405020304" pitchFamily="18" charset="0"/>
                          </a:rPr>
                          <m:t>3</m:t>
                        </m:r>
                      </m:sub>
                    </m:sSub>
                    <m:r>
                      <a:rPr lang="en-US" sz="1400" i="1">
                        <a:latin typeface="Cambria Math" panose="02040503050406030204" pitchFamily="18" charset="0"/>
                        <a:ea typeface="Calibri" panose="020F0502020204030204" pitchFamily="34" charset="0"/>
                        <a:cs typeface="Times New Roman" panose="02020603050405020304" pitchFamily="18" charset="0"/>
                      </a:rPr>
                      <m:t>=</m:t>
                    </m:r>
                    <m:r>
                      <a:rPr lang="en-US" sz="1400" i="1">
                        <a:latin typeface="Cambria Math" panose="02040503050406030204" pitchFamily="18" charset="0"/>
                        <a:ea typeface="Calibri" panose="020F0502020204030204" pitchFamily="34" charset="0"/>
                        <a:cs typeface="Times New Roman" panose="02020603050405020304" pitchFamily="18" charset="0"/>
                      </a:rPr>
                      <m:t>𝑠𝑖𝑔𝑛</m:t>
                    </m:r>
                    <m:r>
                      <a:rPr lang="en-US" sz="1400" i="1">
                        <a:latin typeface="Cambria Math" panose="02040503050406030204" pitchFamily="18" charset="0"/>
                        <a:ea typeface="Calibri" panose="020F0502020204030204" pitchFamily="34" charset="0"/>
                        <a:cs typeface="Times New Roman" panose="02020603050405020304" pitchFamily="18" charset="0"/>
                      </a:rPr>
                      <m:t>(</m:t>
                    </m:r>
                    <m:sSub>
                      <m:sSubPr>
                        <m:ctrlPr>
                          <a:rPr lang="en-NG" sz="1400" i="1">
                            <a:latin typeface="Cambria Math" panose="02040503050406030204" pitchFamily="18" charset="0"/>
                            <a:ea typeface="Calibri" panose="020F0502020204030204" pitchFamily="34" charset="0"/>
                            <a:cs typeface="Times New Roman" panose="02020603050405020304" pitchFamily="18" charset="0"/>
                          </a:rPr>
                        </m:ctrlPr>
                      </m:sSubPr>
                      <m:e>
                        <m:r>
                          <a:rPr lang="en-US" sz="1400" i="1">
                            <a:latin typeface="Cambria Math" panose="02040503050406030204" pitchFamily="18" charset="0"/>
                            <a:ea typeface="Calibri" panose="020F0502020204030204" pitchFamily="34" charset="0"/>
                            <a:cs typeface="Times New Roman" panose="02020603050405020304" pitchFamily="18" charset="0"/>
                          </a:rPr>
                          <m:t>𝑧</m:t>
                        </m:r>
                      </m:e>
                      <m:sub>
                        <m:r>
                          <a:rPr lang="en-US" sz="1400" i="1">
                            <a:latin typeface="Cambria Math" panose="02040503050406030204" pitchFamily="18" charset="0"/>
                            <a:ea typeface="Calibri" panose="020F0502020204030204" pitchFamily="34" charset="0"/>
                            <a:cs typeface="Times New Roman" panose="02020603050405020304" pitchFamily="18" charset="0"/>
                          </a:rPr>
                          <m:t>3</m:t>
                        </m:r>
                      </m:sub>
                    </m:sSub>
                    <m:r>
                      <a:rPr lang="en-US" sz="1400" i="1">
                        <a:latin typeface="Cambria Math" panose="02040503050406030204" pitchFamily="18" charset="0"/>
                        <a:ea typeface="Calibri" panose="020F0502020204030204" pitchFamily="34" charset="0"/>
                        <a:cs typeface="Times New Roman" panose="02020603050405020304" pitchFamily="18" charset="0"/>
                      </a:rPr>
                      <m:t>)</m:t>
                    </m:r>
                  </m:oMath>
                </a14:m>
                <a:r>
                  <a:rPr lang="en-US" sz="1400" dirty="0">
                    <a:ea typeface="Times New Roman" panose="02020603050405020304" pitchFamily="18" charset="0"/>
                    <a:cs typeface="Times New Roman" panose="02020603050405020304" pitchFamily="18" charset="0"/>
                  </a:rPr>
                  <a:t> which is, (+)</a:t>
                </a:r>
                <a:endParaRPr lang="en-NG" sz="1400" dirty="0">
                  <a:ea typeface="Calibri" panose="020F0502020204030204" pitchFamily="34" charset="0"/>
                  <a:cs typeface="Times New Roman" panose="02020603050405020304" pitchFamily="18" charset="0"/>
                </a:endParaRPr>
              </a:p>
              <a:p>
                <a:pPr marL="0" indent="0" algn="ctr">
                  <a:lnSpc>
                    <a:spcPct val="150000"/>
                  </a:lnSpc>
                  <a:buNone/>
                </a:pPr>
                <a:endParaRPr lang="en-NG" sz="1400" dirty="0">
                  <a:effectLst/>
                  <a:ea typeface="Calibri" panose="020F0502020204030204" pitchFamily="34" charset="0"/>
                  <a:cs typeface="Times New Roman" panose="02020603050405020304" pitchFamily="18" charset="0"/>
                </a:endParaRPr>
              </a:p>
            </p:txBody>
          </p:sp>
        </mc:Choice>
        <mc:Fallback xmlns="">
          <p:sp>
            <p:nvSpPr>
              <p:cNvPr id="13" name="TextBox 12">
                <a:extLst>
                  <a:ext uri="{FF2B5EF4-FFF2-40B4-BE49-F238E27FC236}">
                    <a16:creationId xmlns:a16="http://schemas.microsoft.com/office/drawing/2014/main" id="{C0545837-7445-4E57-ADDF-6731CDA4CAA7}"/>
                  </a:ext>
                </a:extLst>
              </p:cNvPr>
              <p:cNvSpPr txBox="1">
                <a:spLocks noRot="1" noChangeAspect="1" noMove="1" noResize="1" noEditPoints="1" noAdjustHandles="1" noChangeArrowheads="1" noChangeShapeType="1" noTextEdit="1"/>
              </p:cNvSpPr>
              <p:nvPr/>
            </p:nvSpPr>
            <p:spPr>
              <a:xfrm>
                <a:off x="7040880" y="1940022"/>
                <a:ext cx="5059680" cy="3287631"/>
              </a:xfrm>
              <a:prstGeom prst="rect">
                <a:avLst/>
              </a:prstGeom>
              <a:blipFill>
                <a:blip r:embed="rId5"/>
                <a:stretch>
                  <a:fillRect l="-501" r="-501"/>
                </a:stretch>
              </a:blipFill>
            </p:spPr>
            <p:txBody>
              <a:bodyPr/>
              <a:lstStyle/>
              <a:p>
                <a:r>
                  <a:rPr lang="en-NG">
                    <a:noFill/>
                  </a:rPr>
                  <a:t> </a:t>
                </a:r>
              </a:p>
            </p:txBody>
          </p:sp>
        </mc:Fallback>
      </mc:AlternateContent>
      <p:sp>
        <p:nvSpPr>
          <p:cNvPr id="2" name="TextBox 1">
            <a:extLst>
              <a:ext uri="{FF2B5EF4-FFF2-40B4-BE49-F238E27FC236}">
                <a16:creationId xmlns:a16="http://schemas.microsoft.com/office/drawing/2014/main" id="{184222A0-6873-458F-08FE-E784484618E1}"/>
              </a:ext>
            </a:extLst>
          </p:cNvPr>
          <p:cNvSpPr txBox="1"/>
          <p:nvPr/>
        </p:nvSpPr>
        <p:spPr>
          <a:xfrm>
            <a:off x="91440" y="5522613"/>
            <a:ext cx="7483267" cy="307777"/>
          </a:xfrm>
          <a:prstGeom prst="rect">
            <a:avLst/>
          </a:prstGeom>
          <a:noFill/>
        </p:spPr>
        <p:txBody>
          <a:bodyPr wrap="none" rtlCol="0">
            <a:spAutoFit/>
          </a:bodyPr>
          <a:lstStyle/>
          <a:p>
            <a:pPr algn="just"/>
            <a:r>
              <a:rPr lang="en-NG" sz="1400" dirty="0"/>
              <a:t>When programmed, after the learning, the iterations are done until the pattern is learned. </a:t>
            </a:r>
          </a:p>
        </p:txBody>
      </p:sp>
    </p:spTree>
    <p:extLst>
      <p:ext uri="{BB962C8B-B14F-4D97-AF65-F5344CB8AC3E}">
        <p14:creationId xmlns:p14="http://schemas.microsoft.com/office/powerpoint/2010/main" val="508853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Logo, company name&#10;&#10;Description automatically generated">
            <a:extLst>
              <a:ext uri="{FF2B5EF4-FFF2-40B4-BE49-F238E27FC236}">
                <a16:creationId xmlns:a16="http://schemas.microsoft.com/office/drawing/2014/main" id="{27280202-65BC-4669-D808-593AC5344332}"/>
              </a:ext>
            </a:extLst>
          </p:cNvPr>
          <p:cNvPicPr>
            <a:picLocks noChangeAspect="1"/>
          </p:cNvPicPr>
          <p:nvPr/>
        </p:nvPicPr>
        <p:blipFill rotWithShape="1">
          <a:blip r:embed="rId2"/>
          <a:srcRect t="29687"/>
          <a:stretch/>
        </p:blipFill>
        <p:spPr>
          <a:xfrm>
            <a:off x="20" y="10"/>
            <a:ext cx="12191980" cy="6857990"/>
          </a:xfrm>
          <a:prstGeom prst="rect">
            <a:avLst/>
          </a:prstGeom>
        </p:spPr>
      </p:pic>
    </p:spTree>
    <p:extLst>
      <p:ext uri="{BB962C8B-B14F-4D97-AF65-F5344CB8AC3E}">
        <p14:creationId xmlns:p14="http://schemas.microsoft.com/office/powerpoint/2010/main" val="2652622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7">
            <a:extLst>
              <a:ext uri="{FF2B5EF4-FFF2-40B4-BE49-F238E27FC236}">
                <a16:creationId xmlns:a16="http://schemas.microsoft.com/office/drawing/2014/main" id="{F858DF7D-C2D0-4B03-A7A0-2F06B789E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9">
            <a:extLst>
              <a:ext uri="{FF2B5EF4-FFF2-40B4-BE49-F238E27FC236}">
                <a16:creationId xmlns:a16="http://schemas.microsoft.com/office/drawing/2014/main" id="{1B26B711-3121-40B0-8377-A64F3DC00C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11">
            <a:extLst>
              <a:ext uri="{FF2B5EF4-FFF2-40B4-BE49-F238E27FC236}">
                <a16:creationId xmlns:a16="http://schemas.microsoft.com/office/drawing/2014/main" id="{645C4D3D-ABBA-4B4E-93E5-01E3437198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13">
            <a:extLst>
              <a:ext uri="{FF2B5EF4-FFF2-40B4-BE49-F238E27FC236}">
                <a16:creationId xmlns:a16="http://schemas.microsoft.com/office/drawing/2014/main" id="{98DDD5E5-0097-4C6C-B266-5732EDA96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5">
            <a:extLst>
              <a:ext uri="{FF2B5EF4-FFF2-40B4-BE49-F238E27FC236}">
                <a16:creationId xmlns:a16="http://schemas.microsoft.com/office/drawing/2014/main" id="{8952EF87-C74F-4D3F-9CAD-EEA1733C9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597643"/>
            <a:ext cx="3703320" cy="57929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A4189B4B-89F8-B246-A5B4-F3E4905164DE}"/>
              </a:ext>
            </a:extLst>
          </p:cNvPr>
          <p:cNvSpPr>
            <a:spLocks noGrp="1"/>
          </p:cNvSpPr>
          <p:nvPr>
            <p:ph type="title"/>
          </p:nvPr>
        </p:nvSpPr>
        <p:spPr>
          <a:xfrm>
            <a:off x="446534" y="1037967"/>
            <a:ext cx="3703320" cy="4709131"/>
          </a:xfrm>
        </p:spPr>
        <p:txBody>
          <a:bodyPr anchor="ctr">
            <a:normAutofit/>
          </a:bodyPr>
          <a:lstStyle/>
          <a:p>
            <a:pPr algn="ctr"/>
            <a:r>
              <a:rPr lang="en-NG" sz="3600" dirty="0">
                <a:solidFill>
                  <a:srgbClr val="FFFEFF"/>
                </a:solidFill>
              </a:rPr>
              <a:t>DISCUSSION</a:t>
            </a:r>
            <a:br>
              <a:rPr lang="en-NG" sz="3600" dirty="0">
                <a:solidFill>
                  <a:srgbClr val="FFFEFF"/>
                </a:solidFill>
              </a:rPr>
            </a:br>
            <a:r>
              <a:rPr lang="en-NG" sz="3600" dirty="0">
                <a:solidFill>
                  <a:srgbClr val="FFFEFF"/>
                </a:solidFill>
              </a:rPr>
              <a:t>&amp;</a:t>
            </a:r>
            <a:br>
              <a:rPr lang="en-NG" sz="3600" dirty="0">
                <a:solidFill>
                  <a:srgbClr val="FFFEFF"/>
                </a:solidFill>
              </a:rPr>
            </a:br>
            <a:r>
              <a:rPr lang="en-NG" sz="3600" dirty="0">
                <a:solidFill>
                  <a:srgbClr val="FFFEFF"/>
                </a:solidFill>
              </a:rPr>
              <a:t>CONCLUSION</a:t>
            </a:r>
          </a:p>
        </p:txBody>
      </p:sp>
      <p:sp>
        <p:nvSpPr>
          <p:cNvPr id="3" name="Content Placeholder 2">
            <a:extLst>
              <a:ext uri="{FF2B5EF4-FFF2-40B4-BE49-F238E27FC236}">
                <a16:creationId xmlns:a16="http://schemas.microsoft.com/office/drawing/2014/main" id="{7DC5E520-1969-3545-99C1-969700BF6CC4}"/>
              </a:ext>
            </a:extLst>
          </p:cNvPr>
          <p:cNvSpPr>
            <a:spLocks noGrp="1"/>
          </p:cNvSpPr>
          <p:nvPr>
            <p:ph idx="1"/>
          </p:nvPr>
        </p:nvSpPr>
        <p:spPr>
          <a:xfrm>
            <a:off x="4534935" y="1037968"/>
            <a:ext cx="6725899" cy="4820832"/>
          </a:xfrm>
        </p:spPr>
        <p:txBody>
          <a:bodyPr>
            <a:normAutofit fontScale="92500" lnSpcReduction="10000"/>
          </a:bodyPr>
          <a:lstStyle/>
          <a:p>
            <a:pPr marL="0" indent="0" algn="just">
              <a:buNone/>
            </a:pPr>
            <a:r>
              <a:rPr lang="en-US" sz="1600" dirty="0">
                <a:ea typeface="Calibri" panose="020F0502020204030204" pitchFamily="34" charset="0"/>
              </a:rPr>
              <a:t>T</a:t>
            </a:r>
            <a:r>
              <a:rPr lang="en-US" sz="1600" dirty="0">
                <a:effectLst/>
                <a:ea typeface="Calibri" panose="020F0502020204030204" pitchFamily="34" charset="0"/>
              </a:rPr>
              <a:t>he model accurately stores images/patterns given to it, predicts and returns the expected output pattern once the guessed pattern has been applied to it. This wa</a:t>
            </a:r>
            <a:r>
              <a:rPr lang="en-US" sz="1600" dirty="0">
                <a:ea typeface="Calibri" panose="020F0502020204030204" pitchFamily="34" charset="0"/>
              </a:rPr>
              <a:t>s noted during testing. </a:t>
            </a:r>
          </a:p>
          <a:p>
            <a:pPr marL="0" indent="0" algn="just">
              <a:buNone/>
            </a:pPr>
            <a:r>
              <a:rPr lang="en-US" sz="1600" dirty="0"/>
              <a:t>However also during testing some </a:t>
            </a:r>
            <a:r>
              <a:rPr lang="en-US" sz="1600" dirty="0">
                <a:solidFill>
                  <a:srgbClr val="C00000"/>
                </a:solidFill>
              </a:rPr>
              <a:t>major</a:t>
            </a:r>
            <a:r>
              <a:rPr lang="en-US" sz="1600" dirty="0"/>
              <a:t> deductions were observed;</a:t>
            </a:r>
          </a:p>
          <a:p>
            <a:pPr algn="just"/>
            <a:r>
              <a:rPr lang="en-US" sz="1600" dirty="0">
                <a:effectLst/>
                <a:ea typeface="Calibri" panose="020F0502020204030204" pitchFamily="34" charset="0"/>
              </a:rPr>
              <a:t>Hopfield networks work closely and similarly to how the human brain works</a:t>
            </a:r>
            <a:r>
              <a:rPr lang="en-US" sz="1600" dirty="0">
                <a:ea typeface="Calibri" panose="020F0502020204030204" pitchFamily="34" charset="0"/>
              </a:rPr>
              <a:t> (Hippocampus).</a:t>
            </a:r>
            <a:endParaRPr lang="en-NG" sz="1600" dirty="0">
              <a:effectLst/>
            </a:endParaRPr>
          </a:p>
          <a:p>
            <a:pPr algn="just"/>
            <a:r>
              <a:rPr lang="en-NG" sz="1600" dirty="0"/>
              <a:t>Presence of </a:t>
            </a:r>
            <a:r>
              <a:rPr lang="en-US" sz="1600" dirty="0">
                <a:effectLst/>
                <a:ea typeface="Calibri" panose="020F0502020204030204" pitchFamily="34" charset="0"/>
              </a:rPr>
              <a:t>Spurious Minima</a:t>
            </a:r>
            <a:r>
              <a:rPr lang="en-NG" sz="1600" dirty="0">
                <a:ea typeface="Calibri" panose="020F0502020204030204" pitchFamily="34" charset="0"/>
              </a:rPr>
              <a:t> was also observed during the experiments.</a:t>
            </a:r>
          </a:p>
          <a:p>
            <a:pPr algn="just"/>
            <a:r>
              <a:rPr lang="en-NG" sz="1600" dirty="0"/>
              <a:t>There is limit to the storage capacity of the Hopfield Network. (Retreival errrors exists when </a:t>
            </a:r>
            <a:r>
              <a:rPr lang="en-US" sz="1600" dirty="0">
                <a:effectLst/>
                <a:ea typeface="Calibri" panose="020F0502020204030204" pitchFamily="34" charset="0"/>
              </a:rPr>
              <a:t>the number of stored patterns surpasses 14% of the size of the network.</a:t>
            </a:r>
          </a:p>
          <a:p>
            <a:pPr marL="0" indent="0" algn="just">
              <a:buNone/>
            </a:pPr>
            <a:r>
              <a:rPr lang="en-US" sz="1600" dirty="0"/>
              <a:t>The model developed to a large extent adequately recognized patterns based on inputs received, returning the expected outputs. However, the performance of the model wasn’t perfect due to the presence of some constraints (capacity of model, spurious minima). More research can be done involving using novel network types that have larger capacity as well as trying facial image recognition.</a:t>
            </a:r>
            <a:endParaRPr lang="en-NG" sz="1600" dirty="0"/>
          </a:p>
        </p:txBody>
      </p:sp>
    </p:spTree>
    <p:extLst>
      <p:ext uri="{BB962C8B-B14F-4D97-AF65-F5344CB8AC3E}">
        <p14:creationId xmlns:p14="http://schemas.microsoft.com/office/powerpoint/2010/main" val="3904371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492C6-40A3-FC45-BD32-1F0554A70439}"/>
              </a:ext>
            </a:extLst>
          </p:cNvPr>
          <p:cNvSpPr>
            <a:spLocks noGrp="1"/>
          </p:cNvSpPr>
          <p:nvPr>
            <p:ph type="title"/>
          </p:nvPr>
        </p:nvSpPr>
        <p:spPr>
          <a:xfrm>
            <a:off x="581192" y="615469"/>
            <a:ext cx="11029616" cy="617489"/>
          </a:xfrm>
        </p:spPr>
        <p:txBody>
          <a:bodyPr/>
          <a:lstStyle/>
          <a:p>
            <a:pPr algn="ctr"/>
            <a:r>
              <a:rPr lang="en-NG" dirty="0"/>
              <a:t>REFERENCES</a:t>
            </a:r>
          </a:p>
        </p:txBody>
      </p:sp>
      <p:sp>
        <p:nvSpPr>
          <p:cNvPr id="3" name="Content Placeholder 2">
            <a:extLst>
              <a:ext uri="{FF2B5EF4-FFF2-40B4-BE49-F238E27FC236}">
                <a16:creationId xmlns:a16="http://schemas.microsoft.com/office/drawing/2014/main" id="{F5998CE7-92F3-0D47-BDA7-6E6E420DFE2A}"/>
              </a:ext>
            </a:extLst>
          </p:cNvPr>
          <p:cNvSpPr>
            <a:spLocks noGrp="1"/>
          </p:cNvSpPr>
          <p:nvPr>
            <p:ph idx="1"/>
          </p:nvPr>
        </p:nvSpPr>
        <p:spPr>
          <a:xfrm>
            <a:off x="581192" y="1232958"/>
            <a:ext cx="11029615" cy="5009573"/>
          </a:xfrm>
        </p:spPr>
        <p:txBody>
          <a:bodyPr>
            <a:noAutofit/>
          </a:bodyPr>
          <a:lstStyle/>
          <a:p>
            <a:pPr algn="just">
              <a:lnSpc>
                <a:spcPct val="150000"/>
              </a:lnSpc>
            </a:pPr>
            <a:r>
              <a:rPr lang="en-NG" sz="1400" dirty="0">
                <a:effectLst/>
                <a:ea typeface="Times New Roman" panose="02020603050405020304" pitchFamily="18" charset="0"/>
                <a:cs typeface="Times New Roman" panose="02020603050405020304" pitchFamily="18" charset="0"/>
              </a:rPr>
              <a:t> B. Müller, J. Reinhardt, and M. T. Strickland, </a:t>
            </a:r>
            <a:r>
              <a:rPr lang="en-NG" sz="1400" i="1" dirty="0">
                <a:effectLst/>
                <a:ea typeface="Times New Roman" panose="02020603050405020304" pitchFamily="18" charset="0"/>
                <a:cs typeface="Times New Roman" panose="02020603050405020304" pitchFamily="18" charset="0"/>
              </a:rPr>
              <a:t>Neural Networks: An Introduction</a:t>
            </a:r>
            <a:r>
              <a:rPr lang="en-NG" sz="1400" dirty="0">
                <a:effectLst/>
                <a:ea typeface="Times New Roman" panose="02020603050405020304" pitchFamily="18" charset="0"/>
                <a:cs typeface="Times New Roman" panose="02020603050405020304" pitchFamily="18" charset="0"/>
              </a:rPr>
              <a:t>. Springer Science &amp; Business Media, 1995.</a:t>
            </a:r>
            <a:endParaRPr lang="en-NG" sz="1400" dirty="0">
              <a:effectLst/>
              <a:ea typeface="Calibri" panose="020F0502020204030204" pitchFamily="34" charset="0"/>
              <a:cs typeface="Times New Roman" panose="02020603050405020304" pitchFamily="18" charset="0"/>
            </a:endParaRPr>
          </a:p>
          <a:p>
            <a:pPr algn="just">
              <a:lnSpc>
                <a:spcPct val="150000"/>
              </a:lnSpc>
            </a:pPr>
            <a:r>
              <a:rPr lang="en-NG" sz="1400" dirty="0">
                <a:effectLst/>
                <a:ea typeface="Times New Roman" panose="02020603050405020304" pitchFamily="18" charset="0"/>
                <a:cs typeface="Times New Roman" panose="02020603050405020304" pitchFamily="18" charset="0"/>
              </a:rPr>
              <a:t>P. Picton, ‘What is a Neural Network?’, in </a:t>
            </a:r>
            <a:r>
              <a:rPr lang="en-NG" sz="1400" i="1" dirty="0">
                <a:effectLst/>
                <a:ea typeface="Times New Roman" panose="02020603050405020304" pitchFamily="18" charset="0"/>
                <a:cs typeface="Times New Roman" panose="02020603050405020304" pitchFamily="18" charset="0"/>
              </a:rPr>
              <a:t>Introduction to Neural Networks</a:t>
            </a:r>
            <a:r>
              <a:rPr lang="en-NG" sz="1400" dirty="0">
                <a:effectLst/>
                <a:ea typeface="Times New Roman" panose="02020603050405020304" pitchFamily="18" charset="0"/>
                <a:cs typeface="Times New Roman" panose="02020603050405020304" pitchFamily="18" charset="0"/>
              </a:rPr>
              <a:t>, P. Picton, Ed. London: Macmillan Education UK, 1994, pp. 1–12. doi: </a:t>
            </a:r>
            <a:r>
              <a:rPr lang="en-NG" sz="1400" dirty="0">
                <a:solidFill>
                  <a:srgbClr val="0000FF"/>
                </a:solidFill>
                <a:effectLst/>
                <a:ea typeface="Times New Roman" panose="02020603050405020304" pitchFamily="18" charset="0"/>
                <a:cs typeface="Times New Roman" panose="02020603050405020304" pitchFamily="18" charset="0"/>
                <a:hlinkClick r:id="rId2"/>
              </a:rPr>
              <a:t>10.1007/978-1-349-13530-1_1</a:t>
            </a:r>
            <a:r>
              <a:rPr lang="en-NG" sz="1400" dirty="0">
                <a:effectLst/>
                <a:ea typeface="Times New Roman" panose="02020603050405020304" pitchFamily="18" charset="0"/>
                <a:cs typeface="Times New Roman" panose="02020603050405020304" pitchFamily="18" charset="0"/>
              </a:rPr>
              <a:t>.</a:t>
            </a:r>
            <a:endParaRPr lang="en-NG" sz="1400" dirty="0">
              <a:effectLst/>
              <a:ea typeface="Calibri" panose="020F0502020204030204" pitchFamily="34" charset="0"/>
              <a:cs typeface="Times New Roman" panose="02020603050405020304" pitchFamily="18" charset="0"/>
            </a:endParaRPr>
          </a:p>
          <a:p>
            <a:pPr algn="just">
              <a:lnSpc>
                <a:spcPct val="150000"/>
              </a:lnSpc>
            </a:pPr>
            <a:r>
              <a:rPr lang="en-NG" sz="1400" dirty="0">
                <a:effectLst/>
                <a:ea typeface="Times New Roman" panose="02020603050405020304" pitchFamily="18" charset="0"/>
                <a:cs typeface="Times New Roman" panose="02020603050405020304" pitchFamily="18" charset="0"/>
              </a:rPr>
              <a:t> ‘What are Neural Networks?’, Aug. 03, 2021. </a:t>
            </a:r>
            <a:r>
              <a:rPr lang="en-NG" sz="1400" dirty="0">
                <a:solidFill>
                  <a:srgbClr val="0000FF"/>
                </a:solidFill>
                <a:effectLst/>
                <a:ea typeface="Times New Roman" panose="02020603050405020304" pitchFamily="18" charset="0"/>
                <a:cs typeface="Times New Roman" panose="02020603050405020304" pitchFamily="18" charset="0"/>
                <a:hlinkClick r:id="rId3"/>
              </a:rPr>
              <a:t>https://www.ibm.com/cloud/learn/neural-networks</a:t>
            </a:r>
            <a:r>
              <a:rPr lang="en-NG" sz="1400" dirty="0">
                <a:effectLst/>
                <a:ea typeface="Times New Roman" panose="02020603050405020304" pitchFamily="18" charset="0"/>
                <a:cs typeface="Times New Roman" panose="02020603050405020304" pitchFamily="18" charset="0"/>
              </a:rPr>
              <a:t> (accessed Oct. 11, 2022).</a:t>
            </a:r>
            <a:endParaRPr lang="en-NG" sz="1400" dirty="0">
              <a:effectLst/>
              <a:ea typeface="Calibri" panose="020F0502020204030204" pitchFamily="34" charset="0"/>
              <a:cs typeface="Times New Roman" panose="02020603050405020304" pitchFamily="18" charset="0"/>
            </a:endParaRPr>
          </a:p>
          <a:p>
            <a:pPr algn="just">
              <a:lnSpc>
                <a:spcPct val="150000"/>
              </a:lnSpc>
            </a:pPr>
            <a:r>
              <a:rPr lang="en-NG" sz="1400" dirty="0">
                <a:effectLst/>
                <a:ea typeface="Times New Roman" panose="02020603050405020304" pitchFamily="18" charset="0"/>
                <a:cs typeface="Times New Roman" panose="02020603050405020304" pitchFamily="18" charset="0"/>
              </a:rPr>
              <a:t> L. Medsker and L. C. Jain, </a:t>
            </a:r>
            <a:r>
              <a:rPr lang="en-NG" sz="1400" i="1" dirty="0">
                <a:effectLst/>
                <a:ea typeface="Times New Roman" panose="02020603050405020304" pitchFamily="18" charset="0"/>
                <a:cs typeface="Times New Roman" panose="02020603050405020304" pitchFamily="18" charset="0"/>
              </a:rPr>
              <a:t>Recurrent Neural Networks: Design and Applications</a:t>
            </a:r>
            <a:r>
              <a:rPr lang="en-NG" sz="1400" dirty="0">
                <a:effectLst/>
                <a:ea typeface="Times New Roman" panose="02020603050405020304" pitchFamily="18" charset="0"/>
                <a:cs typeface="Times New Roman" panose="02020603050405020304" pitchFamily="18" charset="0"/>
              </a:rPr>
              <a:t>. CRC Press, 1999.</a:t>
            </a:r>
          </a:p>
          <a:p>
            <a:pPr algn="just">
              <a:lnSpc>
                <a:spcPct val="150000"/>
              </a:lnSpc>
            </a:pPr>
            <a:r>
              <a:rPr lang="en-NG" sz="1400" dirty="0">
                <a:effectLst/>
                <a:ea typeface="Calibri" panose="020F0502020204030204" pitchFamily="34" charset="0"/>
                <a:cs typeface="Times New Roman" panose="02020603050405020304" pitchFamily="18" charset="0"/>
              </a:rPr>
              <a:t>S. Liviu, ‘Hopfield nets and the brain’, </a:t>
            </a:r>
            <a:r>
              <a:rPr lang="en-NG" sz="1400" i="1" dirty="0">
                <a:effectLst/>
                <a:ea typeface="Calibri" panose="020F0502020204030204" pitchFamily="34" charset="0"/>
                <a:cs typeface="Times New Roman" panose="02020603050405020304" pitchFamily="18" charset="0"/>
              </a:rPr>
              <a:t>Medium</a:t>
            </a:r>
            <a:r>
              <a:rPr lang="en-NG" sz="1400" dirty="0">
                <a:effectLst/>
                <a:ea typeface="Calibri" panose="020F0502020204030204" pitchFamily="34" charset="0"/>
                <a:cs typeface="Times New Roman" panose="02020603050405020304" pitchFamily="18" charset="0"/>
              </a:rPr>
              <a:t>, Sep. 10, 2019. </a:t>
            </a:r>
            <a:r>
              <a:rPr lang="en-NG" sz="1400" u="sng" dirty="0">
                <a:solidFill>
                  <a:srgbClr val="0000FF"/>
                </a:solidFill>
                <a:effectLst/>
                <a:ea typeface="Calibri" panose="020F0502020204030204" pitchFamily="34" charset="0"/>
                <a:cs typeface="Times New Roman" panose="02020603050405020304" pitchFamily="18" charset="0"/>
                <a:hlinkClick r:id="rId4"/>
              </a:rPr>
              <a:t>https://medium.com/@serbanliviu/hopfield-nets-and-the-brain-e5880070cdba</a:t>
            </a:r>
            <a:r>
              <a:rPr lang="en-NG" sz="1400" dirty="0">
                <a:effectLst/>
                <a:ea typeface="Calibri" panose="020F0502020204030204" pitchFamily="34" charset="0"/>
                <a:cs typeface="Times New Roman" panose="02020603050405020304" pitchFamily="18" charset="0"/>
              </a:rPr>
              <a:t> (accessed Oct. 26, 2022).</a:t>
            </a:r>
          </a:p>
          <a:p>
            <a:pPr algn="just">
              <a:lnSpc>
                <a:spcPct val="150000"/>
              </a:lnSpc>
            </a:pPr>
            <a:r>
              <a:rPr lang="en-NG" sz="1400" dirty="0">
                <a:effectLst/>
                <a:ea typeface="Calibri" panose="020F0502020204030204" pitchFamily="34" charset="0"/>
                <a:cs typeface="Times New Roman" panose="02020603050405020304" pitchFamily="18" charset="0"/>
              </a:rPr>
              <a:t>G. Villarrubia, J. F. De Paz, P. Chamoso, and F. D. la Prieta, ‘Artificial neural networks used in optimization problems’, </a:t>
            </a:r>
            <a:r>
              <a:rPr lang="en-NG" sz="1400" i="1" dirty="0">
                <a:effectLst/>
                <a:ea typeface="Calibri" panose="020F0502020204030204" pitchFamily="34" charset="0"/>
                <a:cs typeface="Times New Roman" panose="02020603050405020304" pitchFamily="18" charset="0"/>
              </a:rPr>
              <a:t>Neurocomputing</a:t>
            </a:r>
            <a:r>
              <a:rPr lang="en-NG" sz="1400" dirty="0">
                <a:effectLst/>
                <a:ea typeface="Calibri" panose="020F0502020204030204" pitchFamily="34" charset="0"/>
                <a:cs typeface="Times New Roman" panose="02020603050405020304" pitchFamily="18" charset="0"/>
              </a:rPr>
              <a:t>, vol. 272, pp. 10–16, Jan. 2018, doi: </a:t>
            </a:r>
            <a:r>
              <a:rPr lang="en-NG" sz="1400" u="sng" dirty="0">
                <a:solidFill>
                  <a:srgbClr val="0000FF"/>
                </a:solidFill>
                <a:effectLst/>
                <a:ea typeface="Calibri" panose="020F0502020204030204" pitchFamily="34" charset="0"/>
                <a:cs typeface="Times New Roman" panose="02020603050405020304" pitchFamily="18" charset="0"/>
                <a:hlinkClick r:id="rId5"/>
              </a:rPr>
              <a:t>10.1016/j.neucom.2017.04.075</a:t>
            </a:r>
            <a:r>
              <a:rPr lang="en-NG" sz="1400" dirty="0">
                <a:effectLst/>
                <a:ea typeface="Calibri" panose="020F0502020204030204" pitchFamily="34" charset="0"/>
                <a:cs typeface="Times New Roman" panose="02020603050405020304" pitchFamily="18" charset="0"/>
              </a:rPr>
              <a:t>.</a:t>
            </a:r>
          </a:p>
          <a:p>
            <a:pPr algn="just">
              <a:lnSpc>
                <a:spcPct val="150000"/>
              </a:lnSpc>
            </a:pPr>
            <a:r>
              <a:rPr lang="en-NG" sz="1400" dirty="0">
                <a:effectLst/>
                <a:ea typeface="Calibri" panose="020F0502020204030204" pitchFamily="34" charset="0"/>
              </a:rPr>
              <a:t>V. Folli, M. Leonetti, and G. Ruocco, ‘On the Maximum Storage Capacity of the Hopfield Model’, </a:t>
            </a:r>
            <a:r>
              <a:rPr lang="en-NG" sz="1400" i="1" dirty="0">
                <a:effectLst/>
                <a:ea typeface="Calibri" panose="020F0502020204030204" pitchFamily="34" charset="0"/>
              </a:rPr>
              <a:t>Frontiers in Computational Neuroscience</a:t>
            </a:r>
            <a:r>
              <a:rPr lang="en-NG" sz="1400" dirty="0">
                <a:effectLst/>
                <a:ea typeface="Calibri" panose="020F0502020204030204" pitchFamily="34" charset="0"/>
              </a:rPr>
              <a:t>, vol. 10, 2017, Accessed: Dec. 17, 2022. [Online]. Available: </a:t>
            </a:r>
            <a:r>
              <a:rPr lang="en-NG" sz="1400" u="sng" dirty="0">
                <a:solidFill>
                  <a:srgbClr val="0000FF"/>
                </a:solidFill>
                <a:effectLst/>
                <a:ea typeface="Calibri" panose="020F0502020204030204" pitchFamily="34" charset="0"/>
                <a:cs typeface="Times New Roman" panose="02020603050405020304" pitchFamily="18" charset="0"/>
                <a:hlinkClick r:id="rId6"/>
              </a:rPr>
              <a:t>https://www.frontiersin.org/articles/10.3389/fncom.2016.001</a:t>
            </a:r>
            <a:endParaRPr lang="en-GB" sz="1400" dirty="0"/>
          </a:p>
        </p:txBody>
      </p:sp>
    </p:spTree>
    <p:extLst>
      <p:ext uri="{BB962C8B-B14F-4D97-AF65-F5344CB8AC3E}">
        <p14:creationId xmlns:p14="http://schemas.microsoft.com/office/powerpoint/2010/main" val="2513609619"/>
      </p:ext>
    </p:extLst>
  </p:cSld>
  <p:clrMapOvr>
    <a:masterClrMapping/>
  </p:clrMapOvr>
</p:sld>
</file>

<file path=ppt/theme/theme1.xml><?xml version="1.0" encoding="utf-8"?>
<a:theme xmlns:a="http://schemas.openxmlformats.org/drawingml/2006/main" name="DividendVTI">
  <a:themeElements>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fontScheme name="Dividend">
      <a:majorFont>
        <a:latin typeface="Avenir Next LT Pro"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venir Next LT Pro"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docProps/app.xml><?xml version="1.0" encoding="utf-8"?>
<Properties xmlns="http://schemas.openxmlformats.org/officeDocument/2006/extended-properties" xmlns:vt="http://schemas.openxmlformats.org/officeDocument/2006/docPropsVTypes">
  <TotalTime>2964</TotalTime>
  <Words>1862</Words>
  <Application>Microsoft Macintosh PowerPoint</Application>
  <PresentationFormat>Widescreen</PresentationFormat>
  <Paragraphs>109</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Avenir Next LT Pro</vt:lpstr>
      <vt:lpstr>Cambria Math</vt:lpstr>
      <vt:lpstr>Times New Roman</vt:lpstr>
      <vt:lpstr>Wingdings 2</vt:lpstr>
      <vt:lpstr>DividendVTI</vt:lpstr>
      <vt:lpstr>USING RECURRENT NEURAL NETWORKS TO SOLVE OPTIMIZATION PROBLEMS :HOPFIELD NEURAL NETWOKS(HNN)</vt:lpstr>
      <vt:lpstr>TABLE OF CONTENT</vt:lpstr>
      <vt:lpstr>WHAT Are neural NETWORKs? </vt:lpstr>
      <vt:lpstr>RECURRENT NEURAL NETWORKS</vt:lpstr>
      <vt:lpstr>      PROBLEM DEFINITION</vt:lpstr>
      <vt:lpstr>Project objective</vt:lpstr>
      <vt:lpstr>HOPFIELD NETS</vt:lpstr>
      <vt:lpstr>PowerPoint Presentation</vt:lpstr>
      <vt:lpstr>PowerPoint Presentation</vt:lpstr>
      <vt:lpstr>PowerPoint Presentation</vt:lpstr>
      <vt:lpstr>DISCUSSION &amp; 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RANDOM-GRAPH NETWORK</dc:title>
  <dc:creator>Ekab-Osowo Tawo</dc:creator>
  <cp:lastModifiedBy>Tawo, Ekab-Osowo S.</cp:lastModifiedBy>
  <cp:revision>102</cp:revision>
  <dcterms:created xsi:type="dcterms:W3CDTF">2021-11-01T10:25:26Z</dcterms:created>
  <dcterms:modified xsi:type="dcterms:W3CDTF">2023-01-23T16:30:55Z</dcterms:modified>
</cp:coreProperties>
</file>